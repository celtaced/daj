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6"/>
  </p:handoutMasterIdLst>
  <p:sldIdLst>
    <p:sldId id="302" r:id="rId2"/>
    <p:sldId id="307" r:id="rId3"/>
    <p:sldId id="308" r:id="rId4"/>
    <p:sldId id="309" r:id="rId5"/>
    <p:sldId id="316" r:id="rId6"/>
    <p:sldId id="317" r:id="rId7"/>
    <p:sldId id="318" r:id="rId8"/>
    <p:sldId id="333" r:id="rId9"/>
    <p:sldId id="334" r:id="rId10"/>
    <p:sldId id="319" r:id="rId11"/>
    <p:sldId id="320" r:id="rId12"/>
    <p:sldId id="321" r:id="rId13"/>
    <p:sldId id="322" r:id="rId14"/>
    <p:sldId id="323" r:id="rId15"/>
    <p:sldId id="324" r:id="rId16"/>
    <p:sldId id="313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293" r:id="rId2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49" userDrawn="1">
          <p15:clr>
            <a:srgbClr val="A4A3A4"/>
          </p15:clr>
        </p15:guide>
        <p15:guide id="2" pos="14710" userDrawn="1">
          <p15:clr>
            <a:srgbClr val="A4A3A4"/>
          </p15:clr>
        </p15:guide>
        <p15:guide id="3" pos="649" userDrawn="1">
          <p15:clr>
            <a:srgbClr val="A4A3A4"/>
          </p15:clr>
        </p15:guide>
        <p15:guide id="4" orient="horz" pos="6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9FF"/>
    <a:srgbClr val="00FFF2"/>
    <a:srgbClr val="FDFDFB"/>
    <a:srgbClr val="8236FB"/>
    <a:srgbClr val="000000"/>
    <a:srgbClr val="D6FF01"/>
    <a:srgbClr val="120B3E"/>
    <a:srgbClr val="808080"/>
    <a:srgbClr val="0A0A0A"/>
    <a:srgbClr val="100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25" autoAdjust="0"/>
    <p:restoredTop sz="94660"/>
  </p:normalViewPr>
  <p:slideViewPr>
    <p:cSldViewPr showGuides="1">
      <p:cViewPr varScale="1">
        <p:scale>
          <a:sx n="50" d="100"/>
          <a:sy n="50" d="100"/>
        </p:scale>
        <p:origin x="84" y="318"/>
      </p:cViewPr>
      <p:guideLst>
        <p:guide orient="horz" pos="7949"/>
        <p:guide pos="14710"/>
        <p:guide pos="649"/>
        <p:guide orient="horz" pos="691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33" d="100"/>
        <a:sy n="33" d="100"/>
      </p:scale>
      <p:origin x="0" y="0"/>
    </p:cViewPr>
  </p:sorterViewPr>
  <p:notesViewPr>
    <p:cSldViewPr showGuides="1">
      <p:cViewPr varScale="1">
        <p:scale>
          <a:sx n="42" d="100"/>
          <a:sy n="42" d="100"/>
        </p:scale>
        <p:origin x="2820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Dubon" userId="472307b91947d71a" providerId="LiveId" clId="{3BFA9712-98F0-4C5A-903D-3FD37ED51FD7}"/>
    <pc:docChg chg="undo redo custSel addSld delSld modSld">
      <pc:chgData name="Carlos Dubon" userId="472307b91947d71a" providerId="LiveId" clId="{3BFA9712-98F0-4C5A-903D-3FD37ED51FD7}" dt="2025-05-12T10:58:25.807" v="589" actId="1038"/>
      <pc:docMkLst>
        <pc:docMk/>
      </pc:docMkLst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162109947" sldId="259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636775479" sldId="260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4146436634" sldId="263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1710812371" sldId="264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1726540193" sldId="265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3465694141" sldId="266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336954579" sldId="267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981101082" sldId="268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991948185" sldId="269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236772584" sldId="270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788979455" sldId="282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322020198" sldId="286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3423744276" sldId="292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037426641" sldId="294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243733971" sldId="297"/>
        </pc:sldMkLst>
      </pc:sldChg>
      <pc:sldChg chg="addSp">
        <pc:chgData name="Carlos Dubon" userId="472307b91947d71a" providerId="LiveId" clId="{3BFA9712-98F0-4C5A-903D-3FD37ED51FD7}" dt="2025-05-12T10:37:17.842" v="388"/>
        <pc:sldMkLst>
          <pc:docMk/>
          <pc:sldMk cId="577986891" sldId="302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146560742" sldId="303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1947137320" sldId="304"/>
        </pc:sldMkLst>
      </pc:sldChg>
      <pc:sldChg chg="del">
        <pc:chgData name="Carlos Dubon" userId="472307b91947d71a" providerId="LiveId" clId="{3BFA9712-98F0-4C5A-903D-3FD37ED51FD7}" dt="2025-05-12T10:36:50.344" v="387" actId="47"/>
        <pc:sldMkLst>
          <pc:docMk/>
          <pc:sldMk cId="2724111889" sldId="305"/>
        </pc:sldMkLst>
      </pc:sldChg>
      <pc:sldChg chg="modSp add mod">
        <pc:chgData name="Carlos Dubon" userId="472307b91947d71a" providerId="LiveId" clId="{3BFA9712-98F0-4C5A-903D-3FD37ED51FD7}" dt="2025-05-12T10:26:05.153" v="288" actId="20577"/>
        <pc:sldMkLst>
          <pc:docMk/>
          <pc:sldMk cId="2441223091" sldId="313"/>
        </pc:sldMkLst>
      </pc:sldChg>
      <pc:sldChg chg="new del">
        <pc:chgData name="Carlos Dubon" userId="472307b91947d71a" providerId="LiveId" clId="{3BFA9712-98F0-4C5A-903D-3FD37ED51FD7}" dt="2025-05-12T09:58:10.661" v="1" actId="680"/>
        <pc:sldMkLst>
          <pc:docMk/>
          <pc:sldMk cId="2397510083" sldId="320"/>
        </pc:sldMkLst>
      </pc:sldChg>
      <pc:sldChg chg="addSp delSp modSp add mod delAnim modAnim">
        <pc:chgData name="Carlos Dubon" userId="472307b91947d71a" providerId="LiveId" clId="{3BFA9712-98F0-4C5A-903D-3FD37ED51FD7}" dt="2025-05-12T10:03:15.127" v="94" actId="20577"/>
        <pc:sldMkLst>
          <pc:docMk/>
          <pc:sldMk cId="3256414836" sldId="320"/>
        </pc:sldMkLst>
      </pc:sldChg>
      <pc:sldChg chg="addSp delSp modSp add mod delAnim modAnim">
        <pc:chgData name="Carlos Dubon" userId="472307b91947d71a" providerId="LiveId" clId="{3BFA9712-98F0-4C5A-903D-3FD37ED51FD7}" dt="2025-05-12T10:09:29.794" v="162" actId="1038"/>
        <pc:sldMkLst>
          <pc:docMk/>
          <pc:sldMk cId="3054442544" sldId="321"/>
        </pc:sldMkLst>
      </pc:sldChg>
      <pc:sldChg chg="addSp delSp modSp add mod modAnim">
        <pc:chgData name="Carlos Dubon" userId="472307b91947d71a" providerId="LiveId" clId="{3BFA9712-98F0-4C5A-903D-3FD37ED51FD7}" dt="2025-05-12T10:15:57.523" v="211"/>
        <pc:sldMkLst>
          <pc:docMk/>
          <pc:sldMk cId="559674695" sldId="322"/>
        </pc:sldMkLst>
      </pc:sldChg>
      <pc:sldChg chg="addSp delSp modSp add mod delAnim modAnim">
        <pc:chgData name="Carlos Dubon" userId="472307b91947d71a" providerId="LiveId" clId="{3BFA9712-98F0-4C5A-903D-3FD37ED51FD7}" dt="2025-05-12T10:22:00.828" v="268"/>
        <pc:sldMkLst>
          <pc:docMk/>
          <pc:sldMk cId="3408284016" sldId="323"/>
        </pc:sldMkLst>
      </pc:sldChg>
      <pc:sldChg chg="add">
        <pc:chgData name="Carlos Dubon" userId="472307b91947d71a" providerId="LiveId" clId="{3BFA9712-98F0-4C5A-903D-3FD37ED51FD7}" dt="2025-05-12T10:24:02.984" v="269"/>
        <pc:sldMkLst>
          <pc:docMk/>
          <pc:sldMk cId="804057831" sldId="324"/>
        </pc:sldMkLst>
      </pc:sldChg>
      <pc:sldChg chg="add del">
        <pc:chgData name="Carlos Dubon" userId="472307b91947d71a" providerId="LiveId" clId="{3BFA9712-98F0-4C5A-903D-3FD37ED51FD7}" dt="2025-05-12T10:26:34.295" v="291" actId="47"/>
        <pc:sldMkLst>
          <pc:docMk/>
          <pc:sldMk cId="3914641933" sldId="325"/>
        </pc:sldMkLst>
      </pc:sldChg>
      <pc:sldChg chg="delSp modSp add mod modAnim">
        <pc:chgData name="Carlos Dubon" userId="472307b91947d71a" providerId="LiveId" clId="{3BFA9712-98F0-4C5A-903D-3FD37ED51FD7}" dt="2025-05-12T10:27:59.731" v="314" actId="478"/>
        <pc:sldMkLst>
          <pc:docMk/>
          <pc:sldMk cId="2782429570" sldId="326"/>
        </pc:sldMkLst>
      </pc:sldChg>
      <pc:sldChg chg="addSp delSp modSp add mod modAnim">
        <pc:chgData name="Carlos Dubon" userId="472307b91947d71a" providerId="LiveId" clId="{3BFA9712-98F0-4C5A-903D-3FD37ED51FD7}" dt="2025-05-12T10:36:24.718" v="386"/>
        <pc:sldMkLst>
          <pc:docMk/>
          <pc:sldMk cId="1719346670" sldId="327"/>
        </pc:sldMkLst>
      </pc:sldChg>
      <pc:sldChg chg="addSp delSp modSp add mod delAnim modAnim">
        <pc:chgData name="Carlos Dubon" userId="472307b91947d71a" providerId="LiveId" clId="{3BFA9712-98F0-4C5A-903D-3FD37ED51FD7}" dt="2025-05-12T10:50:40.723" v="484" actId="20577"/>
        <pc:sldMkLst>
          <pc:docMk/>
          <pc:sldMk cId="3648621515" sldId="328"/>
        </pc:sldMkLst>
      </pc:sldChg>
      <pc:sldChg chg="addSp delSp modSp add mod delAnim modAnim">
        <pc:chgData name="Carlos Dubon" userId="472307b91947d71a" providerId="LiveId" clId="{3BFA9712-98F0-4C5A-903D-3FD37ED51FD7}" dt="2025-05-12T10:49:35.802" v="465" actId="1076"/>
        <pc:sldMkLst>
          <pc:docMk/>
          <pc:sldMk cId="771234033" sldId="329"/>
        </pc:sldMkLst>
      </pc:sldChg>
      <pc:sldChg chg="addSp delSp modSp add mod modAnim">
        <pc:chgData name="Carlos Dubon" userId="472307b91947d71a" providerId="LiveId" clId="{3BFA9712-98F0-4C5A-903D-3FD37ED51FD7}" dt="2025-05-12T10:53:42.915" v="528"/>
        <pc:sldMkLst>
          <pc:docMk/>
          <pc:sldMk cId="4259746530" sldId="330"/>
        </pc:sldMkLst>
      </pc:sldChg>
      <pc:sldChg chg="addSp delSp modSp add mod">
        <pc:chgData name="Carlos Dubon" userId="472307b91947d71a" providerId="LiveId" clId="{3BFA9712-98F0-4C5A-903D-3FD37ED51FD7}" dt="2025-05-12T10:55:33.466" v="552" actId="1076"/>
        <pc:sldMkLst>
          <pc:docMk/>
          <pc:sldMk cId="2411683681" sldId="331"/>
        </pc:sldMkLst>
      </pc:sldChg>
      <pc:sldChg chg="addSp delSp modSp add mod delAnim modAnim">
        <pc:chgData name="Carlos Dubon" userId="472307b91947d71a" providerId="LiveId" clId="{3BFA9712-98F0-4C5A-903D-3FD37ED51FD7}" dt="2025-05-12T10:58:25.807" v="589" actId="1038"/>
        <pc:sldMkLst>
          <pc:docMk/>
          <pc:sldMk cId="1969672016" sldId="332"/>
        </pc:sldMkLst>
      </pc:sldChg>
    </pc:docChg>
  </pc:docChgLst>
  <pc:docChgLst>
    <pc:chgData name="Carlos Dubon" userId="472307b91947d71a" providerId="LiveId" clId="{DDD14BF3-B375-4B95-847E-5CC94CC74A65}"/>
    <pc:docChg chg="addSld">
      <pc:chgData name="Carlos Dubon" userId="472307b91947d71a" providerId="LiveId" clId="{DDD14BF3-B375-4B95-847E-5CC94CC74A65}" dt="2025-09-06T00:36:13.009" v="1" actId="680"/>
      <pc:docMkLst>
        <pc:docMk/>
      </pc:docMkLst>
      <pc:sldChg chg="new">
        <pc:chgData name="Carlos Dubon" userId="472307b91947d71a" providerId="LiveId" clId="{DDD14BF3-B375-4B95-847E-5CC94CC74A65}" dt="2025-09-06T00:36:12.891" v="0" actId="680"/>
        <pc:sldMkLst>
          <pc:docMk/>
          <pc:sldMk cId="370252236" sldId="333"/>
        </pc:sldMkLst>
      </pc:sldChg>
      <pc:sldChg chg="new">
        <pc:chgData name="Carlos Dubon" userId="472307b91947d71a" providerId="LiveId" clId="{DDD14BF3-B375-4B95-847E-5CC94CC74A65}" dt="2025-09-06T00:36:13.009" v="1" actId="680"/>
        <pc:sldMkLst>
          <pc:docMk/>
          <pc:sldMk cId="3224774706" sldId="33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F6783-A7BD-418A-A94C-5347F780CB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DA80E8CA-E764-468B-8B3F-8636A1B92583}">
      <dgm:prSet phldrT="[Texto]" custT="1"/>
      <dgm:spPr/>
      <dgm:t>
        <a:bodyPr/>
        <a:lstStyle/>
        <a:p>
          <a:pPr>
            <a:buNone/>
          </a:pPr>
          <a:r>
            <a:rPr lang="es-SV" sz="4800" b="1" dirty="0"/>
            <a:t>Integración de Datos</a:t>
          </a:r>
          <a:endParaRPr lang="es-SV" sz="4800" dirty="0"/>
        </a:p>
      </dgm:t>
    </dgm:pt>
    <dgm:pt modelId="{B023CB43-B41E-49D4-B954-B12965DF60C9}" type="parTrans" cxnId="{68596876-6457-47AD-8D5D-BC9B449311D4}">
      <dgm:prSet/>
      <dgm:spPr/>
      <dgm:t>
        <a:bodyPr/>
        <a:lstStyle/>
        <a:p>
          <a:endParaRPr lang="es-SV" sz="1200"/>
        </a:p>
      </dgm:t>
    </dgm:pt>
    <dgm:pt modelId="{90201404-A07B-446C-937B-25457783C876}" type="sibTrans" cxnId="{68596876-6457-47AD-8D5D-BC9B449311D4}">
      <dgm:prSet/>
      <dgm:spPr/>
      <dgm:t>
        <a:bodyPr/>
        <a:lstStyle/>
        <a:p>
          <a:endParaRPr lang="es-SV" sz="1200"/>
        </a:p>
      </dgm:t>
    </dgm:pt>
    <dgm:pt modelId="{44805415-5664-4A3A-BC06-93805582405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4000" dirty="0"/>
            <a:t>Recopila y unifica datos de múltiples fuentes, incluyendo bases de datos transaccionales, archivos, </a:t>
          </a:r>
          <a:r>
            <a:rPr lang="es-MX" sz="4000" dirty="0" err="1"/>
            <a:t>APIs</a:t>
          </a:r>
          <a:r>
            <a:rPr lang="es-MX" sz="4000" dirty="0"/>
            <a:t> y sistemas en la nube, asegurando una visión global de la información.</a:t>
          </a:r>
          <a:endParaRPr lang="es-SV" sz="4000" dirty="0"/>
        </a:p>
      </dgm:t>
    </dgm:pt>
    <dgm:pt modelId="{A8707A43-983A-4218-B5A8-DF52BF33E18B}" type="parTrans" cxnId="{F1BD6F3A-59C9-4716-8977-72A36B5A37CA}">
      <dgm:prSet/>
      <dgm:spPr/>
      <dgm:t>
        <a:bodyPr/>
        <a:lstStyle/>
        <a:p>
          <a:endParaRPr lang="es-SV" sz="1200"/>
        </a:p>
      </dgm:t>
    </dgm:pt>
    <dgm:pt modelId="{6F9A31D5-70F8-418D-8A1B-82FD47C40779}" type="sibTrans" cxnId="{F1BD6F3A-59C9-4716-8977-72A36B5A37CA}">
      <dgm:prSet/>
      <dgm:spPr/>
      <dgm:t>
        <a:bodyPr/>
        <a:lstStyle/>
        <a:p>
          <a:endParaRPr lang="es-SV" sz="1200"/>
        </a:p>
      </dgm:t>
    </dgm:pt>
    <dgm:pt modelId="{C38865B3-4443-4C1A-843F-C6489B37DDA1}">
      <dgm:prSet phldrT="[Texto]" custT="1"/>
      <dgm:spPr/>
      <dgm:t>
        <a:bodyPr/>
        <a:lstStyle/>
        <a:p>
          <a:r>
            <a:rPr lang="es-SV" sz="4800" dirty="0"/>
            <a:t>Datos Históricos</a:t>
          </a:r>
        </a:p>
      </dgm:t>
    </dgm:pt>
    <dgm:pt modelId="{2ABE317D-E82E-4126-9FB6-90324B7FA0B1}" type="parTrans" cxnId="{8CE3257E-3232-49EF-8942-0AFA9A906226}">
      <dgm:prSet/>
      <dgm:spPr/>
      <dgm:t>
        <a:bodyPr/>
        <a:lstStyle/>
        <a:p>
          <a:endParaRPr lang="es-SV" sz="1200"/>
        </a:p>
      </dgm:t>
    </dgm:pt>
    <dgm:pt modelId="{576B4924-5E2F-434D-9BEE-039909725A59}" type="sibTrans" cxnId="{8CE3257E-3232-49EF-8942-0AFA9A906226}">
      <dgm:prSet/>
      <dgm:spPr/>
      <dgm:t>
        <a:bodyPr/>
        <a:lstStyle/>
        <a:p>
          <a:endParaRPr lang="es-SV" sz="1200"/>
        </a:p>
      </dgm:t>
    </dgm:pt>
    <dgm:pt modelId="{622B0F72-0EB1-45FC-8743-F22D4981319B}">
      <dgm:prSet phldrT="[Texto]" custT="1"/>
      <dgm:spPr/>
      <dgm:t>
        <a:bodyPr/>
        <a:lstStyle/>
        <a:p>
          <a:r>
            <a:rPr lang="es-MX" sz="4000" dirty="0"/>
            <a:t>Almacena grandes volúmenes de datos históricos, permitiendo el análisis de tendencias y patrones a lo largo del tiempo para mejorar la toma de decisiones estratégicas.</a:t>
          </a:r>
          <a:endParaRPr lang="es-SV" sz="4000" dirty="0"/>
        </a:p>
      </dgm:t>
    </dgm:pt>
    <dgm:pt modelId="{B718A7E5-0183-47B9-9CF3-E7940E8D0C76}" type="parTrans" cxnId="{682CE0F9-82D7-466C-A3BB-994441E275EE}">
      <dgm:prSet/>
      <dgm:spPr/>
      <dgm:t>
        <a:bodyPr/>
        <a:lstStyle/>
        <a:p>
          <a:endParaRPr lang="es-SV" sz="1200"/>
        </a:p>
      </dgm:t>
    </dgm:pt>
    <dgm:pt modelId="{2C65F4AF-96FC-42B5-A107-F2B117EC593E}" type="sibTrans" cxnId="{682CE0F9-82D7-466C-A3BB-994441E275EE}">
      <dgm:prSet/>
      <dgm:spPr/>
      <dgm:t>
        <a:bodyPr/>
        <a:lstStyle/>
        <a:p>
          <a:endParaRPr lang="es-SV" sz="1200"/>
        </a:p>
      </dgm:t>
    </dgm:pt>
    <dgm:pt modelId="{F225D2FA-7D05-4F15-A3AC-749FC0D612D7}" type="pres">
      <dgm:prSet presAssocID="{82BF6783-A7BD-418A-A94C-5347F780CB52}" presName="linear" presStyleCnt="0">
        <dgm:presLayoutVars>
          <dgm:animLvl val="lvl"/>
          <dgm:resizeHandles val="exact"/>
        </dgm:presLayoutVars>
      </dgm:prSet>
      <dgm:spPr/>
    </dgm:pt>
    <dgm:pt modelId="{B7D3657D-F621-4AF8-9C72-0485046FCBB5}" type="pres">
      <dgm:prSet presAssocID="{DA80E8CA-E764-468B-8B3F-8636A1B925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058184-D9C5-467D-9F8A-3DA81D03E3E0}" type="pres">
      <dgm:prSet presAssocID="{DA80E8CA-E764-468B-8B3F-8636A1B92583}" presName="childText" presStyleLbl="revTx" presStyleIdx="0" presStyleCnt="2">
        <dgm:presLayoutVars>
          <dgm:bulletEnabled val="1"/>
        </dgm:presLayoutVars>
      </dgm:prSet>
      <dgm:spPr/>
    </dgm:pt>
    <dgm:pt modelId="{77CA7410-6F8C-4B15-BE04-117C76AAFADB}" type="pres">
      <dgm:prSet presAssocID="{C38865B3-4443-4C1A-843F-C6489B37DDA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F2D89FD-3AD9-4C1D-9392-BCF74BC12D08}" type="pres">
      <dgm:prSet presAssocID="{C38865B3-4443-4C1A-843F-C6489B37DDA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E6C326-2D93-455F-8E56-CE603555494B}" type="presOf" srcId="{DA80E8CA-E764-468B-8B3F-8636A1B92583}" destId="{B7D3657D-F621-4AF8-9C72-0485046FCBB5}" srcOrd="0" destOrd="0" presId="urn:microsoft.com/office/officeart/2005/8/layout/vList2"/>
    <dgm:cxn modelId="{F1BD6F3A-59C9-4716-8977-72A36B5A37CA}" srcId="{DA80E8CA-E764-468B-8B3F-8636A1B92583}" destId="{44805415-5664-4A3A-BC06-938055824052}" srcOrd="0" destOrd="0" parTransId="{A8707A43-983A-4218-B5A8-DF52BF33E18B}" sibTransId="{6F9A31D5-70F8-418D-8A1B-82FD47C40779}"/>
    <dgm:cxn modelId="{0CF9C673-234E-4685-92BF-B44826AEC9D8}" type="presOf" srcId="{622B0F72-0EB1-45FC-8743-F22D4981319B}" destId="{2F2D89FD-3AD9-4C1D-9392-BCF74BC12D08}" srcOrd="0" destOrd="0" presId="urn:microsoft.com/office/officeart/2005/8/layout/vList2"/>
    <dgm:cxn modelId="{3135C775-9CA8-4D22-98D5-9C8F91DEA366}" type="presOf" srcId="{82BF6783-A7BD-418A-A94C-5347F780CB52}" destId="{F225D2FA-7D05-4F15-A3AC-749FC0D612D7}" srcOrd="0" destOrd="0" presId="urn:microsoft.com/office/officeart/2005/8/layout/vList2"/>
    <dgm:cxn modelId="{68596876-6457-47AD-8D5D-BC9B449311D4}" srcId="{82BF6783-A7BD-418A-A94C-5347F780CB52}" destId="{DA80E8CA-E764-468B-8B3F-8636A1B92583}" srcOrd="0" destOrd="0" parTransId="{B023CB43-B41E-49D4-B954-B12965DF60C9}" sibTransId="{90201404-A07B-446C-937B-25457783C876}"/>
    <dgm:cxn modelId="{8CE3257E-3232-49EF-8942-0AFA9A906226}" srcId="{82BF6783-A7BD-418A-A94C-5347F780CB52}" destId="{C38865B3-4443-4C1A-843F-C6489B37DDA1}" srcOrd="1" destOrd="0" parTransId="{2ABE317D-E82E-4126-9FB6-90324B7FA0B1}" sibTransId="{576B4924-5E2F-434D-9BEE-039909725A59}"/>
    <dgm:cxn modelId="{3BE3DFBD-5D56-40CC-8883-DEE2C7E30004}" type="presOf" srcId="{C38865B3-4443-4C1A-843F-C6489B37DDA1}" destId="{77CA7410-6F8C-4B15-BE04-117C76AAFADB}" srcOrd="0" destOrd="0" presId="urn:microsoft.com/office/officeart/2005/8/layout/vList2"/>
    <dgm:cxn modelId="{9CA3D2D8-9A44-415B-8008-896450B101B8}" type="presOf" srcId="{44805415-5664-4A3A-BC06-938055824052}" destId="{3D058184-D9C5-467D-9F8A-3DA81D03E3E0}" srcOrd="0" destOrd="0" presId="urn:microsoft.com/office/officeart/2005/8/layout/vList2"/>
    <dgm:cxn modelId="{682CE0F9-82D7-466C-A3BB-994441E275EE}" srcId="{C38865B3-4443-4C1A-843F-C6489B37DDA1}" destId="{622B0F72-0EB1-45FC-8743-F22D4981319B}" srcOrd="0" destOrd="0" parTransId="{B718A7E5-0183-47B9-9CF3-E7940E8D0C76}" sibTransId="{2C65F4AF-96FC-42B5-A107-F2B117EC593E}"/>
    <dgm:cxn modelId="{44A8477D-5CC6-4583-9310-E4CF7038E98B}" type="presParOf" srcId="{F225D2FA-7D05-4F15-A3AC-749FC0D612D7}" destId="{B7D3657D-F621-4AF8-9C72-0485046FCBB5}" srcOrd="0" destOrd="0" presId="urn:microsoft.com/office/officeart/2005/8/layout/vList2"/>
    <dgm:cxn modelId="{169584F6-C42B-44A9-AE52-42737B8F7A06}" type="presParOf" srcId="{F225D2FA-7D05-4F15-A3AC-749FC0D612D7}" destId="{3D058184-D9C5-467D-9F8A-3DA81D03E3E0}" srcOrd="1" destOrd="0" presId="urn:microsoft.com/office/officeart/2005/8/layout/vList2"/>
    <dgm:cxn modelId="{BF985CFB-560B-42C0-8B96-F823B960AF92}" type="presParOf" srcId="{F225D2FA-7D05-4F15-A3AC-749FC0D612D7}" destId="{77CA7410-6F8C-4B15-BE04-117C76AAFADB}" srcOrd="2" destOrd="0" presId="urn:microsoft.com/office/officeart/2005/8/layout/vList2"/>
    <dgm:cxn modelId="{B3819217-F71D-4371-9E5F-C0FFA00C14EE}" type="presParOf" srcId="{F225D2FA-7D05-4F15-A3AC-749FC0D612D7}" destId="{2F2D89FD-3AD9-4C1D-9392-BCF74BC12D0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BF6783-A7BD-418A-A94C-5347F780CB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DA80E8CA-E764-468B-8B3F-8636A1B92583}">
      <dgm:prSet phldrT="[Texto]" custT="1"/>
      <dgm:spPr/>
      <dgm:t>
        <a:bodyPr/>
        <a:lstStyle/>
        <a:p>
          <a:pPr>
            <a:buNone/>
          </a:pPr>
          <a:r>
            <a:rPr lang="es-SV" sz="4800" b="1" dirty="0"/>
            <a:t>Optimización para Consultas</a:t>
          </a:r>
          <a:endParaRPr lang="es-SV" sz="4800" dirty="0"/>
        </a:p>
      </dgm:t>
    </dgm:pt>
    <dgm:pt modelId="{B023CB43-B41E-49D4-B954-B12965DF60C9}" type="parTrans" cxnId="{68596876-6457-47AD-8D5D-BC9B449311D4}">
      <dgm:prSet/>
      <dgm:spPr/>
      <dgm:t>
        <a:bodyPr/>
        <a:lstStyle/>
        <a:p>
          <a:endParaRPr lang="es-SV" sz="1200"/>
        </a:p>
      </dgm:t>
    </dgm:pt>
    <dgm:pt modelId="{90201404-A07B-446C-937B-25457783C876}" type="sibTrans" cxnId="{68596876-6457-47AD-8D5D-BC9B449311D4}">
      <dgm:prSet/>
      <dgm:spPr/>
      <dgm:t>
        <a:bodyPr/>
        <a:lstStyle/>
        <a:p>
          <a:endParaRPr lang="es-SV" sz="1200"/>
        </a:p>
      </dgm:t>
    </dgm:pt>
    <dgm:pt modelId="{44805415-5664-4A3A-BC06-93805582405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4000" dirty="0"/>
            <a:t>Diseñado para ejecutar consultas analíticas de alto rendimiento, utilizando técnicas como indexación avanzada, particionamiento y procesamiento paralelo.</a:t>
          </a:r>
          <a:endParaRPr lang="es-SV" sz="4000" dirty="0"/>
        </a:p>
      </dgm:t>
    </dgm:pt>
    <dgm:pt modelId="{A8707A43-983A-4218-B5A8-DF52BF33E18B}" type="parTrans" cxnId="{F1BD6F3A-59C9-4716-8977-72A36B5A37CA}">
      <dgm:prSet/>
      <dgm:spPr/>
      <dgm:t>
        <a:bodyPr/>
        <a:lstStyle/>
        <a:p>
          <a:endParaRPr lang="es-SV" sz="1200"/>
        </a:p>
      </dgm:t>
    </dgm:pt>
    <dgm:pt modelId="{6F9A31D5-70F8-418D-8A1B-82FD47C40779}" type="sibTrans" cxnId="{F1BD6F3A-59C9-4716-8977-72A36B5A37CA}">
      <dgm:prSet/>
      <dgm:spPr/>
      <dgm:t>
        <a:bodyPr/>
        <a:lstStyle/>
        <a:p>
          <a:endParaRPr lang="es-SV" sz="1200"/>
        </a:p>
      </dgm:t>
    </dgm:pt>
    <dgm:pt modelId="{C38865B3-4443-4C1A-843F-C6489B37DDA1}">
      <dgm:prSet phldrT="[Texto]" custT="1"/>
      <dgm:spPr/>
      <dgm:t>
        <a:bodyPr/>
        <a:lstStyle/>
        <a:p>
          <a:r>
            <a:rPr lang="es-MX" sz="4800" dirty="0"/>
            <a:t>Consistencia y Calidad de Datos</a:t>
          </a:r>
          <a:endParaRPr lang="es-SV" sz="4800" dirty="0"/>
        </a:p>
      </dgm:t>
    </dgm:pt>
    <dgm:pt modelId="{2ABE317D-E82E-4126-9FB6-90324B7FA0B1}" type="parTrans" cxnId="{8CE3257E-3232-49EF-8942-0AFA9A906226}">
      <dgm:prSet/>
      <dgm:spPr/>
      <dgm:t>
        <a:bodyPr/>
        <a:lstStyle/>
        <a:p>
          <a:endParaRPr lang="es-SV" sz="1200"/>
        </a:p>
      </dgm:t>
    </dgm:pt>
    <dgm:pt modelId="{576B4924-5E2F-434D-9BEE-039909725A59}" type="sibTrans" cxnId="{8CE3257E-3232-49EF-8942-0AFA9A906226}">
      <dgm:prSet/>
      <dgm:spPr/>
      <dgm:t>
        <a:bodyPr/>
        <a:lstStyle/>
        <a:p>
          <a:endParaRPr lang="es-SV" sz="1200"/>
        </a:p>
      </dgm:t>
    </dgm:pt>
    <dgm:pt modelId="{622B0F72-0EB1-45FC-8743-F22D4981319B}">
      <dgm:prSet phldrT="[Texto]" custT="1"/>
      <dgm:spPr/>
      <dgm:t>
        <a:bodyPr/>
        <a:lstStyle/>
        <a:p>
          <a:r>
            <a:rPr lang="es-MX" sz="4000" dirty="0"/>
            <a:t>Implementa procesos de limpieza y validación para garantizar datos precisos, eliminando duplicados y errores, y asegurando coherencia en toda la organización.</a:t>
          </a:r>
          <a:endParaRPr lang="es-SV" sz="4000" dirty="0"/>
        </a:p>
      </dgm:t>
    </dgm:pt>
    <dgm:pt modelId="{B718A7E5-0183-47B9-9CF3-E7940E8D0C76}" type="parTrans" cxnId="{682CE0F9-82D7-466C-A3BB-994441E275EE}">
      <dgm:prSet/>
      <dgm:spPr/>
      <dgm:t>
        <a:bodyPr/>
        <a:lstStyle/>
        <a:p>
          <a:endParaRPr lang="es-SV" sz="1200"/>
        </a:p>
      </dgm:t>
    </dgm:pt>
    <dgm:pt modelId="{2C65F4AF-96FC-42B5-A107-F2B117EC593E}" type="sibTrans" cxnId="{682CE0F9-82D7-466C-A3BB-994441E275EE}">
      <dgm:prSet/>
      <dgm:spPr/>
      <dgm:t>
        <a:bodyPr/>
        <a:lstStyle/>
        <a:p>
          <a:endParaRPr lang="es-SV" sz="1200"/>
        </a:p>
      </dgm:t>
    </dgm:pt>
    <dgm:pt modelId="{8F43CF41-8B2C-44B7-9DB3-3DD2280E614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SV" sz="4000" dirty="0"/>
        </a:p>
      </dgm:t>
    </dgm:pt>
    <dgm:pt modelId="{0051CAF0-5A7F-4FDF-9459-D99A7F9E1722}" type="parTrans" cxnId="{507D5AED-3C0A-4C4C-AB2F-9B80BE45B573}">
      <dgm:prSet/>
      <dgm:spPr/>
      <dgm:t>
        <a:bodyPr/>
        <a:lstStyle/>
        <a:p>
          <a:endParaRPr lang="es-SV"/>
        </a:p>
      </dgm:t>
    </dgm:pt>
    <dgm:pt modelId="{FDA384B3-5F39-4C48-8E34-75DFB02BF814}" type="sibTrans" cxnId="{507D5AED-3C0A-4C4C-AB2F-9B80BE45B573}">
      <dgm:prSet/>
      <dgm:spPr/>
      <dgm:t>
        <a:bodyPr/>
        <a:lstStyle/>
        <a:p>
          <a:endParaRPr lang="es-SV"/>
        </a:p>
      </dgm:t>
    </dgm:pt>
    <dgm:pt modelId="{80B367FB-260D-4E0C-B547-0557AADA5659}">
      <dgm:prSet phldrT="[Texto]" custT="1"/>
      <dgm:spPr/>
      <dgm:t>
        <a:bodyPr/>
        <a:lstStyle/>
        <a:p>
          <a:endParaRPr lang="es-SV" sz="4000" dirty="0"/>
        </a:p>
      </dgm:t>
    </dgm:pt>
    <dgm:pt modelId="{A7FD0294-D224-42EE-8FC5-61593B634B95}" type="parTrans" cxnId="{CA58999E-5E11-4FCB-81B4-F205C7F02ABD}">
      <dgm:prSet/>
      <dgm:spPr/>
      <dgm:t>
        <a:bodyPr/>
        <a:lstStyle/>
        <a:p>
          <a:endParaRPr lang="es-SV"/>
        </a:p>
      </dgm:t>
    </dgm:pt>
    <dgm:pt modelId="{9F6EB360-6068-453D-A8CA-11EE36D505E9}" type="sibTrans" cxnId="{CA58999E-5E11-4FCB-81B4-F205C7F02ABD}">
      <dgm:prSet/>
      <dgm:spPr/>
      <dgm:t>
        <a:bodyPr/>
        <a:lstStyle/>
        <a:p>
          <a:endParaRPr lang="es-SV"/>
        </a:p>
      </dgm:t>
    </dgm:pt>
    <dgm:pt modelId="{F225D2FA-7D05-4F15-A3AC-749FC0D612D7}" type="pres">
      <dgm:prSet presAssocID="{82BF6783-A7BD-418A-A94C-5347F780CB52}" presName="linear" presStyleCnt="0">
        <dgm:presLayoutVars>
          <dgm:animLvl val="lvl"/>
          <dgm:resizeHandles val="exact"/>
        </dgm:presLayoutVars>
      </dgm:prSet>
      <dgm:spPr/>
    </dgm:pt>
    <dgm:pt modelId="{B7D3657D-F621-4AF8-9C72-0485046FCBB5}" type="pres">
      <dgm:prSet presAssocID="{DA80E8CA-E764-468B-8B3F-8636A1B925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058184-D9C5-467D-9F8A-3DA81D03E3E0}" type="pres">
      <dgm:prSet presAssocID="{DA80E8CA-E764-468B-8B3F-8636A1B92583}" presName="childText" presStyleLbl="revTx" presStyleIdx="0" presStyleCnt="2">
        <dgm:presLayoutVars>
          <dgm:bulletEnabled val="1"/>
        </dgm:presLayoutVars>
      </dgm:prSet>
      <dgm:spPr/>
    </dgm:pt>
    <dgm:pt modelId="{77CA7410-6F8C-4B15-BE04-117C76AAFADB}" type="pres">
      <dgm:prSet presAssocID="{C38865B3-4443-4C1A-843F-C6489B37DDA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F2D89FD-3AD9-4C1D-9392-BCF74BC12D08}" type="pres">
      <dgm:prSet presAssocID="{C38865B3-4443-4C1A-843F-C6489B37DDA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AEE3D12-500B-4AE8-AB6F-49454180644C}" type="presOf" srcId="{8F43CF41-8B2C-44B7-9DB3-3DD2280E6146}" destId="{3D058184-D9C5-467D-9F8A-3DA81D03E3E0}" srcOrd="0" destOrd="1" presId="urn:microsoft.com/office/officeart/2005/8/layout/vList2"/>
    <dgm:cxn modelId="{CFE6C326-2D93-455F-8E56-CE603555494B}" type="presOf" srcId="{DA80E8CA-E764-468B-8B3F-8636A1B92583}" destId="{B7D3657D-F621-4AF8-9C72-0485046FCBB5}" srcOrd="0" destOrd="0" presId="urn:microsoft.com/office/officeart/2005/8/layout/vList2"/>
    <dgm:cxn modelId="{F1BD6F3A-59C9-4716-8977-72A36B5A37CA}" srcId="{DA80E8CA-E764-468B-8B3F-8636A1B92583}" destId="{44805415-5664-4A3A-BC06-938055824052}" srcOrd="0" destOrd="0" parTransId="{A8707A43-983A-4218-B5A8-DF52BF33E18B}" sibTransId="{6F9A31D5-70F8-418D-8A1B-82FD47C40779}"/>
    <dgm:cxn modelId="{0CF9C673-234E-4685-92BF-B44826AEC9D8}" type="presOf" srcId="{622B0F72-0EB1-45FC-8743-F22D4981319B}" destId="{2F2D89FD-3AD9-4C1D-9392-BCF74BC12D08}" srcOrd="0" destOrd="0" presId="urn:microsoft.com/office/officeart/2005/8/layout/vList2"/>
    <dgm:cxn modelId="{3135C775-9CA8-4D22-98D5-9C8F91DEA366}" type="presOf" srcId="{82BF6783-A7BD-418A-A94C-5347F780CB52}" destId="{F225D2FA-7D05-4F15-A3AC-749FC0D612D7}" srcOrd="0" destOrd="0" presId="urn:microsoft.com/office/officeart/2005/8/layout/vList2"/>
    <dgm:cxn modelId="{68596876-6457-47AD-8D5D-BC9B449311D4}" srcId="{82BF6783-A7BD-418A-A94C-5347F780CB52}" destId="{DA80E8CA-E764-468B-8B3F-8636A1B92583}" srcOrd="0" destOrd="0" parTransId="{B023CB43-B41E-49D4-B954-B12965DF60C9}" sibTransId="{90201404-A07B-446C-937B-25457783C876}"/>
    <dgm:cxn modelId="{8CE3257E-3232-49EF-8942-0AFA9A906226}" srcId="{82BF6783-A7BD-418A-A94C-5347F780CB52}" destId="{C38865B3-4443-4C1A-843F-C6489B37DDA1}" srcOrd="1" destOrd="0" parTransId="{2ABE317D-E82E-4126-9FB6-90324B7FA0B1}" sibTransId="{576B4924-5E2F-434D-9BEE-039909725A59}"/>
    <dgm:cxn modelId="{CA58999E-5E11-4FCB-81B4-F205C7F02ABD}" srcId="{C38865B3-4443-4C1A-843F-C6489B37DDA1}" destId="{80B367FB-260D-4E0C-B547-0557AADA5659}" srcOrd="1" destOrd="0" parTransId="{A7FD0294-D224-42EE-8FC5-61593B634B95}" sibTransId="{9F6EB360-6068-453D-A8CA-11EE36D505E9}"/>
    <dgm:cxn modelId="{4E2B7FAC-DC7A-41C9-BD3C-66D9198045D5}" type="presOf" srcId="{80B367FB-260D-4E0C-B547-0557AADA5659}" destId="{2F2D89FD-3AD9-4C1D-9392-BCF74BC12D08}" srcOrd="0" destOrd="1" presId="urn:microsoft.com/office/officeart/2005/8/layout/vList2"/>
    <dgm:cxn modelId="{3BE3DFBD-5D56-40CC-8883-DEE2C7E30004}" type="presOf" srcId="{C38865B3-4443-4C1A-843F-C6489B37DDA1}" destId="{77CA7410-6F8C-4B15-BE04-117C76AAFADB}" srcOrd="0" destOrd="0" presId="urn:microsoft.com/office/officeart/2005/8/layout/vList2"/>
    <dgm:cxn modelId="{9CA3D2D8-9A44-415B-8008-896450B101B8}" type="presOf" srcId="{44805415-5664-4A3A-BC06-938055824052}" destId="{3D058184-D9C5-467D-9F8A-3DA81D03E3E0}" srcOrd="0" destOrd="0" presId="urn:microsoft.com/office/officeart/2005/8/layout/vList2"/>
    <dgm:cxn modelId="{507D5AED-3C0A-4C4C-AB2F-9B80BE45B573}" srcId="{DA80E8CA-E764-468B-8B3F-8636A1B92583}" destId="{8F43CF41-8B2C-44B7-9DB3-3DD2280E6146}" srcOrd="1" destOrd="0" parTransId="{0051CAF0-5A7F-4FDF-9459-D99A7F9E1722}" sibTransId="{FDA384B3-5F39-4C48-8E34-75DFB02BF814}"/>
    <dgm:cxn modelId="{682CE0F9-82D7-466C-A3BB-994441E275EE}" srcId="{C38865B3-4443-4C1A-843F-C6489B37DDA1}" destId="{622B0F72-0EB1-45FC-8743-F22D4981319B}" srcOrd="0" destOrd="0" parTransId="{B718A7E5-0183-47B9-9CF3-E7940E8D0C76}" sibTransId="{2C65F4AF-96FC-42B5-A107-F2B117EC593E}"/>
    <dgm:cxn modelId="{44A8477D-5CC6-4583-9310-E4CF7038E98B}" type="presParOf" srcId="{F225D2FA-7D05-4F15-A3AC-749FC0D612D7}" destId="{B7D3657D-F621-4AF8-9C72-0485046FCBB5}" srcOrd="0" destOrd="0" presId="urn:microsoft.com/office/officeart/2005/8/layout/vList2"/>
    <dgm:cxn modelId="{169584F6-C42B-44A9-AE52-42737B8F7A06}" type="presParOf" srcId="{F225D2FA-7D05-4F15-A3AC-749FC0D612D7}" destId="{3D058184-D9C5-467D-9F8A-3DA81D03E3E0}" srcOrd="1" destOrd="0" presId="urn:microsoft.com/office/officeart/2005/8/layout/vList2"/>
    <dgm:cxn modelId="{BF985CFB-560B-42C0-8B96-F823B960AF92}" type="presParOf" srcId="{F225D2FA-7D05-4F15-A3AC-749FC0D612D7}" destId="{77CA7410-6F8C-4B15-BE04-117C76AAFADB}" srcOrd="2" destOrd="0" presId="urn:microsoft.com/office/officeart/2005/8/layout/vList2"/>
    <dgm:cxn modelId="{B3819217-F71D-4371-9E5F-C0FFA00C14EE}" type="presParOf" srcId="{F225D2FA-7D05-4F15-A3AC-749FC0D612D7}" destId="{2F2D89FD-3AD9-4C1D-9392-BCF74BC12D0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BF6783-A7BD-418A-A94C-5347F780CB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DA80E8CA-E764-468B-8B3F-8636A1B92583}">
      <dgm:prSet phldrT="[Texto]" custT="1"/>
      <dgm:spPr/>
      <dgm:t>
        <a:bodyPr/>
        <a:lstStyle/>
        <a:p>
          <a:pPr>
            <a:buNone/>
          </a:pPr>
          <a:r>
            <a:rPr lang="es-SV" sz="4800" b="1" dirty="0"/>
            <a:t>Escalabilidad y Elasticidad</a:t>
          </a:r>
          <a:endParaRPr lang="es-SV" sz="4800" dirty="0"/>
        </a:p>
      </dgm:t>
    </dgm:pt>
    <dgm:pt modelId="{B023CB43-B41E-49D4-B954-B12965DF60C9}" type="parTrans" cxnId="{68596876-6457-47AD-8D5D-BC9B449311D4}">
      <dgm:prSet/>
      <dgm:spPr/>
      <dgm:t>
        <a:bodyPr/>
        <a:lstStyle/>
        <a:p>
          <a:endParaRPr lang="es-SV" sz="1200"/>
        </a:p>
      </dgm:t>
    </dgm:pt>
    <dgm:pt modelId="{90201404-A07B-446C-937B-25457783C876}" type="sibTrans" cxnId="{68596876-6457-47AD-8D5D-BC9B449311D4}">
      <dgm:prSet/>
      <dgm:spPr/>
      <dgm:t>
        <a:bodyPr/>
        <a:lstStyle/>
        <a:p>
          <a:endParaRPr lang="es-SV" sz="1200"/>
        </a:p>
      </dgm:t>
    </dgm:pt>
    <dgm:pt modelId="{44805415-5664-4A3A-BC06-93805582405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4000" dirty="0"/>
            <a:t>Capacidad de adaptarse al crecimiento de datos mediante arquitecturas en la nube y almacenamiento distribuido, optimizando costos y rendimiento.</a:t>
          </a:r>
          <a:endParaRPr lang="es-SV" sz="4000" dirty="0"/>
        </a:p>
      </dgm:t>
    </dgm:pt>
    <dgm:pt modelId="{A8707A43-983A-4218-B5A8-DF52BF33E18B}" type="parTrans" cxnId="{F1BD6F3A-59C9-4716-8977-72A36B5A37CA}">
      <dgm:prSet/>
      <dgm:spPr/>
      <dgm:t>
        <a:bodyPr/>
        <a:lstStyle/>
        <a:p>
          <a:endParaRPr lang="es-SV" sz="1200"/>
        </a:p>
      </dgm:t>
    </dgm:pt>
    <dgm:pt modelId="{6F9A31D5-70F8-418D-8A1B-82FD47C40779}" type="sibTrans" cxnId="{F1BD6F3A-59C9-4716-8977-72A36B5A37CA}">
      <dgm:prSet/>
      <dgm:spPr/>
      <dgm:t>
        <a:bodyPr/>
        <a:lstStyle/>
        <a:p>
          <a:endParaRPr lang="es-SV" sz="1200"/>
        </a:p>
      </dgm:t>
    </dgm:pt>
    <dgm:pt modelId="{C38865B3-4443-4C1A-843F-C6489B37DDA1}">
      <dgm:prSet phldrT="[Texto]" custT="1"/>
      <dgm:spPr/>
      <dgm:t>
        <a:bodyPr/>
        <a:lstStyle/>
        <a:p>
          <a:r>
            <a:rPr lang="es-SV" sz="4800" dirty="0"/>
            <a:t>Seguridad y Gobernanza</a:t>
          </a:r>
        </a:p>
      </dgm:t>
    </dgm:pt>
    <dgm:pt modelId="{2ABE317D-E82E-4126-9FB6-90324B7FA0B1}" type="parTrans" cxnId="{8CE3257E-3232-49EF-8942-0AFA9A906226}">
      <dgm:prSet/>
      <dgm:spPr/>
      <dgm:t>
        <a:bodyPr/>
        <a:lstStyle/>
        <a:p>
          <a:endParaRPr lang="es-SV" sz="1200"/>
        </a:p>
      </dgm:t>
    </dgm:pt>
    <dgm:pt modelId="{576B4924-5E2F-434D-9BEE-039909725A59}" type="sibTrans" cxnId="{8CE3257E-3232-49EF-8942-0AFA9A906226}">
      <dgm:prSet/>
      <dgm:spPr/>
      <dgm:t>
        <a:bodyPr/>
        <a:lstStyle/>
        <a:p>
          <a:endParaRPr lang="es-SV" sz="1200"/>
        </a:p>
      </dgm:t>
    </dgm:pt>
    <dgm:pt modelId="{622B0F72-0EB1-45FC-8743-F22D4981319B}">
      <dgm:prSet phldrT="[Texto]" custT="1"/>
      <dgm:spPr/>
      <dgm:t>
        <a:bodyPr/>
        <a:lstStyle/>
        <a:p>
          <a:r>
            <a:rPr lang="es-MX" sz="4000" dirty="0"/>
            <a:t>Aplicación de controles de acceso, encriptación y auditoría para proteger la información y cumplir con regulaciones de privacidad y seguridad.</a:t>
          </a:r>
          <a:endParaRPr lang="es-SV" sz="4000" dirty="0"/>
        </a:p>
      </dgm:t>
    </dgm:pt>
    <dgm:pt modelId="{B718A7E5-0183-47B9-9CF3-E7940E8D0C76}" type="parTrans" cxnId="{682CE0F9-82D7-466C-A3BB-994441E275EE}">
      <dgm:prSet/>
      <dgm:spPr/>
      <dgm:t>
        <a:bodyPr/>
        <a:lstStyle/>
        <a:p>
          <a:endParaRPr lang="es-SV" sz="1200"/>
        </a:p>
      </dgm:t>
    </dgm:pt>
    <dgm:pt modelId="{2C65F4AF-96FC-42B5-A107-F2B117EC593E}" type="sibTrans" cxnId="{682CE0F9-82D7-466C-A3BB-994441E275EE}">
      <dgm:prSet/>
      <dgm:spPr/>
      <dgm:t>
        <a:bodyPr/>
        <a:lstStyle/>
        <a:p>
          <a:endParaRPr lang="es-SV" sz="1200"/>
        </a:p>
      </dgm:t>
    </dgm:pt>
    <dgm:pt modelId="{86675802-485D-4D7A-B1FA-A8ADBA89040E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SV" sz="4000" dirty="0"/>
        </a:p>
      </dgm:t>
    </dgm:pt>
    <dgm:pt modelId="{A21B1FAD-66CE-4B55-B166-91067EC0AA79}" type="parTrans" cxnId="{7638B15F-BD4D-4CD0-B7FD-B15BFF007F43}">
      <dgm:prSet/>
      <dgm:spPr/>
      <dgm:t>
        <a:bodyPr/>
        <a:lstStyle/>
        <a:p>
          <a:endParaRPr lang="es-SV"/>
        </a:p>
      </dgm:t>
    </dgm:pt>
    <dgm:pt modelId="{7FEE98E9-E5BE-4D54-9C32-12B4AFB53A44}" type="sibTrans" cxnId="{7638B15F-BD4D-4CD0-B7FD-B15BFF007F43}">
      <dgm:prSet/>
      <dgm:spPr/>
      <dgm:t>
        <a:bodyPr/>
        <a:lstStyle/>
        <a:p>
          <a:endParaRPr lang="es-SV"/>
        </a:p>
      </dgm:t>
    </dgm:pt>
    <dgm:pt modelId="{F11360DF-D6CE-42BB-B9A0-CC625D2ACD85}">
      <dgm:prSet phldrT="[Texto]" custT="1"/>
      <dgm:spPr/>
      <dgm:t>
        <a:bodyPr/>
        <a:lstStyle/>
        <a:p>
          <a:endParaRPr lang="es-SV" sz="4000" dirty="0"/>
        </a:p>
      </dgm:t>
    </dgm:pt>
    <dgm:pt modelId="{3D8E491C-1B1B-4DC2-98E4-9240B45BFC7C}" type="parTrans" cxnId="{007E0785-B62F-48DC-89BD-F23D823DC317}">
      <dgm:prSet/>
      <dgm:spPr/>
      <dgm:t>
        <a:bodyPr/>
        <a:lstStyle/>
        <a:p>
          <a:endParaRPr lang="es-SV"/>
        </a:p>
      </dgm:t>
    </dgm:pt>
    <dgm:pt modelId="{12D86C03-AEAA-4535-81B2-273532287145}" type="sibTrans" cxnId="{007E0785-B62F-48DC-89BD-F23D823DC317}">
      <dgm:prSet/>
      <dgm:spPr/>
      <dgm:t>
        <a:bodyPr/>
        <a:lstStyle/>
        <a:p>
          <a:endParaRPr lang="es-SV"/>
        </a:p>
      </dgm:t>
    </dgm:pt>
    <dgm:pt modelId="{F225D2FA-7D05-4F15-A3AC-749FC0D612D7}" type="pres">
      <dgm:prSet presAssocID="{82BF6783-A7BD-418A-A94C-5347F780CB52}" presName="linear" presStyleCnt="0">
        <dgm:presLayoutVars>
          <dgm:animLvl val="lvl"/>
          <dgm:resizeHandles val="exact"/>
        </dgm:presLayoutVars>
      </dgm:prSet>
      <dgm:spPr/>
    </dgm:pt>
    <dgm:pt modelId="{B7D3657D-F621-4AF8-9C72-0485046FCBB5}" type="pres">
      <dgm:prSet presAssocID="{DA80E8CA-E764-468B-8B3F-8636A1B925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058184-D9C5-467D-9F8A-3DA81D03E3E0}" type="pres">
      <dgm:prSet presAssocID="{DA80E8CA-E764-468B-8B3F-8636A1B92583}" presName="childText" presStyleLbl="revTx" presStyleIdx="0" presStyleCnt="2">
        <dgm:presLayoutVars>
          <dgm:bulletEnabled val="1"/>
        </dgm:presLayoutVars>
      </dgm:prSet>
      <dgm:spPr/>
    </dgm:pt>
    <dgm:pt modelId="{77CA7410-6F8C-4B15-BE04-117C76AAFADB}" type="pres">
      <dgm:prSet presAssocID="{C38865B3-4443-4C1A-843F-C6489B37DDA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F2D89FD-3AD9-4C1D-9392-BCF74BC12D08}" type="pres">
      <dgm:prSet presAssocID="{C38865B3-4443-4C1A-843F-C6489B37DDA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E6C326-2D93-455F-8E56-CE603555494B}" type="presOf" srcId="{DA80E8CA-E764-468B-8B3F-8636A1B92583}" destId="{B7D3657D-F621-4AF8-9C72-0485046FCBB5}" srcOrd="0" destOrd="0" presId="urn:microsoft.com/office/officeart/2005/8/layout/vList2"/>
    <dgm:cxn modelId="{F1BD6F3A-59C9-4716-8977-72A36B5A37CA}" srcId="{DA80E8CA-E764-468B-8B3F-8636A1B92583}" destId="{44805415-5664-4A3A-BC06-938055824052}" srcOrd="0" destOrd="0" parTransId="{A8707A43-983A-4218-B5A8-DF52BF33E18B}" sibTransId="{6F9A31D5-70F8-418D-8A1B-82FD47C40779}"/>
    <dgm:cxn modelId="{7638B15F-BD4D-4CD0-B7FD-B15BFF007F43}" srcId="{DA80E8CA-E764-468B-8B3F-8636A1B92583}" destId="{86675802-485D-4D7A-B1FA-A8ADBA89040E}" srcOrd="1" destOrd="0" parTransId="{A21B1FAD-66CE-4B55-B166-91067EC0AA79}" sibTransId="{7FEE98E9-E5BE-4D54-9C32-12B4AFB53A44}"/>
    <dgm:cxn modelId="{0CF9C673-234E-4685-92BF-B44826AEC9D8}" type="presOf" srcId="{622B0F72-0EB1-45FC-8743-F22D4981319B}" destId="{2F2D89FD-3AD9-4C1D-9392-BCF74BC12D08}" srcOrd="0" destOrd="0" presId="urn:microsoft.com/office/officeart/2005/8/layout/vList2"/>
    <dgm:cxn modelId="{3135C775-9CA8-4D22-98D5-9C8F91DEA366}" type="presOf" srcId="{82BF6783-A7BD-418A-A94C-5347F780CB52}" destId="{F225D2FA-7D05-4F15-A3AC-749FC0D612D7}" srcOrd="0" destOrd="0" presId="urn:microsoft.com/office/officeart/2005/8/layout/vList2"/>
    <dgm:cxn modelId="{68596876-6457-47AD-8D5D-BC9B449311D4}" srcId="{82BF6783-A7BD-418A-A94C-5347F780CB52}" destId="{DA80E8CA-E764-468B-8B3F-8636A1B92583}" srcOrd="0" destOrd="0" parTransId="{B023CB43-B41E-49D4-B954-B12965DF60C9}" sibTransId="{90201404-A07B-446C-937B-25457783C876}"/>
    <dgm:cxn modelId="{8CE3257E-3232-49EF-8942-0AFA9A906226}" srcId="{82BF6783-A7BD-418A-A94C-5347F780CB52}" destId="{C38865B3-4443-4C1A-843F-C6489B37DDA1}" srcOrd="1" destOrd="0" parTransId="{2ABE317D-E82E-4126-9FB6-90324B7FA0B1}" sibTransId="{576B4924-5E2F-434D-9BEE-039909725A59}"/>
    <dgm:cxn modelId="{007E0785-B62F-48DC-89BD-F23D823DC317}" srcId="{C38865B3-4443-4C1A-843F-C6489B37DDA1}" destId="{F11360DF-D6CE-42BB-B9A0-CC625D2ACD85}" srcOrd="1" destOrd="0" parTransId="{3D8E491C-1B1B-4DC2-98E4-9240B45BFC7C}" sibTransId="{12D86C03-AEAA-4535-81B2-273532287145}"/>
    <dgm:cxn modelId="{4076E3AC-A997-4C34-B179-0B7834479034}" type="presOf" srcId="{86675802-485D-4D7A-B1FA-A8ADBA89040E}" destId="{3D058184-D9C5-467D-9F8A-3DA81D03E3E0}" srcOrd="0" destOrd="1" presId="urn:microsoft.com/office/officeart/2005/8/layout/vList2"/>
    <dgm:cxn modelId="{3BE3DFBD-5D56-40CC-8883-DEE2C7E30004}" type="presOf" srcId="{C38865B3-4443-4C1A-843F-C6489B37DDA1}" destId="{77CA7410-6F8C-4B15-BE04-117C76AAFADB}" srcOrd="0" destOrd="0" presId="urn:microsoft.com/office/officeart/2005/8/layout/vList2"/>
    <dgm:cxn modelId="{C917E8D5-29F9-402A-8381-CCDD4EEF846E}" type="presOf" srcId="{F11360DF-D6CE-42BB-B9A0-CC625D2ACD85}" destId="{2F2D89FD-3AD9-4C1D-9392-BCF74BC12D08}" srcOrd="0" destOrd="1" presId="urn:microsoft.com/office/officeart/2005/8/layout/vList2"/>
    <dgm:cxn modelId="{9CA3D2D8-9A44-415B-8008-896450B101B8}" type="presOf" srcId="{44805415-5664-4A3A-BC06-938055824052}" destId="{3D058184-D9C5-467D-9F8A-3DA81D03E3E0}" srcOrd="0" destOrd="0" presId="urn:microsoft.com/office/officeart/2005/8/layout/vList2"/>
    <dgm:cxn modelId="{682CE0F9-82D7-466C-A3BB-994441E275EE}" srcId="{C38865B3-4443-4C1A-843F-C6489B37DDA1}" destId="{622B0F72-0EB1-45FC-8743-F22D4981319B}" srcOrd="0" destOrd="0" parTransId="{B718A7E5-0183-47B9-9CF3-E7940E8D0C76}" sibTransId="{2C65F4AF-96FC-42B5-A107-F2B117EC593E}"/>
    <dgm:cxn modelId="{44A8477D-5CC6-4583-9310-E4CF7038E98B}" type="presParOf" srcId="{F225D2FA-7D05-4F15-A3AC-749FC0D612D7}" destId="{B7D3657D-F621-4AF8-9C72-0485046FCBB5}" srcOrd="0" destOrd="0" presId="urn:microsoft.com/office/officeart/2005/8/layout/vList2"/>
    <dgm:cxn modelId="{169584F6-C42B-44A9-AE52-42737B8F7A06}" type="presParOf" srcId="{F225D2FA-7D05-4F15-A3AC-749FC0D612D7}" destId="{3D058184-D9C5-467D-9F8A-3DA81D03E3E0}" srcOrd="1" destOrd="0" presId="urn:microsoft.com/office/officeart/2005/8/layout/vList2"/>
    <dgm:cxn modelId="{BF985CFB-560B-42C0-8B96-F823B960AF92}" type="presParOf" srcId="{F225D2FA-7D05-4F15-A3AC-749FC0D612D7}" destId="{77CA7410-6F8C-4B15-BE04-117C76AAFADB}" srcOrd="2" destOrd="0" presId="urn:microsoft.com/office/officeart/2005/8/layout/vList2"/>
    <dgm:cxn modelId="{B3819217-F71D-4371-9E5F-C0FFA00C14EE}" type="presParOf" srcId="{F225D2FA-7D05-4F15-A3AC-749FC0D612D7}" destId="{2F2D89FD-3AD9-4C1D-9392-BCF74BC12D0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BF6783-A7BD-418A-A94C-5347F780CB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SV"/>
        </a:p>
      </dgm:t>
    </dgm:pt>
    <dgm:pt modelId="{DA80E8CA-E764-468B-8B3F-8636A1B92583}">
      <dgm:prSet phldrT="[Texto]" custT="1"/>
      <dgm:spPr/>
      <dgm:t>
        <a:bodyPr/>
        <a:lstStyle/>
        <a:p>
          <a:pPr>
            <a:buNone/>
          </a:pPr>
          <a:r>
            <a:rPr lang="es-MX" sz="4800" b="1" dirty="0"/>
            <a:t>Automatización y Actualización</a:t>
          </a:r>
          <a:endParaRPr lang="es-SV" sz="4800" dirty="0"/>
        </a:p>
      </dgm:t>
    </dgm:pt>
    <dgm:pt modelId="{B023CB43-B41E-49D4-B954-B12965DF60C9}" type="parTrans" cxnId="{68596876-6457-47AD-8D5D-BC9B449311D4}">
      <dgm:prSet/>
      <dgm:spPr/>
      <dgm:t>
        <a:bodyPr/>
        <a:lstStyle/>
        <a:p>
          <a:endParaRPr lang="es-SV" sz="1200"/>
        </a:p>
      </dgm:t>
    </dgm:pt>
    <dgm:pt modelId="{90201404-A07B-446C-937B-25457783C876}" type="sibTrans" cxnId="{68596876-6457-47AD-8D5D-BC9B449311D4}">
      <dgm:prSet/>
      <dgm:spPr/>
      <dgm:t>
        <a:bodyPr/>
        <a:lstStyle/>
        <a:p>
          <a:endParaRPr lang="es-SV" sz="1200"/>
        </a:p>
      </dgm:t>
    </dgm:pt>
    <dgm:pt modelId="{44805415-5664-4A3A-BC06-93805582405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MX" sz="4000" dirty="0"/>
            <a:t>Diseñado para ejecutar consultas analíticas de alto rendimiento, utilizando técnicas como indexación avanzada, particionamiento y procesamiento paralelo.</a:t>
          </a:r>
          <a:endParaRPr lang="es-SV" sz="4000" dirty="0"/>
        </a:p>
      </dgm:t>
    </dgm:pt>
    <dgm:pt modelId="{A8707A43-983A-4218-B5A8-DF52BF33E18B}" type="parTrans" cxnId="{F1BD6F3A-59C9-4716-8977-72A36B5A37CA}">
      <dgm:prSet/>
      <dgm:spPr/>
      <dgm:t>
        <a:bodyPr/>
        <a:lstStyle/>
        <a:p>
          <a:endParaRPr lang="es-SV" sz="1200"/>
        </a:p>
      </dgm:t>
    </dgm:pt>
    <dgm:pt modelId="{6F9A31D5-70F8-418D-8A1B-82FD47C40779}" type="sibTrans" cxnId="{F1BD6F3A-59C9-4716-8977-72A36B5A37CA}">
      <dgm:prSet/>
      <dgm:spPr/>
      <dgm:t>
        <a:bodyPr/>
        <a:lstStyle/>
        <a:p>
          <a:endParaRPr lang="es-SV" sz="1200"/>
        </a:p>
      </dgm:t>
    </dgm:pt>
    <dgm:pt modelId="{C38865B3-4443-4C1A-843F-C6489B37DDA1}">
      <dgm:prSet phldrT="[Texto]" custT="1"/>
      <dgm:spPr/>
      <dgm:t>
        <a:bodyPr/>
        <a:lstStyle/>
        <a:p>
          <a:r>
            <a:rPr lang="es-SV" sz="4800" dirty="0"/>
            <a:t>Alta Disponibilidad y Rendimiento</a:t>
          </a:r>
        </a:p>
      </dgm:t>
    </dgm:pt>
    <dgm:pt modelId="{2ABE317D-E82E-4126-9FB6-90324B7FA0B1}" type="parTrans" cxnId="{8CE3257E-3232-49EF-8942-0AFA9A906226}">
      <dgm:prSet/>
      <dgm:spPr/>
      <dgm:t>
        <a:bodyPr/>
        <a:lstStyle/>
        <a:p>
          <a:endParaRPr lang="es-SV" sz="1200"/>
        </a:p>
      </dgm:t>
    </dgm:pt>
    <dgm:pt modelId="{576B4924-5E2F-434D-9BEE-039909725A59}" type="sibTrans" cxnId="{8CE3257E-3232-49EF-8942-0AFA9A906226}">
      <dgm:prSet/>
      <dgm:spPr/>
      <dgm:t>
        <a:bodyPr/>
        <a:lstStyle/>
        <a:p>
          <a:endParaRPr lang="es-SV" sz="1200"/>
        </a:p>
      </dgm:t>
    </dgm:pt>
    <dgm:pt modelId="{622B0F72-0EB1-45FC-8743-F22D4981319B}">
      <dgm:prSet phldrT="[Texto]" custT="1"/>
      <dgm:spPr/>
      <dgm:t>
        <a:bodyPr/>
        <a:lstStyle/>
        <a:p>
          <a:r>
            <a:rPr lang="es-MX" sz="4000" dirty="0"/>
            <a:t>Un Data </a:t>
          </a:r>
          <a:r>
            <a:rPr lang="es-MX" sz="4000" dirty="0" err="1"/>
            <a:t>Warehouse</a:t>
          </a:r>
          <a:r>
            <a:rPr lang="es-MX" sz="4000" dirty="0"/>
            <a:t> está diseñado para garantizar alta disponibilidad, lo que significa que los datos están accesibles en todo momento para los usuarios que los necesiten.</a:t>
          </a:r>
          <a:endParaRPr lang="es-SV" sz="4000" dirty="0"/>
        </a:p>
      </dgm:t>
    </dgm:pt>
    <dgm:pt modelId="{B718A7E5-0183-47B9-9CF3-E7940E8D0C76}" type="parTrans" cxnId="{682CE0F9-82D7-466C-A3BB-994441E275EE}">
      <dgm:prSet/>
      <dgm:spPr/>
      <dgm:t>
        <a:bodyPr/>
        <a:lstStyle/>
        <a:p>
          <a:endParaRPr lang="es-SV" sz="1200"/>
        </a:p>
      </dgm:t>
    </dgm:pt>
    <dgm:pt modelId="{2C65F4AF-96FC-42B5-A107-F2B117EC593E}" type="sibTrans" cxnId="{682CE0F9-82D7-466C-A3BB-994441E275EE}">
      <dgm:prSet/>
      <dgm:spPr/>
      <dgm:t>
        <a:bodyPr/>
        <a:lstStyle/>
        <a:p>
          <a:endParaRPr lang="es-SV" sz="1200"/>
        </a:p>
      </dgm:t>
    </dgm:pt>
    <dgm:pt modelId="{8F43CF41-8B2C-44B7-9DB3-3DD2280E6146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SV" sz="4000" dirty="0"/>
        </a:p>
      </dgm:t>
    </dgm:pt>
    <dgm:pt modelId="{0051CAF0-5A7F-4FDF-9459-D99A7F9E1722}" type="parTrans" cxnId="{507D5AED-3C0A-4C4C-AB2F-9B80BE45B573}">
      <dgm:prSet/>
      <dgm:spPr/>
      <dgm:t>
        <a:bodyPr/>
        <a:lstStyle/>
        <a:p>
          <a:endParaRPr lang="es-SV"/>
        </a:p>
      </dgm:t>
    </dgm:pt>
    <dgm:pt modelId="{FDA384B3-5F39-4C48-8E34-75DFB02BF814}" type="sibTrans" cxnId="{507D5AED-3C0A-4C4C-AB2F-9B80BE45B573}">
      <dgm:prSet/>
      <dgm:spPr/>
      <dgm:t>
        <a:bodyPr/>
        <a:lstStyle/>
        <a:p>
          <a:endParaRPr lang="es-SV"/>
        </a:p>
      </dgm:t>
    </dgm:pt>
    <dgm:pt modelId="{80B367FB-260D-4E0C-B547-0557AADA5659}">
      <dgm:prSet phldrT="[Texto]" custT="1"/>
      <dgm:spPr/>
      <dgm:t>
        <a:bodyPr/>
        <a:lstStyle/>
        <a:p>
          <a:endParaRPr lang="es-SV" sz="4000" dirty="0"/>
        </a:p>
      </dgm:t>
    </dgm:pt>
    <dgm:pt modelId="{A7FD0294-D224-42EE-8FC5-61593B634B95}" type="parTrans" cxnId="{CA58999E-5E11-4FCB-81B4-F205C7F02ABD}">
      <dgm:prSet/>
      <dgm:spPr/>
      <dgm:t>
        <a:bodyPr/>
        <a:lstStyle/>
        <a:p>
          <a:endParaRPr lang="es-SV"/>
        </a:p>
      </dgm:t>
    </dgm:pt>
    <dgm:pt modelId="{9F6EB360-6068-453D-A8CA-11EE36D505E9}" type="sibTrans" cxnId="{CA58999E-5E11-4FCB-81B4-F205C7F02ABD}">
      <dgm:prSet/>
      <dgm:spPr/>
      <dgm:t>
        <a:bodyPr/>
        <a:lstStyle/>
        <a:p>
          <a:endParaRPr lang="es-SV"/>
        </a:p>
      </dgm:t>
    </dgm:pt>
    <dgm:pt modelId="{F225D2FA-7D05-4F15-A3AC-749FC0D612D7}" type="pres">
      <dgm:prSet presAssocID="{82BF6783-A7BD-418A-A94C-5347F780CB52}" presName="linear" presStyleCnt="0">
        <dgm:presLayoutVars>
          <dgm:animLvl val="lvl"/>
          <dgm:resizeHandles val="exact"/>
        </dgm:presLayoutVars>
      </dgm:prSet>
      <dgm:spPr/>
    </dgm:pt>
    <dgm:pt modelId="{B7D3657D-F621-4AF8-9C72-0485046FCBB5}" type="pres">
      <dgm:prSet presAssocID="{DA80E8CA-E764-468B-8B3F-8636A1B925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058184-D9C5-467D-9F8A-3DA81D03E3E0}" type="pres">
      <dgm:prSet presAssocID="{DA80E8CA-E764-468B-8B3F-8636A1B92583}" presName="childText" presStyleLbl="revTx" presStyleIdx="0" presStyleCnt="2">
        <dgm:presLayoutVars>
          <dgm:bulletEnabled val="1"/>
        </dgm:presLayoutVars>
      </dgm:prSet>
      <dgm:spPr/>
    </dgm:pt>
    <dgm:pt modelId="{77CA7410-6F8C-4B15-BE04-117C76AAFADB}" type="pres">
      <dgm:prSet presAssocID="{C38865B3-4443-4C1A-843F-C6489B37DDA1}" presName="parentText" presStyleLbl="node1" presStyleIdx="1" presStyleCnt="2" custLinFactNeighborX="-39865" custLinFactNeighborY="666">
        <dgm:presLayoutVars>
          <dgm:chMax val="0"/>
          <dgm:bulletEnabled val="1"/>
        </dgm:presLayoutVars>
      </dgm:prSet>
      <dgm:spPr/>
    </dgm:pt>
    <dgm:pt modelId="{2F2D89FD-3AD9-4C1D-9392-BCF74BC12D08}" type="pres">
      <dgm:prSet presAssocID="{C38865B3-4443-4C1A-843F-C6489B37DDA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1AEE3D12-500B-4AE8-AB6F-49454180644C}" type="presOf" srcId="{8F43CF41-8B2C-44B7-9DB3-3DD2280E6146}" destId="{3D058184-D9C5-467D-9F8A-3DA81D03E3E0}" srcOrd="0" destOrd="1" presId="urn:microsoft.com/office/officeart/2005/8/layout/vList2"/>
    <dgm:cxn modelId="{CFE6C326-2D93-455F-8E56-CE603555494B}" type="presOf" srcId="{DA80E8CA-E764-468B-8B3F-8636A1B92583}" destId="{B7D3657D-F621-4AF8-9C72-0485046FCBB5}" srcOrd="0" destOrd="0" presId="urn:microsoft.com/office/officeart/2005/8/layout/vList2"/>
    <dgm:cxn modelId="{F1BD6F3A-59C9-4716-8977-72A36B5A37CA}" srcId="{DA80E8CA-E764-468B-8B3F-8636A1B92583}" destId="{44805415-5664-4A3A-BC06-938055824052}" srcOrd="0" destOrd="0" parTransId="{A8707A43-983A-4218-B5A8-DF52BF33E18B}" sibTransId="{6F9A31D5-70F8-418D-8A1B-82FD47C40779}"/>
    <dgm:cxn modelId="{0CF9C673-234E-4685-92BF-B44826AEC9D8}" type="presOf" srcId="{622B0F72-0EB1-45FC-8743-F22D4981319B}" destId="{2F2D89FD-3AD9-4C1D-9392-BCF74BC12D08}" srcOrd="0" destOrd="0" presId="urn:microsoft.com/office/officeart/2005/8/layout/vList2"/>
    <dgm:cxn modelId="{3135C775-9CA8-4D22-98D5-9C8F91DEA366}" type="presOf" srcId="{82BF6783-A7BD-418A-A94C-5347F780CB52}" destId="{F225D2FA-7D05-4F15-A3AC-749FC0D612D7}" srcOrd="0" destOrd="0" presId="urn:microsoft.com/office/officeart/2005/8/layout/vList2"/>
    <dgm:cxn modelId="{68596876-6457-47AD-8D5D-BC9B449311D4}" srcId="{82BF6783-A7BD-418A-A94C-5347F780CB52}" destId="{DA80E8CA-E764-468B-8B3F-8636A1B92583}" srcOrd="0" destOrd="0" parTransId="{B023CB43-B41E-49D4-B954-B12965DF60C9}" sibTransId="{90201404-A07B-446C-937B-25457783C876}"/>
    <dgm:cxn modelId="{8CE3257E-3232-49EF-8942-0AFA9A906226}" srcId="{82BF6783-A7BD-418A-A94C-5347F780CB52}" destId="{C38865B3-4443-4C1A-843F-C6489B37DDA1}" srcOrd="1" destOrd="0" parTransId="{2ABE317D-E82E-4126-9FB6-90324B7FA0B1}" sibTransId="{576B4924-5E2F-434D-9BEE-039909725A59}"/>
    <dgm:cxn modelId="{CA58999E-5E11-4FCB-81B4-F205C7F02ABD}" srcId="{C38865B3-4443-4C1A-843F-C6489B37DDA1}" destId="{80B367FB-260D-4E0C-B547-0557AADA5659}" srcOrd="1" destOrd="0" parTransId="{A7FD0294-D224-42EE-8FC5-61593B634B95}" sibTransId="{9F6EB360-6068-453D-A8CA-11EE36D505E9}"/>
    <dgm:cxn modelId="{4E2B7FAC-DC7A-41C9-BD3C-66D9198045D5}" type="presOf" srcId="{80B367FB-260D-4E0C-B547-0557AADA5659}" destId="{2F2D89FD-3AD9-4C1D-9392-BCF74BC12D08}" srcOrd="0" destOrd="1" presId="urn:microsoft.com/office/officeart/2005/8/layout/vList2"/>
    <dgm:cxn modelId="{3BE3DFBD-5D56-40CC-8883-DEE2C7E30004}" type="presOf" srcId="{C38865B3-4443-4C1A-843F-C6489B37DDA1}" destId="{77CA7410-6F8C-4B15-BE04-117C76AAFADB}" srcOrd="0" destOrd="0" presId="urn:microsoft.com/office/officeart/2005/8/layout/vList2"/>
    <dgm:cxn modelId="{9CA3D2D8-9A44-415B-8008-896450B101B8}" type="presOf" srcId="{44805415-5664-4A3A-BC06-938055824052}" destId="{3D058184-D9C5-467D-9F8A-3DA81D03E3E0}" srcOrd="0" destOrd="0" presId="urn:microsoft.com/office/officeart/2005/8/layout/vList2"/>
    <dgm:cxn modelId="{507D5AED-3C0A-4C4C-AB2F-9B80BE45B573}" srcId="{DA80E8CA-E764-468B-8B3F-8636A1B92583}" destId="{8F43CF41-8B2C-44B7-9DB3-3DD2280E6146}" srcOrd="1" destOrd="0" parTransId="{0051CAF0-5A7F-4FDF-9459-D99A7F9E1722}" sibTransId="{FDA384B3-5F39-4C48-8E34-75DFB02BF814}"/>
    <dgm:cxn modelId="{682CE0F9-82D7-466C-A3BB-994441E275EE}" srcId="{C38865B3-4443-4C1A-843F-C6489B37DDA1}" destId="{622B0F72-0EB1-45FC-8743-F22D4981319B}" srcOrd="0" destOrd="0" parTransId="{B718A7E5-0183-47B9-9CF3-E7940E8D0C76}" sibTransId="{2C65F4AF-96FC-42B5-A107-F2B117EC593E}"/>
    <dgm:cxn modelId="{44A8477D-5CC6-4583-9310-E4CF7038E98B}" type="presParOf" srcId="{F225D2FA-7D05-4F15-A3AC-749FC0D612D7}" destId="{B7D3657D-F621-4AF8-9C72-0485046FCBB5}" srcOrd="0" destOrd="0" presId="urn:microsoft.com/office/officeart/2005/8/layout/vList2"/>
    <dgm:cxn modelId="{169584F6-C42B-44A9-AE52-42737B8F7A06}" type="presParOf" srcId="{F225D2FA-7D05-4F15-A3AC-749FC0D612D7}" destId="{3D058184-D9C5-467D-9F8A-3DA81D03E3E0}" srcOrd="1" destOrd="0" presId="urn:microsoft.com/office/officeart/2005/8/layout/vList2"/>
    <dgm:cxn modelId="{BF985CFB-560B-42C0-8B96-F823B960AF92}" type="presParOf" srcId="{F225D2FA-7D05-4F15-A3AC-749FC0D612D7}" destId="{77CA7410-6F8C-4B15-BE04-117C76AAFADB}" srcOrd="2" destOrd="0" presId="urn:microsoft.com/office/officeart/2005/8/layout/vList2"/>
    <dgm:cxn modelId="{B3819217-F71D-4371-9E5F-C0FFA00C14EE}" type="presParOf" srcId="{F225D2FA-7D05-4F15-A3AC-749FC0D612D7}" destId="{2F2D89FD-3AD9-4C1D-9392-BCF74BC12D0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3657D-F621-4AF8-9C72-0485046FCBB5}">
      <dsp:nvSpPr>
        <dsp:cNvPr id="0" name=""/>
        <dsp:cNvSpPr/>
      </dsp:nvSpPr>
      <dsp:spPr>
        <a:xfrm>
          <a:off x="0" y="369037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b="1" kern="1200" dirty="0"/>
            <a:t>Integración de Datos</a:t>
          </a:r>
          <a:endParaRPr lang="es-SV" sz="4800" kern="1200" dirty="0"/>
        </a:p>
      </dsp:txBody>
      <dsp:txXfrm>
        <a:off x="59399" y="428436"/>
        <a:ext cx="10538385" cy="1098002"/>
      </dsp:txXfrm>
    </dsp:sp>
    <dsp:sp modelId="{3D058184-D9C5-467D-9F8A-3DA81D03E3E0}">
      <dsp:nvSpPr>
        <dsp:cNvPr id="0" name=""/>
        <dsp:cNvSpPr/>
      </dsp:nvSpPr>
      <dsp:spPr>
        <a:xfrm>
          <a:off x="0" y="1585837"/>
          <a:ext cx="10657183" cy="289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4000" kern="1200" dirty="0"/>
            <a:t>Recopila y unifica datos de múltiples fuentes, incluyendo bases de datos transaccionales, archivos, </a:t>
          </a:r>
          <a:r>
            <a:rPr lang="es-MX" sz="4000" kern="1200" dirty="0" err="1"/>
            <a:t>APIs</a:t>
          </a:r>
          <a:r>
            <a:rPr lang="es-MX" sz="4000" kern="1200" dirty="0"/>
            <a:t> y sistemas en la nube, asegurando una visión global de la información.</a:t>
          </a:r>
          <a:endParaRPr lang="es-SV" sz="4000" kern="1200" dirty="0"/>
        </a:p>
      </dsp:txBody>
      <dsp:txXfrm>
        <a:off x="0" y="1585837"/>
        <a:ext cx="10657183" cy="2892825"/>
      </dsp:txXfrm>
    </dsp:sp>
    <dsp:sp modelId="{77CA7410-6F8C-4B15-BE04-117C76AAFADB}">
      <dsp:nvSpPr>
        <dsp:cNvPr id="0" name=""/>
        <dsp:cNvSpPr/>
      </dsp:nvSpPr>
      <dsp:spPr>
        <a:xfrm>
          <a:off x="0" y="4478662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kern="1200" dirty="0"/>
            <a:t>Datos Históricos</a:t>
          </a:r>
        </a:p>
      </dsp:txBody>
      <dsp:txXfrm>
        <a:off x="59399" y="4538061"/>
        <a:ext cx="10538385" cy="1098002"/>
      </dsp:txXfrm>
    </dsp:sp>
    <dsp:sp modelId="{2F2D89FD-3AD9-4C1D-9392-BCF74BC12D08}">
      <dsp:nvSpPr>
        <dsp:cNvPr id="0" name=""/>
        <dsp:cNvSpPr/>
      </dsp:nvSpPr>
      <dsp:spPr>
        <a:xfrm>
          <a:off x="0" y="5695462"/>
          <a:ext cx="10657183" cy="289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4000" kern="1200" dirty="0"/>
            <a:t>Almacena grandes volúmenes de datos históricos, permitiendo el análisis de tendencias y patrones a lo largo del tiempo para mejorar la toma de decisiones estratégicas.</a:t>
          </a:r>
          <a:endParaRPr lang="es-SV" sz="4000" kern="1200" dirty="0"/>
        </a:p>
      </dsp:txBody>
      <dsp:txXfrm>
        <a:off x="0" y="5695462"/>
        <a:ext cx="10657183" cy="2892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3657D-F621-4AF8-9C72-0485046FCBB5}">
      <dsp:nvSpPr>
        <dsp:cNvPr id="0" name=""/>
        <dsp:cNvSpPr/>
      </dsp:nvSpPr>
      <dsp:spPr>
        <a:xfrm>
          <a:off x="0" y="234487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b="1" kern="1200" dirty="0"/>
            <a:t>Optimización para Consultas</a:t>
          </a:r>
          <a:endParaRPr lang="es-SV" sz="4800" kern="1200" dirty="0"/>
        </a:p>
      </dsp:txBody>
      <dsp:txXfrm>
        <a:off x="59399" y="293886"/>
        <a:ext cx="10538385" cy="1098002"/>
      </dsp:txXfrm>
    </dsp:sp>
    <dsp:sp modelId="{3D058184-D9C5-467D-9F8A-3DA81D03E3E0}">
      <dsp:nvSpPr>
        <dsp:cNvPr id="0" name=""/>
        <dsp:cNvSpPr/>
      </dsp:nvSpPr>
      <dsp:spPr>
        <a:xfrm>
          <a:off x="0" y="1451287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4000" kern="1200" dirty="0"/>
            <a:t>Diseñado para ejecutar consultas analíticas de alto rendimiento, utilizando técnicas como indexación avanzada, particionamiento y procesamiento paralelo.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SV" sz="4000" kern="1200" dirty="0"/>
        </a:p>
      </dsp:txBody>
      <dsp:txXfrm>
        <a:off x="0" y="1451287"/>
        <a:ext cx="10657183" cy="3027374"/>
      </dsp:txXfrm>
    </dsp:sp>
    <dsp:sp modelId="{77CA7410-6F8C-4B15-BE04-117C76AAFADB}">
      <dsp:nvSpPr>
        <dsp:cNvPr id="0" name=""/>
        <dsp:cNvSpPr/>
      </dsp:nvSpPr>
      <dsp:spPr>
        <a:xfrm>
          <a:off x="0" y="4478662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kern="1200" dirty="0"/>
            <a:t>Consistencia y Calidad de Datos</a:t>
          </a:r>
          <a:endParaRPr lang="es-SV" sz="4800" kern="1200" dirty="0"/>
        </a:p>
      </dsp:txBody>
      <dsp:txXfrm>
        <a:off x="59399" y="4538061"/>
        <a:ext cx="10538385" cy="1098002"/>
      </dsp:txXfrm>
    </dsp:sp>
    <dsp:sp modelId="{2F2D89FD-3AD9-4C1D-9392-BCF74BC12D08}">
      <dsp:nvSpPr>
        <dsp:cNvPr id="0" name=""/>
        <dsp:cNvSpPr/>
      </dsp:nvSpPr>
      <dsp:spPr>
        <a:xfrm>
          <a:off x="0" y="5695462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4000" kern="1200" dirty="0"/>
            <a:t>Implementa procesos de limpieza y validación para garantizar datos precisos, eliminando duplicados y errores, y asegurando coherencia en toda la organización.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SV" sz="4000" kern="1200" dirty="0"/>
        </a:p>
      </dsp:txBody>
      <dsp:txXfrm>
        <a:off x="0" y="5695462"/>
        <a:ext cx="10657183" cy="30273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3657D-F621-4AF8-9C72-0485046FCBB5}">
      <dsp:nvSpPr>
        <dsp:cNvPr id="0" name=""/>
        <dsp:cNvSpPr/>
      </dsp:nvSpPr>
      <dsp:spPr>
        <a:xfrm>
          <a:off x="0" y="234487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b="1" kern="1200" dirty="0"/>
            <a:t>Escalabilidad y Elasticidad</a:t>
          </a:r>
          <a:endParaRPr lang="es-SV" sz="4800" kern="1200" dirty="0"/>
        </a:p>
      </dsp:txBody>
      <dsp:txXfrm>
        <a:off x="59399" y="293886"/>
        <a:ext cx="10538385" cy="1098002"/>
      </dsp:txXfrm>
    </dsp:sp>
    <dsp:sp modelId="{3D058184-D9C5-467D-9F8A-3DA81D03E3E0}">
      <dsp:nvSpPr>
        <dsp:cNvPr id="0" name=""/>
        <dsp:cNvSpPr/>
      </dsp:nvSpPr>
      <dsp:spPr>
        <a:xfrm>
          <a:off x="0" y="1451287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4000" kern="1200" dirty="0"/>
            <a:t>Capacidad de adaptarse al crecimiento de datos mediante arquitecturas en la nube y almacenamiento distribuido, optimizando costos y rendimiento.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SV" sz="4000" kern="1200" dirty="0"/>
        </a:p>
      </dsp:txBody>
      <dsp:txXfrm>
        <a:off x="0" y="1451287"/>
        <a:ext cx="10657183" cy="3027374"/>
      </dsp:txXfrm>
    </dsp:sp>
    <dsp:sp modelId="{77CA7410-6F8C-4B15-BE04-117C76AAFADB}">
      <dsp:nvSpPr>
        <dsp:cNvPr id="0" name=""/>
        <dsp:cNvSpPr/>
      </dsp:nvSpPr>
      <dsp:spPr>
        <a:xfrm>
          <a:off x="0" y="4478662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kern="1200" dirty="0"/>
            <a:t>Seguridad y Gobernanza</a:t>
          </a:r>
        </a:p>
      </dsp:txBody>
      <dsp:txXfrm>
        <a:off x="59399" y="4538061"/>
        <a:ext cx="10538385" cy="1098002"/>
      </dsp:txXfrm>
    </dsp:sp>
    <dsp:sp modelId="{2F2D89FD-3AD9-4C1D-9392-BCF74BC12D08}">
      <dsp:nvSpPr>
        <dsp:cNvPr id="0" name=""/>
        <dsp:cNvSpPr/>
      </dsp:nvSpPr>
      <dsp:spPr>
        <a:xfrm>
          <a:off x="0" y="5695462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4000" kern="1200" dirty="0"/>
            <a:t>Aplicación de controles de acceso, encriptación y auditoría para proteger la información y cumplir con regulaciones de privacidad y seguridad.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SV" sz="4000" kern="1200" dirty="0"/>
        </a:p>
      </dsp:txBody>
      <dsp:txXfrm>
        <a:off x="0" y="5695462"/>
        <a:ext cx="10657183" cy="30273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3657D-F621-4AF8-9C72-0485046FCBB5}">
      <dsp:nvSpPr>
        <dsp:cNvPr id="0" name=""/>
        <dsp:cNvSpPr/>
      </dsp:nvSpPr>
      <dsp:spPr>
        <a:xfrm>
          <a:off x="0" y="234487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800" b="1" kern="1200" dirty="0"/>
            <a:t>Automatización y Actualización</a:t>
          </a:r>
          <a:endParaRPr lang="es-SV" sz="4800" kern="1200" dirty="0"/>
        </a:p>
      </dsp:txBody>
      <dsp:txXfrm>
        <a:off x="59399" y="293886"/>
        <a:ext cx="10538385" cy="1098002"/>
      </dsp:txXfrm>
    </dsp:sp>
    <dsp:sp modelId="{3D058184-D9C5-467D-9F8A-3DA81D03E3E0}">
      <dsp:nvSpPr>
        <dsp:cNvPr id="0" name=""/>
        <dsp:cNvSpPr/>
      </dsp:nvSpPr>
      <dsp:spPr>
        <a:xfrm>
          <a:off x="0" y="1451287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s-MX" sz="4000" kern="1200" dirty="0"/>
            <a:t>Diseñado para ejecutar consultas analíticas de alto rendimiento, utilizando técnicas como indexación avanzada, particionamiento y procesamiento paralelo.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endParaRPr lang="es-SV" sz="4000" kern="1200" dirty="0"/>
        </a:p>
      </dsp:txBody>
      <dsp:txXfrm>
        <a:off x="0" y="1451287"/>
        <a:ext cx="10657183" cy="3027374"/>
      </dsp:txXfrm>
    </dsp:sp>
    <dsp:sp modelId="{77CA7410-6F8C-4B15-BE04-117C76AAFADB}">
      <dsp:nvSpPr>
        <dsp:cNvPr id="0" name=""/>
        <dsp:cNvSpPr/>
      </dsp:nvSpPr>
      <dsp:spPr>
        <a:xfrm>
          <a:off x="0" y="4498824"/>
          <a:ext cx="1065718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4800" kern="1200" dirty="0"/>
            <a:t>Alta Disponibilidad y Rendimiento</a:t>
          </a:r>
        </a:p>
      </dsp:txBody>
      <dsp:txXfrm>
        <a:off x="59399" y="4558223"/>
        <a:ext cx="10538385" cy="1098002"/>
      </dsp:txXfrm>
    </dsp:sp>
    <dsp:sp modelId="{2F2D89FD-3AD9-4C1D-9392-BCF74BC12D08}">
      <dsp:nvSpPr>
        <dsp:cNvPr id="0" name=""/>
        <dsp:cNvSpPr/>
      </dsp:nvSpPr>
      <dsp:spPr>
        <a:xfrm>
          <a:off x="0" y="5695462"/>
          <a:ext cx="10657183" cy="3027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8366" tIns="50800" rIns="284480" bIns="5080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4000" kern="1200" dirty="0"/>
            <a:t>Un Data </a:t>
          </a:r>
          <a:r>
            <a:rPr lang="es-MX" sz="4000" kern="1200" dirty="0" err="1"/>
            <a:t>Warehouse</a:t>
          </a:r>
          <a:r>
            <a:rPr lang="es-MX" sz="4000" kern="1200" dirty="0"/>
            <a:t> está diseñado para garantizar alta disponibilidad, lo que significa que los datos están accesibles en todo momento para los usuarios que los necesiten.</a:t>
          </a:r>
          <a:endParaRPr lang="es-SV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s-SV" sz="4000" kern="1200" dirty="0"/>
        </a:p>
      </dsp:txBody>
      <dsp:txXfrm>
        <a:off x="0" y="5695462"/>
        <a:ext cx="10657183" cy="30273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5AEF8B-688E-77B2-80BD-042885EB4C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C6967-87DB-4CF4-BA80-5D0DAE54E9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469ED-EEBC-4D60-BA32-743F41922377}" type="datetimeFigureOut">
              <a:rPr lang="id-ID" smtClean="0"/>
              <a:t>05/09/2025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54224-784F-9FC6-CDA3-FC85BA3A2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ACAC9-C5FE-E1CF-E88D-0FDD89561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FAC06-9002-490F-9330-06802D423289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73787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83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C37681-94C8-326C-94A3-6197FB2E2D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0"/>
            <a:ext cx="12191999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41DF03-C653-6E56-1503-8B119803F687}"/>
              </a:ext>
            </a:extLst>
          </p:cNvPr>
          <p:cNvSpPr/>
          <p:nvPr userDrawn="1"/>
        </p:nvSpPr>
        <p:spPr>
          <a:xfrm>
            <a:off x="-1" y="1329428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689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9BBD3E5-89D3-9BEF-32B2-C89352AACE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06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BFC04D-E3CE-941F-AC9F-9D6A2E8A52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5287" y="-2719064"/>
            <a:ext cx="8514518" cy="8514518"/>
          </a:xfrm>
          <a:custGeom>
            <a:avLst/>
            <a:gdLst>
              <a:gd name="connsiteX0" fmla="*/ 817511 w 7740733"/>
              <a:gd name="connsiteY0" fmla="*/ 0 h 7740734"/>
              <a:gd name="connsiteX1" fmla="*/ 3096820 w 7740733"/>
              <a:gd name="connsiteY1" fmla="*/ 0 h 7740734"/>
              <a:gd name="connsiteX2" fmla="*/ 3869050 w 7740733"/>
              <a:gd name="connsiteY2" fmla="*/ 772230 h 7740734"/>
              <a:gd name="connsiteX3" fmla="*/ 3869050 w 7740733"/>
              <a:gd name="connsiteY3" fmla="*/ 773108 h 7740734"/>
              <a:gd name="connsiteX4" fmla="*/ 3869050 w 7740733"/>
              <a:gd name="connsiteY4" fmla="*/ 2802144 h 7740734"/>
              <a:gd name="connsiteX5" fmla="*/ 4640404 w 7740733"/>
              <a:gd name="connsiteY5" fmla="*/ 3575252 h 7740734"/>
              <a:gd name="connsiteX6" fmla="*/ 4642160 w 7740733"/>
              <a:gd name="connsiteY6" fmla="*/ 3575252 h 7740734"/>
              <a:gd name="connsiteX7" fmla="*/ 6967627 w 7740733"/>
              <a:gd name="connsiteY7" fmla="*/ 3575252 h 7740734"/>
              <a:gd name="connsiteX8" fmla="*/ 7740733 w 7740733"/>
              <a:gd name="connsiteY8" fmla="*/ 4346605 h 7740734"/>
              <a:gd name="connsiteX9" fmla="*/ 7740733 w 7740733"/>
              <a:gd name="connsiteY9" fmla="*/ 4348360 h 7740734"/>
              <a:gd name="connsiteX10" fmla="*/ 7740733 w 7740733"/>
              <a:gd name="connsiteY10" fmla="*/ 6923223 h 7740734"/>
              <a:gd name="connsiteX11" fmla="*/ 6923223 w 7740733"/>
              <a:gd name="connsiteY11" fmla="*/ 7740734 h 7740734"/>
              <a:gd name="connsiteX12" fmla="*/ 4643037 w 7740733"/>
              <a:gd name="connsiteY12" fmla="*/ 7740734 h 7740734"/>
              <a:gd name="connsiteX13" fmla="*/ 3869929 w 7740733"/>
              <a:gd name="connsiteY13" fmla="*/ 6969381 h 7740734"/>
              <a:gd name="connsiteX14" fmla="*/ 3869929 w 7740733"/>
              <a:gd name="connsiteY14" fmla="*/ 6967626 h 7740734"/>
              <a:gd name="connsiteX15" fmla="*/ 3869929 w 7740733"/>
              <a:gd name="connsiteY15" fmla="*/ 4838375 h 7740734"/>
              <a:gd name="connsiteX16" fmla="*/ 3097697 w 7740733"/>
              <a:gd name="connsiteY16" fmla="*/ 4066145 h 7740734"/>
              <a:gd name="connsiteX17" fmla="*/ 772230 w 7740733"/>
              <a:gd name="connsiteY17" fmla="*/ 4066145 h 7740734"/>
              <a:gd name="connsiteX18" fmla="*/ 0 w 7740733"/>
              <a:gd name="connsiteY18" fmla="*/ 3293914 h 7740734"/>
              <a:gd name="connsiteX19" fmla="*/ 0 w 7740733"/>
              <a:gd name="connsiteY19" fmla="*/ 3293037 h 7740734"/>
              <a:gd name="connsiteX20" fmla="*/ 0 w 7740733"/>
              <a:gd name="connsiteY20" fmla="*/ 817511 h 7740734"/>
              <a:gd name="connsiteX21" fmla="*/ 817511 w 7740733"/>
              <a:gd name="connsiteY21" fmla="*/ 0 h 774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0733" h="7740734">
                <a:moveTo>
                  <a:pt x="817511" y="0"/>
                </a:moveTo>
                <a:lnTo>
                  <a:pt x="3096820" y="0"/>
                </a:lnTo>
                <a:cubicBezTo>
                  <a:pt x="3523320" y="0"/>
                  <a:pt x="3869050" y="345738"/>
                  <a:pt x="3869050" y="772230"/>
                </a:cubicBezTo>
                <a:cubicBezTo>
                  <a:pt x="3869050" y="772522"/>
                  <a:pt x="3869050" y="772815"/>
                  <a:pt x="3869050" y="773108"/>
                </a:cubicBezTo>
                <a:lnTo>
                  <a:pt x="3869050" y="2802144"/>
                </a:lnTo>
                <a:cubicBezTo>
                  <a:pt x="3868560" y="3228643"/>
                  <a:pt x="4213904" y="3574760"/>
                  <a:pt x="4640404" y="3575252"/>
                </a:cubicBezTo>
                <a:cubicBezTo>
                  <a:pt x="4640983" y="3575252"/>
                  <a:pt x="4641579" y="3575252"/>
                  <a:pt x="4642160" y="3575252"/>
                </a:cubicBezTo>
                <a:lnTo>
                  <a:pt x="6967627" y="3575252"/>
                </a:lnTo>
                <a:cubicBezTo>
                  <a:pt x="7394125" y="3574760"/>
                  <a:pt x="7740243" y="3920105"/>
                  <a:pt x="7740733" y="4346605"/>
                </a:cubicBezTo>
                <a:cubicBezTo>
                  <a:pt x="7740733" y="4347184"/>
                  <a:pt x="7740733" y="4347781"/>
                  <a:pt x="7740733" y="4348360"/>
                </a:cubicBezTo>
                <a:lnTo>
                  <a:pt x="7740733" y="6923223"/>
                </a:lnTo>
                <a:cubicBezTo>
                  <a:pt x="7739383" y="7374170"/>
                  <a:pt x="7374170" y="7739383"/>
                  <a:pt x="6923223" y="7740734"/>
                </a:cubicBezTo>
                <a:lnTo>
                  <a:pt x="4643037" y="7740734"/>
                </a:lnTo>
                <a:cubicBezTo>
                  <a:pt x="4216538" y="7741226"/>
                  <a:pt x="3870419" y="7395881"/>
                  <a:pt x="3869929" y="6969381"/>
                </a:cubicBezTo>
                <a:cubicBezTo>
                  <a:pt x="3869929" y="6968801"/>
                  <a:pt x="3869929" y="6968206"/>
                  <a:pt x="3869929" y="6967626"/>
                </a:cubicBezTo>
                <a:lnTo>
                  <a:pt x="3869929" y="4838375"/>
                </a:lnTo>
                <a:cubicBezTo>
                  <a:pt x="3869929" y="4411876"/>
                  <a:pt x="3524198" y="4066145"/>
                  <a:pt x="3097697" y="4066145"/>
                </a:cubicBezTo>
                <a:lnTo>
                  <a:pt x="772230" y="4066145"/>
                </a:lnTo>
                <a:cubicBezTo>
                  <a:pt x="345740" y="4066145"/>
                  <a:pt x="0" y="3720413"/>
                  <a:pt x="0" y="3293914"/>
                </a:cubicBezTo>
                <a:cubicBezTo>
                  <a:pt x="0" y="3293616"/>
                  <a:pt x="0" y="3293335"/>
                  <a:pt x="0" y="3293037"/>
                </a:cubicBezTo>
                <a:lnTo>
                  <a:pt x="0" y="817511"/>
                </a:lnTo>
                <a:cubicBezTo>
                  <a:pt x="1349" y="366572"/>
                  <a:pt x="366572" y="1349"/>
                  <a:pt x="817511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F7D7A2-DE3A-5637-8B52-AED9B97F2D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236745"/>
            <a:ext cx="8515484" cy="8515484"/>
          </a:xfrm>
          <a:custGeom>
            <a:avLst/>
            <a:gdLst>
              <a:gd name="connsiteX0" fmla="*/ 4641283 w 7741612"/>
              <a:gd name="connsiteY0" fmla="*/ 0 h 7741612"/>
              <a:gd name="connsiteX1" fmla="*/ 4643039 w 7741612"/>
              <a:gd name="connsiteY1" fmla="*/ 0 h 7741612"/>
              <a:gd name="connsiteX2" fmla="*/ 6924102 w 7741612"/>
              <a:gd name="connsiteY2" fmla="*/ 0 h 7741612"/>
              <a:gd name="connsiteX3" fmla="*/ 7741612 w 7741612"/>
              <a:gd name="connsiteY3" fmla="*/ 817511 h 7741612"/>
              <a:gd name="connsiteX4" fmla="*/ 7741612 w 7741612"/>
              <a:gd name="connsiteY4" fmla="*/ 3296196 h 7741612"/>
              <a:gd name="connsiteX5" fmla="*/ 6970261 w 7741612"/>
              <a:gd name="connsiteY5" fmla="*/ 4069303 h 7741612"/>
              <a:gd name="connsiteX6" fmla="*/ 6968506 w 7741612"/>
              <a:gd name="connsiteY6" fmla="*/ 4069303 h 7741612"/>
              <a:gd name="connsiteX7" fmla="*/ 4643916 w 7741612"/>
              <a:gd name="connsiteY7" fmla="*/ 4069303 h 7741612"/>
              <a:gd name="connsiteX8" fmla="*/ 3870808 w 7741612"/>
              <a:gd name="connsiteY8" fmla="*/ 4840657 h 7741612"/>
              <a:gd name="connsiteX9" fmla="*/ 3870808 w 7741612"/>
              <a:gd name="connsiteY9" fmla="*/ 4841534 h 7741612"/>
              <a:gd name="connsiteX10" fmla="*/ 3870808 w 7741612"/>
              <a:gd name="connsiteY10" fmla="*/ 6968503 h 7741612"/>
              <a:gd name="connsiteX11" fmla="*/ 3099455 w 7741612"/>
              <a:gd name="connsiteY11" fmla="*/ 7741612 h 7741612"/>
              <a:gd name="connsiteX12" fmla="*/ 3098576 w 7741612"/>
              <a:gd name="connsiteY12" fmla="*/ 7741612 h 7741612"/>
              <a:gd name="connsiteX13" fmla="*/ 817513 w 7741612"/>
              <a:gd name="connsiteY13" fmla="*/ 7741612 h 7741612"/>
              <a:gd name="connsiteX14" fmla="*/ 1 w 7741612"/>
              <a:gd name="connsiteY14" fmla="*/ 6923924 h 7741612"/>
              <a:gd name="connsiteX15" fmla="*/ 1 w 7741612"/>
              <a:gd name="connsiteY15" fmla="*/ 4449276 h 7741612"/>
              <a:gd name="connsiteX16" fmla="*/ 771355 w 7741612"/>
              <a:gd name="connsiteY16" fmla="*/ 3676168 h 7741612"/>
              <a:gd name="connsiteX17" fmla="*/ 772232 w 7741612"/>
              <a:gd name="connsiteY17" fmla="*/ 3676168 h 7741612"/>
              <a:gd name="connsiteX18" fmla="*/ 3097699 w 7741612"/>
              <a:gd name="connsiteY18" fmla="*/ 3676168 h 7741612"/>
              <a:gd name="connsiteX19" fmla="*/ 3869929 w 7741612"/>
              <a:gd name="connsiteY19" fmla="*/ 2903938 h 7741612"/>
              <a:gd name="connsiteX20" fmla="*/ 3869929 w 7741612"/>
              <a:gd name="connsiteY20" fmla="*/ 773108 h 7741612"/>
              <a:gd name="connsiteX21" fmla="*/ 4641283 w 7741612"/>
              <a:gd name="connsiteY21" fmla="*/ 0 h 7741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741612" h="7741612">
                <a:moveTo>
                  <a:pt x="4641283" y="0"/>
                </a:moveTo>
                <a:cubicBezTo>
                  <a:pt x="4641862" y="0"/>
                  <a:pt x="4642458" y="0"/>
                  <a:pt x="4643039" y="0"/>
                </a:cubicBezTo>
                <a:lnTo>
                  <a:pt x="6924102" y="0"/>
                </a:lnTo>
                <a:cubicBezTo>
                  <a:pt x="7375049" y="1351"/>
                  <a:pt x="7740262" y="366564"/>
                  <a:pt x="7741612" y="817511"/>
                </a:cubicBezTo>
                <a:lnTo>
                  <a:pt x="7741612" y="3296196"/>
                </a:lnTo>
                <a:cubicBezTo>
                  <a:pt x="7742104" y="3722695"/>
                  <a:pt x="7396759" y="4068813"/>
                  <a:pt x="6970261" y="4069303"/>
                </a:cubicBezTo>
                <a:cubicBezTo>
                  <a:pt x="6969681" y="4069303"/>
                  <a:pt x="6969085" y="4069303"/>
                  <a:pt x="6968506" y="4069303"/>
                </a:cubicBezTo>
                <a:lnTo>
                  <a:pt x="4643916" y="4069303"/>
                </a:lnTo>
                <a:cubicBezTo>
                  <a:pt x="4217417" y="4068813"/>
                  <a:pt x="3871298" y="4414158"/>
                  <a:pt x="3870808" y="4840657"/>
                </a:cubicBezTo>
                <a:cubicBezTo>
                  <a:pt x="3870808" y="4840956"/>
                  <a:pt x="3870808" y="4841236"/>
                  <a:pt x="3870808" y="4841534"/>
                </a:cubicBezTo>
                <a:lnTo>
                  <a:pt x="3870808" y="6968503"/>
                </a:lnTo>
                <a:cubicBezTo>
                  <a:pt x="3871298" y="7395003"/>
                  <a:pt x="3525954" y="7741120"/>
                  <a:pt x="3099455" y="7741612"/>
                </a:cubicBezTo>
                <a:cubicBezTo>
                  <a:pt x="3099156" y="7741612"/>
                  <a:pt x="3098875" y="7741612"/>
                  <a:pt x="3098576" y="7741612"/>
                </a:cubicBezTo>
                <a:lnTo>
                  <a:pt x="817513" y="7741612"/>
                </a:lnTo>
                <a:cubicBezTo>
                  <a:pt x="366506" y="7740260"/>
                  <a:pt x="1254" y="7374925"/>
                  <a:pt x="1" y="6923924"/>
                </a:cubicBezTo>
                <a:lnTo>
                  <a:pt x="1" y="4449276"/>
                </a:lnTo>
                <a:cubicBezTo>
                  <a:pt x="-483" y="4022776"/>
                  <a:pt x="344864" y="3676660"/>
                  <a:pt x="771355" y="3676168"/>
                </a:cubicBezTo>
                <a:cubicBezTo>
                  <a:pt x="771653" y="3676168"/>
                  <a:pt x="771933" y="3676168"/>
                  <a:pt x="772232" y="3676168"/>
                </a:cubicBezTo>
                <a:lnTo>
                  <a:pt x="3097699" y="3676168"/>
                </a:lnTo>
                <a:cubicBezTo>
                  <a:pt x="3524199" y="3676168"/>
                  <a:pt x="3869929" y="3330437"/>
                  <a:pt x="3869929" y="2903938"/>
                </a:cubicBezTo>
                <a:lnTo>
                  <a:pt x="3869929" y="773108"/>
                </a:lnTo>
                <a:cubicBezTo>
                  <a:pt x="3869439" y="346626"/>
                  <a:pt x="4214783" y="491"/>
                  <a:pt x="464128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898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39DBF4-882F-B558-4BDB-F571DCBF73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364" y="-2835169"/>
            <a:ext cx="8506214" cy="8621837"/>
          </a:xfrm>
          <a:custGeom>
            <a:avLst/>
            <a:gdLst>
              <a:gd name="connsiteX0" fmla="*/ 4954446 w 8506214"/>
              <a:gd name="connsiteY0" fmla="*/ 3932133 h 8621837"/>
              <a:gd name="connsiteX1" fmla="*/ 7795843 w 8506214"/>
              <a:gd name="connsiteY1" fmla="*/ 3932133 h 8621837"/>
              <a:gd name="connsiteX2" fmla="*/ 8506214 w 8506214"/>
              <a:gd name="connsiteY2" fmla="*/ 4642504 h 8621837"/>
              <a:gd name="connsiteX3" fmla="*/ 8506214 w 8506214"/>
              <a:gd name="connsiteY3" fmla="*/ 7911466 h 8621837"/>
              <a:gd name="connsiteX4" fmla="*/ 7795843 w 8506214"/>
              <a:gd name="connsiteY4" fmla="*/ 8621837 h 8621837"/>
              <a:gd name="connsiteX5" fmla="*/ 4954446 w 8506214"/>
              <a:gd name="connsiteY5" fmla="*/ 8621837 h 8621837"/>
              <a:gd name="connsiteX6" fmla="*/ 4244075 w 8506214"/>
              <a:gd name="connsiteY6" fmla="*/ 7911466 h 8621837"/>
              <a:gd name="connsiteX7" fmla="*/ 4244075 w 8506214"/>
              <a:gd name="connsiteY7" fmla="*/ 4642504 h 8621837"/>
              <a:gd name="connsiteX8" fmla="*/ 4954446 w 8506214"/>
              <a:gd name="connsiteY8" fmla="*/ 3932133 h 8621837"/>
              <a:gd name="connsiteX9" fmla="*/ 567498 w 8506214"/>
              <a:gd name="connsiteY9" fmla="*/ 0 h 8621837"/>
              <a:gd name="connsiteX10" fmla="*/ 2837417 w 8506214"/>
              <a:gd name="connsiteY10" fmla="*/ 0 h 8621837"/>
              <a:gd name="connsiteX11" fmla="*/ 3404914 w 8506214"/>
              <a:gd name="connsiteY11" fmla="*/ 567497 h 8621837"/>
              <a:gd name="connsiteX12" fmla="*/ 3404914 w 8506214"/>
              <a:gd name="connsiteY12" fmla="*/ 4122207 h 8621837"/>
              <a:gd name="connsiteX13" fmla="*/ 2837417 w 8506214"/>
              <a:gd name="connsiteY13" fmla="*/ 4689704 h 8621837"/>
              <a:gd name="connsiteX14" fmla="*/ 567498 w 8506214"/>
              <a:gd name="connsiteY14" fmla="*/ 4689704 h 8621837"/>
              <a:gd name="connsiteX15" fmla="*/ 0 w 8506214"/>
              <a:gd name="connsiteY15" fmla="*/ 4122207 h 8621837"/>
              <a:gd name="connsiteX16" fmla="*/ 0 w 8506214"/>
              <a:gd name="connsiteY16" fmla="*/ 567497 h 8621837"/>
              <a:gd name="connsiteX17" fmla="*/ 567498 w 8506214"/>
              <a:gd name="connsiteY17" fmla="*/ 0 h 862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621837">
                <a:moveTo>
                  <a:pt x="4954446" y="3932133"/>
                </a:moveTo>
                <a:lnTo>
                  <a:pt x="7795843" y="3932133"/>
                </a:lnTo>
                <a:cubicBezTo>
                  <a:pt x="8188170" y="3932133"/>
                  <a:pt x="8506214" y="4250177"/>
                  <a:pt x="8506214" y="4642504"/>
                </a:cubicBezTo>
                <a:lnTo>
                  <a:pt x="8506214" y="7911466"/>
                </a:lnTo>
                <a:cubicBezTo>
                  <a:pt x="8506214" y="8303793"/>
                  <a:pt x="8188170" y="8621837"/>
                  <a:pt x="7795843" y="8621837"/>
                </a:cubicBezTo>
                <a:lnTo>
                  <a:pt x="4954446" y="8621837"/>
                </a:lnTo>
                <a:cubicBezTo>
                  <a:pt x="4562119" y="8621837"/>
                  <a:pt x="4244075" y="8303793"/>
                  <a:pt x="4244075" y="7911466"/>
                </a:cubicBezTo>
                <a:lnTo>
                  <a:pt x="4244075" y="4642504"/>
                </a:lnTo>
                <a:cubicBezTo>
                  <a:pt x="4244075" y="4250177"/>
                  <a:pt x="4562119" y="3932133"/>
                  <a:pt x="4954446" y="3932133"/>
                </a:cubicBezTo>
                <a:close/>
                <a:moveTo>
                  <a:pt x="567498" y="0"/>
                </a:moveTo>
                <a:lnTo>
                  <a:pt x="2837417" y="0"/>
                </a:lnTo>
                <a:cubicBezTo>
                  <a:pt x="3150837" y="0"/>
                  <a:pt x="3404914" y="254077"/>
                  <a:pt x="3404914" y="567497"/>
                </a:cubicBezTo>
                <a:lnTo>
                  <a:pt x="3404914" y="4122207"/>
                </a:lnTo>
                <a:cubicBezTo>
                  <a:pt x="3404914" y="4435627"/>
                  <a:pt x="3150837" y="4689704"/>
                  <a:pt x="2837417" y="4689704"/>
                </a:cubicBezTo>
                <a:lnTo>
                  <a:pt x="567498" y="4689704"/>
                </a:lnTo>
                <a:cubicBezTo>
                  <a:pt x="254077" y="4689704"/>
                  <a:pt x="0" y="4435627"/>
                  <a:pt x="0" y="4122207"/>
                </a:cubicBezTo>
                <a:lnTo>
                  <a:pt x="0" y="567497"/>
                </a:lnTo>
                <a:cubicBezTo>
                  <a:pt x="0" y="254077"/>
                  <a:pt x="254077" y="0"/>
                  <a:pt x="5674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DF09FE-D7DC-F30A-99D0-849763EBB3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4364" y="6076340"/>
            <a:ext cx="8506214" cy="8887550"/>
          </a:xfrm>
          <a:custGeom>
            <a:avLst/>
            <a:gdLst>
              <a:gd name="connsiteX0" fmla="*/ 567498 w 8506214"/>
              <a:gd name="connsiteY0" fmla="*/ 4197846 h 8887550"/>
              <a:gd name="connsiteX1" fmla="*/ 2837417 w 8506214"/>
              <a:gd name="connsiteY1" fmla="*/ 4197846 h 8887550"/>
              <a:gd name="connsiteX2" fmla="*/ 3404914 w 8506214"/>
              <a:gd name="connsiteY2" fmla="*/ 4765343 h 8887550"/>
              <a:gd name="connsiteX3" fmla="*/ 3404914 w 8506214"/>
              <a:gd name="connsiteY3" fmla="*/ 8320053 h 8887550"/>
              <a:gd name="connsiteX4" fmla="*/ 2837417 w 8506214"/>
              <a:gd name="connsiteY4" fmla="*/ 8887550 h 8887550"/>
              <a:gd name="connsiteX5" fmla="*/ 567498 w 8506214"/>
              <a:gd name="connsiteY5" fmla="*/ 8887550 h 8887550"/>
              <a:gd name="connsiteX6" fmla="*/ 0 w 8506214"/>
              <a:gd name="connsiteY6" fmla="*/ 8320053 h 8887550"/>
              <a:gd name="connsiteX7" fmla="*/ 0 w 8506214"/>
              <a:gd name="connsiteY7" fmla="*/ 4765343 h 8887550"/>
              <a:gd name="connsiteX8" fmla="*/ 567498 w 8506214"/>
              <a:gd name="connsiteY8" fmla="*/ 4197846 h 8887550"/>
              <a:gd name="connsiteX9" fmla="*/ 4954446 w 8506214"/>
              <a:gd name="connsiteY9" fmla="*/ 0 h 8887550"/>
              <a:gd name="connsiteX10" fmla="*/ 7795843 w 8506214"/>
              <a:gd name="connsiteY10" fmla="*/ 0 h 8887550"/>
              <a:gd name="connsiteX11" fmla="*/ 8506214 w 8506214"/>
              <a:gd name="connsiteY11" fmla="*/ 710370 h 8887550"/>
              <a:gd name="connsiteX12" fmla="*/ 8506214 w 8506214"/>
              <a:gd name="connsiteY12" fmla="*/ 3979332 h 8887550"/>
              <a:gd name="connsiteX13" fmla="*/ 7795843 w 8506214"/>
              <a:gd name="connsiteY13" fmla="*/ 4689703 h 8887550"/>
              <a:gd name="connsiteX14" fmla="*/ 4954446 w 8506214"/>
              <a:gd name="connsiteY14" fmla="*/ 4689703 h 8887550"/>
              <a:gd name="connsiteX15" fmla="*/ 4244075 w 8506214"/>
              <a:gd name="connsiteY15" fmla="*/ 3979332 h 8887550"/>
              <a:gd name="connsiteX16" fmla="*/ 4244075 w 8506214"/>
              <a:gd name="connsiteY16" fmla="*/ 710370 h 8887550"/>
              <a:gd name="connsiteX17" fmla="*/ 4954446 w 8506214"/>
              <a:gd name="connsiteY17" fmla="*/ 0 h 88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506214" h="8887550">
                <a:moveTo>
                  <a:pt x="567498" y="4197846"/>
                </a:moveTo>
                <a:lnTo>
                  <a:pt x="2837417" y="4197846"/>
                </a:lnTo>
                <a:cubicBezTo>
                  <a:pt x="3150837" y="4197846"/>
                  <a:pt x="3404914" y="4451923"/>
                  <a:pt x="3404914" y="4765343"/>
                </a:cubicBezTo>
                <a:lnTo>
                  <a:pt x="3404914" y="8320053"/>
                </a:lnTo>
                <a:cubicBezTo>
                  <a:pt x="3404914" y="8633473"/>
                  <a:pt x="3150837" y="8887550"/>
                  <a:pt x="2837417" y="8887550"/>
                </a:cubicBezTo>
                <a:lnTo>
                  <a:pt x="567498" y="8887550"/>
                </a:lnTo>
                <a:cubicBezTo>
                  <a:pt x="254077" y="8887550"/>
                  <a:pt x="0" y="8633473"/>
                  <a:pt x="0" y="8320053"/>
                </a:cubicBezTo>
                <a:lnTo>
                  <a:pt x="0" y="4765343"/>
                </a:lnTo>
                <a:cubicBezTo>
                  <a:pt x="0" y="4451923"/>
                  <a:pt x="254077" y="4197846"/>
                  <a:pt x="567498" y="4197846"/>
                </a:cubicBezTo>
                <a:close/>
                <a:moveTo>
                  <a:pt x="4954446" y="0"/>
                </a:moveTo>
                <a:lnTo>
                  <a:pt x="7795843" y="0"/>
                </a:lnTo>
                <a:cubicBezTo>
                  <a:pt x="8188170" y="0"/>
                  <a:pt x="8506214" y="318043"/>
                  <a:pt x="8506214" y="710370"/>
                </a:cubicBezTo>
                <a:lnTo>
                  <a:pt x="8506214" y="3979332"/>
                </a:lnTo>
                <a:cubicBezTo>
                  <a:pt x="8506214" y="4371659"/>
                  <a:pt x="8188170" y="4689703"/>
                  <a:pt x="7795843" y="4689703"/>
                </a:cubicBezTo>
                <a:lnTo>
                  <a:pt x="4954446" y="4689703"/>
                </a:lnTo>
                <a:cubicBezTo>
                  <a:pt x="4562119" y="4689703"/>
                  <a:pt x="4244075" y="4371659"/>
                  <a:pt x="4244075" y="3979332"/>
                </a:cubicBezTo>
                <a:lnTo>
                  <a:pt x="4244075" y="710370"/>
                </a:lnTo>
                <a:cubicBezTo>
                  <a:pt x="4244075" y="318043"/>
                  <a:pt x="4562119" y="0"/>
                  <a:pt x="495444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DAF7CE1-4007-D4D1-794C-54AC12C9CDFD}"/>
              </a:ext>
            </a:extLst>
          </p:cNvPr>
          <p:cNvSpPr/>
          <p:nvPr userDrawn="1"/>
        </p:nvSpPr>
        <p:spPr>
          <a:xfrm rot="10800000" flipH="1">
            <a:off x="12319227" y="1329427"/>
            <a:ext cx="12063186" cy="12386573"/>
          </a:xfrm>
          <a:custGeom>
            <a:avLst/>
            <a:gdLst>
              <a:gd name="connsiteX0" fmla="*/ 3607679 w 11782880"/>
              <a:gd name="connsiteY0" fmla="*/ 0 h 12098753"/>
              <a:gd name="connsiteX1" fmla="*/ 11782880 w 11782880"/>
              <a:gd name="connsiteY1" fmla="*/ 8175202 h 12098753"/>
              <a:gd name="connsiteX2" fmla="*/ 10796177 w 11782880"/>
              <a:gd name="connsiteY2" fmla="*/ 12071989 h 12098753"/>
              <a:gd name="connsiteX3" fmla="*/ 10780788 w 11782880"/>
              <a:gd name="connsiteY3" fmla="*/ 12098753 h 12098753"/>
              <a:gd name="connsiteX4" fmla="*/ 8952423 w 11782880"/>
              <a:gd name="connsiteY4" fmla="*/ 12098753 h 12098753"/>
              <a:gd name="connsiteX5" fmla="*/ 9106129 w 11782880"/>
              <a:gd name="connsiteY5" fmla="*/ 11882605 h 12098753"/>
              <a:gd name="connsiteX6" fmla="*/ 10238584 w 11782880"/>
              <a:gd name="connsiteY6" fmla="*/ 8175202 h 12098753"/>
              <a:gd name="connsiteX7" fmla="*/ 3607679 w 11782880"/>
              <a:gd name="connsiteY7" fmla="*/ 1544296 h 12098753"/>
              <a:gd name="connsiteX8" fmla="*/ 169312 w 11782880"/>
              <a:gd name="connsiteY8" fmla="*/ 2504275 h 12098753"/>
              <a:gd name="connsiteX9" fmla="*/ 0 w 11782880"/>
              <a:gd name="connsiteY9" fmla="*/ 2612819 h 12098753"/>
              <a:gd name="connsiteX10" fmla="*/ 0 w 11782880"/>
              <a:gd name="connsiteY10" fmla="*/ 838631 h 12098753"/>
              <a:gd name="connsiteX11" fmla="*/ 63390 w 11782880"/>
              <a:gd name="connsiteY11" fmla="*/ 806164 h 12098753"/>
              <a:gd name="connsiteX12" fmla="*/ 3607679 w 11782880"/>
              <a:gd name="connsiteY12" fmla="*/ 0 h 1209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82880" h="12098753">
                <a:moveTo>
                  <a:pt x="3607679" y="0"/>
                </a:moveTo>
                <a:cubicBezTo>
                  <a:pt x="8122717" y="0"/>
                  <a:pt x="11782880" y="3660163"/>
                  <a:pt x="11782880" y="8175202"/>
                </a:cubicBezTo>
                <a:cubicBezTo>
                  <a:pt x="11782880" y="9586152"/>
                  <a:pt x="11425442" y="10913618"/>
                  <a:pt x="10796177" y="12071989"/>
                </a:cubicBezTo>
                <a:lnTo>
                  <a:pt x="10780788" y="12098753"/>
                </a:lnTo>
                <a:lnTo>
                  <a:pt x="8952423" y="12098753"/>
                </a:lnTo>
                <a:lnTo>
                  <a:pt x="9106129" y="11882605"/>
                </a:lnTo>
                <a:cubicBezTo>
                  <a:pt x="9821102" y="10824305"/>
                  <a:pt x="10238584" y="9548508"/>
                  <a:pt x="10238584" y="8175202"/>
                </a:cubicBezTo>
                <a:cubicBezTo>
                  <a:pt x="10238584" y="4513054"/>
                  <a:pt x="7269826" y="1544296"/>
                  <a:pt x="3607679" y="1544296"/>
                </a:cubicBezTo>
                <a:cubicBezTo>
                  <a:pt x="2348815" y="1544296"/>
                  <a:pt x="1171885" y="1895097"/>
                  <a:pt x="169312" y="2504275"/>
                </a:cubicBezTo>
                <a:lnTo>
                  <a:pt x="0" y="2612819"/>
                </a:lnTo>
                <a:lnTo>
                  <a:pt x="0" y="838631"/>
                </a:lnTo>
                <a:lnTo>
                  <a:pt x="63390" y="806164"/>
                </a:lnTo>
                <a:cubicBezTo>
                  <a:pt x="1135591" y="289525"/>
                  <a:pt x="2337824" y="0"/>
                  <a:pt x="3607679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8236FB">
                  <a:alpha val="88000"/>
                </a:srgbClr>
              </a:gs>
              <a:gs pos="52000">
                <a:srgbClr val="000000">
                  <a:alpha val="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7097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250702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6010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3409F7E-2777-B681-D027-E0298C09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6836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629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6E472F9-B0EE-D1E1-277D-9FE2E4780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8131711" cy="137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275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18C360-6B4D-539B-C58D-59B54E4A94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2412" cy="9594304"/>
          </a:xfrm>
          <a:custGeom>
            <a:avLst/>
            <a:gdLst>
              <a:gd name="connsiteX0" fmla="*/ 0 w 24382412"/>
              <a:gd name="connsiteY0" fmla="*/ 0 h 9810328"/>
              <a:gd name="connsiteX1" fmla="*/ 24382412 w 24382412"/>
              <a:gd name="connsiteY1" fmla="*/ 0 h 9810328"/>
              <a:gd name="connsiteX2" fmla="*/ 24382412 w 24382412"/>
              <a:gd name="connsiteY2" fmla="*/ 9133267 h 9810328"/>
              <a:gd name="connsiteX3" fmla="*/ 23705352 w 24382412"/>
              <a:gd name="connsiteY3" fmla="*/ 9810328 h 9810328"/>
              <a:gd name="connsiteX4" fmla="*/ 677061 w 24382412"/>
              <a:gd name="connsiteY4" fmla="*/ 9810328 h 9810328"/>
              <a:gd name="connsiteX5" fmla="*/ 0 w 24382412"/>
              <a:gd name="connsiteY5" fmla="*/ 9133267 h 9810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82412" h="9810328">
                <a:moveTo>
                  <a:pt x="0" y="0"/>
                </a:moveTo>
                <a:lnTo>
                  <a:pt x="24382412" y="0"/>
                </a:lnTo>
                <a:lnTo>
                  <a:pt x="24382412" y="9133267"/>
                </a:lnTo>
                <a:cubicBezTo>
                  <a:pt x="24382412" y="9507197"/>
                  <a:pt x="24079282" y="9810328"/>
                  <a:pt x="23705352" y="9810328"/>
                </a:cubicBezTo>
                <a:lnTo>
                  <a:pt x="677061" y="9810328"/>
                </a:lnTo>
                <a:cubicBezTo>
                  <a:pt x="303131" y="9810328"/>
                  <a:pt x="0" y="9507197"/>
                  <a:pt x="0" y="9133267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475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0D9AD6A-F43A-CEEE-7F73-01280B03F5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583692" y="1096962"/>
            <a:ext cx="6768431" cy="11522075"/>
          </a:xfrm>
          <a:custGeom>
            <a:avLst/>
            <a:gdLst>
              <a:gd name="connsiteX0" fmla="*/ 735426 w 7632846"/>
              <a:gd name="connsiteY0" fmla="*/ 0 h 13033447"/>
              <a:gd name="connsiteX1" fmla="*/ 6897422 w 7632846"/>
              <a:gd name="connsiteY1" fmla="*/ 0 h 13033447"/>
              <a:gd name="connsiteX2" fmla="*/ 7632846 w 7632846"/>
              <a:gd name="connsiteY2" fmla="*/ 735425 h 13033447"/>
              <a:gd name="connsiteX3" fmla="*/ 7632846 w 7632846"/>
              <a:gd name="connsiteY3" fmla="*/ 12298022 h 13033447"/>
              <a:gd name="connsiteX4" fmla="*/ 6897422 w 7632846"/>
              <a:gd name="connsiteY4" fmla="*/ 13033447 h 13033447"/>
              <a:gd name="connsiteX5" fmla="*/ 735426 w 7632846"/>
              <a:gd name="connsiteY5" fmla="*/ 13033447 h 13033447"/>
              <a:gd name="connsiteX6" fmla="*/ 0 w 7632846"/>
              <a:gd name="connsiteY6" fmla="*/ 12298022 h 13033447"/>
              <a:gd name="connsiteX7" fmla="*/ 0 w 7632846"/>
              <a:gd name="connsiteY7" fmla="*/ 735425 h 13033447"/>
              <a:gd name="connsiteX8" fmla="*/ 735426 w 7632846"/>
              <a:gd name="connsiteY8" fmla="*/ 0 h 13033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32846" h="13033447">
                <a:moveTo>
                  <a:pt x="735426" y="0"/>
                </a:moveTo>
                <a:lnTo>
                  <a:pt x="6897422" y="0"/>
                </a:lnTo>
                <a:cubicBezTo>
                  <a:pt x="7303586" y="0"/>
                  <a:pt x="7632846" y="329261"/>
                  <a:pt x="7632846" y="735425"/>
                </a:cubicBezTo>
                <a:lnTo>
                  <a:pt x="7632846" y="12298022"/>
                </a:lnTo>
                <a:cubicBezTo>
                  <a:pt x="7632846" y="12704186"/>
                  <a:pt x="7303586" y="13033447"/>
                  <a:pt x="6897422" y="13033447"/>
                </a:cubicBezTo>
                <a:lnTo>
                  <a:pt x="735426" y="13033447"/>
                </a:lnTo>
                <a:cubicBezTo>
                  <a:pt x="329261" y="13033447"/>
                  <a:pt x="0" y="12704186"/>
                  <a:pt x="0" y="12298022"/>
                </a:cubicBezTo>
                <a:lnTo>
                  <a:pt x="0" y="735425"/>
                </a:lnTo>
                <a:cubicBezTo>
                  <a:pt x="0" y="329261"/>
                  <a:pt x="329261" y="0"/>
                  <a:pt x="73542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120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F20594-36CC-AFD0-AC7D-4D77815B04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924188 w 22321836"/>
              <a:gd name="connsiteY0" fmla="*/ 0 h 5545013"/>
              <a:gd name="connsiteX1" fmla="*/ 21397650 w 22321836"/>
              <a:gd name="connsiteY1" fmla="*/ 0 h 5545013"/>
              <a:gd name="connsiteX2" fmla="*/ 22321836 w 22321836"/>
              <a:gd name="connsiteY2" fmla="*/ 924187 h 5545013"/>
              <a:gd name="connsiteX3" fmla="*/ 22321836 w 22321836"/>
              <a:gd name="connsiteY3" fmla="*/ 4620826 h 5545013"/>
              <a:gd name="connsiteX4" fmla="*/ 21397650 w 22321836"/>
              <a:gd name="connsiteY4" fmla="*/ 5545013 h 5545013"/>
              <a:gd name="connsiteX5" fmla="*/ 924188 w 22321836"/>
              <a:gd name="connsiteY5" fmla="*/ 5545013 h 5545013"/>
              <a:gd name="connsiteX6" fmla="*/ 0 w 22321836"/>
              <a:gd name="connsiteY6" fmla="*/ 4620826 h 5545013"/>
              <a:gd name="connsiteX7" fmla="*/ 0 w 22321836"/>
              <a:gd name="connsiteY7" fmla="*/ 924187 h 5545013"/>
              <a:gd name="connsiteX8" fmla="*/ 924188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924188" y="0"/>
                </a:moveTo>
                <a:lnTo>
                  <a:pt x="21397650" y="0"/>
                </a:lnTo>
                <a:cubicBezTo>
                  <a:pt x="21908064" y="0"/>
                  <a:pt x="22321836" y="413773"/>
                  <a:pt x="22321836" y="924187"/>
                </a:cubicBezTo>
                <a:lnTo>
                  <a:pt x="22321836" y="4620826"/>
                </a:lnTo>
                <a:cubicBezTo>
                  <a:pt x="22321836" y="5131240"/>
                  <a:pt x="21908064" y="5545013"/>
                  <a:pt x="21397650" y="5545013"/>
                </a:cubicBezTo>
                <a:lnTo>
                  <a:pt x="924188" y="5545013"/>
                </a:lnTo>
                <a:cubicBezTo>
                  <a:pt x="413773" y="5545013"/>
                  <a:pt x="0" y="5131240"/>
                  <a:pt x="0" y="4620826"/>
                </a:cubicBezTo>
                <a:lnTo>
                  <a:pt x="0" y="924187"/>
                </a:lnTo>
                <a:cubicBezTo>
                  <a:pt x="0" y="413773"/>
                  <a:pt x="413773" y="0"/>
                  <a:pt x="92418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A4A109-6AC4-E464-82B8-313F9E903E97}"/>
              </a:ext>
            </a:extLst>
          </p:cNvPr>
          <p:cNvSpPr/>
          <p:nvPr/>
        </p:nvSpPr>
        <p:spPr>
          <a:xfrm>
            <a:off x="1030289" y="7074024"/>
            <a:ext cx="10981058" cy="5545013"/>
          </a:xfrm>
          <a:prstGeom prst="roundRect">
            <a:avLst/>
          </a:prstGeom>
          <a:gradFill flip="none" rotWithShape="1"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AC487D-8779-8728-3239-4CEA4ED568B5}"/>
              </a:ext>
            </a:extLst>
          </p:cNvPr>
          <p:cNvGrpSpPr/>
          <p:nvPr userDrawn="1"/>
        </p:nvGrpSpPr>
        <p:grpSpPr>
          <a:xfrm>
            <a:off x="12371066" y="7074024"/>
            <a:ext cx="10981058" cy="5545013"/>
            <a:chOff x="12244650" y="7074024"/>
            <a:chExt cx="11107474" cy="55450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F96C184-2C6C-42A6-6292-8CC052874E63}"/>
                </a:ext>
              </a:extLst>
            </p:cNvPr>
            <p:cNvSpPr/>
            <p:nvPr/>
          </p:nvSpPr>
          <p:spPr>
            <a:xfrm>
              <a:off x="12244650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57C8CD-0681-9672-E0E1-B67BC1F2701D}"/>
                </a:ext>
              </a:extLst>
            </p:cNvPr>
            <p:cNvSpPr/>
            <p:nvPr userDrawn="1"/>
          </p:nvSpPr>
          <p:spPr>
            <a:xfrm>
              <a:off x="17915039" y="7074024"/>
              <a:ext cx="5437085" cy="5545013"/>
            </a:xfrm>
            <a:prstGeom prst="roundRect">
              <a:avLst/>
            </a:prstGeom>
            <a:solidFill>
              <a:schemeClr val="bg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536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B20FB71-A726-BCCB-5C42-7F0876A880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9654" y="1102597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7240952-7CD1-42B3-3242-DBD4014C5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269016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0E095B-406A-97E0-1DC6-9213FB7F5DFE}"/>
              </a:ext>
            </a:extLst>
          </p:cNvPr>
          <p:cNvSpPr/>
          <p:nvPr userDrawn="1"/>
        </p:nvSpPr>
        <p:spPr>
          <a:xfrm>
            <a:off x="1030288" y="1102596"/>
            <a:ext cx="5463745" cy="5690685"/>
          </a:xfrm>
          <a:prstGeom prst="roundRect">
            <a:avLst/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93BBA3E-AA09-F598-F022-3ADFDBE1E2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888380" y="1102597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B6DC4C3-9BA9-03F0-4FFC-EB1E1D0C75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8" y="6928354"/>
            <a:ext cx="5463746" cy="5690685"/>
          </a:xfrm>
          <a:custGeom>
            <a:avLst/>
            <a:gdLst>
              <a:gd name="connsiteX0" fmla="*/ 910642 w 5463746"/>
              <a:gd name="connsiteY0" fmla="*/ 0 h 5690685"/>
              <a:gd name="connsiteX1" fmla="*/ 4553104 w 5463746"/>
              <a:gd name="connsiteY1" fmla="*/ 0 h 5690685"/>
              <a:gd name="connsiteX2" fmla="*/ 5463746 w 5463746"/>
              <a:gd name="connsiteY2" fmla="*/ 910642 h 5690685"/>
              <a:gd name="connsiteX3" fmla="*/ 5463746 w 5463746"/>
              <a:gd name="connsiteY3" fmla="*/ 4780043 h 5690685"/>
              <a:gd name="connsiteX4" fmla="*/ 4553104 w 5463746"/>
              <a:gd name="connsiteY4" fmla="*/ 5690685 h 5690685"/>
              <a:gd name="connsiteX5" fmla="*/ 910642 w 5463746"/>
              <a:gd name="connsiteY5" fmla="*/ 5690685 h 5690685"/>
              <a:gd name="connsiteX6" fmla="*/ 0 w 5463746"/>
              <a:gd name="connsiteY6" fmla="*/ 4780043 h 5690685"/>
              <a:gd name="connsiteX7" fmla="*/ 0 w 5463746"/>
              <a:gd name="connsiteY7" fmla="*/ 910642 h 5690685"/>
              <a:gd name="connsiteX8" fmla="*/ 910642 w 5463746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6" h="5690685">
                <a:moveTo>
                  <a:pt x="910642" y="0"/>
                </a:moveTo>
                <a:lnTo>
                  <a:pt x="4553104" y="0"/>
                </a:lnTo>
                <a:cubicBezTo>
                  <a:pt x="5056038" y="0"/>
                  <a:pt x="5463746" y="407708"/>
                  <a:pt x="5463746" y="910642"/>
                </a:cubicBezTo>
                <a:lnTo>
                  <a:pt x="5463746" y="4780043"/>
                </a:lnTo>
                <a:cubicBezTo>
                  <a:pt x="5463746" y="5282977"/>
                  <a:pt x="5056038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27161D3-707F-2244-5744-F35F452146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9654" y="6928354"/>
            <a:ext cx="5463745" cy="5690685"/>
          </a:xfrm>
          <a:custGeom>
            <a:avLst/>
            <a:gdLst>
              <a:gd name="connsiteX0" fmla="*/ 910642 w 5463745"/>
              <a:gd name="connsiteY0" fmla="*/ 0 h 5690685"/>
              <a:gd name="connsiteX1" fmla="*/ 4553102 w 5463745"/>
              <a:gd name="connsiteY1" fmla="*/ 0 h 5690685"/>
              <a:gd name="connsiteX2" fmla="*/ 5463745 w 5463745"/>
              <a:gd name="connsiteY2" fmla="*/ 910642 h 5690685"/>
              <a:gd name="connsiteX3" fmla="*/ 5463745 w 5463745"/>
              <a:gd name="connsiteY3" fmla="*/ 4780043 h 5690685"/>
              <a:gd name="connsiteX4" fmla="*/ 4553102 w 5463745"/>
              <a:gd name="connsiteY4" fmla="*/ 5690685 h 5690685"/>
              <a:gd name="connsiteX5" fmla="*/ 910642 w 5463745"/>
              <a:gd name="connsiteY5" fmla="*/ 5690685 h 5690685"/>
              <a:gd name="connsiteX6" fmla="*/ 0 w 5463745"/>
              <a:gd name="connsiteY6" fmla="*/ 4780043 h 5690685"/>
              <a:gd name="connsiteX7" fmla="*/ 0 w 5463745"/>
              <a:gd name="connsiteY7" fmla="*/ 910642 h 5690685"/>
              <a:gd name="connsiteX8" fmla="*/ 910642 w 5463745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5" h="5690685">
                <a:moveTo>
                  <a:pt x="910642" y="0"/>
                </a:moveTo>
                <a:lnTo>
                  <a:pt x="4553102" y="0"/>
                </a:lnTo>
                <a:cubicBezTo>
                  <a:pt x="5056036" y="0"/>
                  <a:pt x="5463745" y="407708"/>
                  <a:pt x="5463745" y="910642"/>
                </a:cubicBezTo>
                <a:lnTo>
                  <a:pt x="5463745" y="4780043"/>
                </a:lnTo>
                <a:cubicBezTo>
                  <a:pt x="5463745" y="5282977"/>
                  <a:pt x="5056036" y="5690685"/>
                  <a:pt x="4553102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F345DB0-0F88-A29A-CB4F-E4A5D2CA79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69016" y="6928354"/>
            <a:ext cx="5463744" cy="5690685"/>
          </a:xfrm>
          <a:custGeom>
            <a:avLst/>
            <a:gdLst>
              <a:gd name="connsiteX0" fmla="*/ 910642 w 5463744"/>
              <a:gd name="connsiteY0" fmla="*/ 0 h 5690685"/>
              <a:gd name="connsiteX1" fmla="*/ 4553104 w 5463744"/>
              <a:gd name="connsiteY1" fmla="*/ 0 h 5690685"/>
              <a:gd name="connsiteX2" fmla="*/ 5463744 w 5463744"/>
              <a:gd name="connsiteY2" fmla="*/ 910642 h 5690685"/>
              <a:gd name="connsiteX3" fmla="*/ 5463744 w 5463744"/>
              <a:gd name="connsiteY3" fmla="*/ 4780043 h 5690685"/>
              <a:gd name="connsiteX4" fmla="*/ 4553104 w 5463744"/>
              <a:gd name="connsiteY4" fmla="*/ 5690685 h 5690685"/>
              <a:gd name="connsiteX5" fmla="*/ 910642 w 5463744"/>
              <a:gd name="connsiteY5" fmla="*/ 5690685 h 5690685"/>
              <a:gd name="connsiteX6" fmla="*/ 0 w 5463744"/>
              <a:gd name="connsiteY6" fmla="*/ 4780043 h 5690685"/>
              <a:gd name="connsiteX7" fmla="*/ 0 w 5463744"/>
              <a:gd name="connsiteY7" fmla="*/ 910642 h 5690685"/>
              <a:gd name="connsiteX8" fmla="*/ 910642 w 5463744"/>
              <a:gd name="connsiteY8" fmla="*/ 0 h 569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63744" h="5690685">
                <a:moveTo>
                  <a:pt x="910642" y="0"/>
                </a:moveTo>
                <a:lnTo>
                  <a:pt x="4553104" y="0"/>
                </a:lnTo>
                <a:cubicBezTo>
                  <a:pt x="5056036" y="0"/>
                  <a:pt x="5463744" y="407708"/>
                  <a:pt x="5463744" y="910642"/>
                </a:cubicBezTo>
                <a:lnTo>
                  <a:pt x="5463744" y="4780043"/>
                </a:lnTo>
                <a:cubicBezTo>
                  <a:pt x="5463744" y="5282977"/>
                  <a:pt x="5056036" y="5690685"/>
                  <a:pt x="4553104" y="5690685"/>
                </a:cubicBezTo>
                <a:lnTo>
                  <a:pt x="910642" y="5690685"/>
                </a:lnTo>
                <a:cubicBezTo>
                  <a:pt x="407708" y="5690685"/>
                  <a:pt x="0" y="5282977"/>
                  <a:pt x="0" y="4780043"/>
                </a:cubicBezTo>
                <a:lnTo>
                  <a:pt x="0" y="910642"/>
                </a:lnTo>
                <a:cubicBezTo>
                  <a:pt x="0" y="407708"/>
                  <a:pt x="407708" y="0"/>
                  <a:pt x="91064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60564F-E43D-1513-CBE3-00B3B7734689}"/>
              </a:ext>
            </a:extLst>
          </p:cNvPr>
          <p:cNvSpPr/>
          <p:nvPr/>
        </p:nvSpPr>
        <p:spPr>
          <a:xfrm>
            <a:off x="17888380" y="6928353"/>
            <a:ext cx="5463745" cy="5690685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5711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4C974E3-D4E4-1068-E56E-4990CD8DD1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4985792"/>
            <a:ext cx="4971299" cy="5775612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FD2A2E-0BB8-DB10-FAE9-BCF28D7E2F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3800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EF5036-01BB-CE40-BF46-1B56E34D95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80824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98757FE-A05D-E4A8-038D-7FAA4F7D7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597312" y="4985792"/>
            <a:ext cx="4971300" cy="5775612"/>
          </a:xfrm>
          <a:custGeom>
            <a:avLst/>
            <a:gdLst>
              <a:gd name="connsiteX0" fmla="*/ 0 w 4971300"/>
              <a:gd name="connsiteY0" fmla="*/ 0 h 5775612"/>
              <a:gd name="connsiteX1" fmla="*/ 4971300 w 4971300"/>
              <a:gd name="connsiteY1" fmla="*/ 0 h 5775612"/>
              <a:gd name="connsiteX2" fmla="*/ 4971300 w 4971300"/>
              <a:gd name="connsiteY2" fmla="*/ 5775612 h 5775612"/>
              <a:gd name="connsiteX3" fmla="*/ 0 w 4971300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300" h="5775612">
                <a:moveTo>
                  <a:pt x="0" y="0"/>
                </a:moveTo>
                <a:lnTo>
                  <a:pt x="4971300" y="0"/>
                </a:lnTo>
                <a:lnTo>
                  <a:pt x="4971300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F5CD0-9F42-BF77-15EA-69BF4208F207}"/>
              </a:ext>
            </a:extLst>
          </p:cNvPr>
          <p:cNvGrpSpPr/>
          <p:nvPr userDrawn="1"/>
        </p:nvGrpSpPr>
        <p:grpSpPr>
          <a:xfrm>
            <a:off x="1030287" y="10756990"/>
            <a:ext cx="22321837" cy="1862048"/>
            <a:chOff x="1030288" y="4769768"/>
            <a:chExt cx="21984730" cy="5991636"/>
          </a:xfrm>
          <a:solidFill>
            <a:srgbClr val="000000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697D9D-E9D5-1319-BE5A-B1BE8AFB2546}"/>
                </a:ext>
              </a:extLst>
            </p:cNvPr>
            <p:cNvSpPr/>
            <p:nvPr/>
          </p:nvSpPr>
          <p:spPr>
            <a:xfrm>
              <a:off x="1030288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DC065E-509E-9A3B-4A96-63D6364E1EEF}"/>
                </a:ext>
              </a:extLst>
            </p:cNvPr>
            <p:cNvSpPr/>
            <p:nvPr/>
          </p:nvSpPr>
          <p:spPr>
            <a:xfrm>
              <a:off x="6726457" y="4769768"/>
              <a:ext cx="4896223" cy="5991636"/>
            </a:xfrm>
            <a:prstGeom prst="rect">
              <a:avLst/>
            </a:prstGeom>
            <a:solidFill>
              <a:srgbClr val="823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FD29F97-2E7C-CD3B-5A30-C66100B2A4F8}"/>
                </a:ext>
              </a:extLst>
            </p:cNvPr>
            <p:cNvSpPr/>
            <p:nvPr/>
          </p:nvSpPr>
          <p:spPr>
            <a:xfrm>
              <a:off x="12422626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255161B-5240-4CEC-D058-5BAA02D2BD18}"/>
                </a:ext>
              </a:extLst>
            </p:cNvPr>
            <p:cNvSpPr/>
            <p:nvPr/>
          </p:nvSpPr>
          <p:spPr>
            <a:xfrm>
              <a:off x="18118795" y="4769768"/>
              <a:ext cx="4896223" cy="59916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72710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63E86D0-D784-8812-7039-4819CA6208F0}"/>
              </a:ext>
            </a:extLst>
          </p:cNvPr>
          <p:cNvSpPr/>
          <p:nvPr/>
        </p:nvSpPr>
        <p:spPr>
          <a:xfrm>
            <a:off x="1030287" y="4855945"/>
            <a:ext cx="4353438" cy="15528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32EB7-ADC2-B9EC-1D74-3087D88D6955}"/>
              </a:ext>
            </a:extLst>
          </p:cNvPr>
          <p:cNvSpPr/>
          <p:nvPr/>
        </p:nvSpPr>
        <p:spPr>
          <a:xfrm>
            <a:off x="1030287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8CE2E1-1C77-825A-3A88-2A5D49406DA3}"/>
              </a:ext>
            </a:extLst>
          </p:cNvPr>
          <p:cNvSpPr/>
          <p:nvPr/>
        </p:nvSpPr>
        <p:spPr>
          <a:xfrm>
            <a:off x="5982199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4118C8-686E-AFBC-5B1D-478F1E6B132D}"/>
              </a:ext>
            </a:extLst>
          </p:cNvPr>
          <p:cNvSpPr/>
          <p:nvPr/>
        </p:nvSpPr>
        <p:spPr>
          <a:xfrm>
            <a:off x="5982199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A4DB8B-B843-FD1A-DFFD-0E7BF7A5225C}"/>
              </a:ext>
            </a:extLst>
          </p:cNvPr>
          <p:cNvSpPr/>
          <p:nvPr/>
        </p:nvSpPr>
        <p:spPr>
          <a:xfrm>
            <a:off x="10934112" y="4855945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207B66-ACBD-332F-E968-9FF5D7E15949}"/>
              </a:ext>
            </a:extLst>
          </p:cNvPr>
          <p:cNvSpPr/>
          <p:nvPr/>
        </p:nvSpPr>
        <p:spPr>
          <a:xfrm>
            <a:off x="10934112" y="11066147"/>
            <a:ext cx="4353438" cy="15528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06EBBDF0-646F-4232-3350-4933E434F2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7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7E47C0BF-CA6F-6A08-F933-1CAC5778BA0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2200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AADCCFE1-4D43-CF90-92B9-7F52B1E53F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21565" y="1096961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B3763147-EB2B-4487-A91C-7F7F45AB8F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0287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E070108-C5D2-22C5-F15B-082FE31715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2200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A69932F2-E1C9-8E10-EDE3-C649FEB97A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921565" y="7307163"/>
            <a:ext cx="4353437" cy="3758983"/>
          </a:xfrm>
          <a:custGeom>
            <a:avLst/>
            <a:gdLst>
              <a:gd name="connsiteX0" fmla="*/ 0 w 4971299"/>
              <a:gd name="connsiteY0" fmla="*/ 0 h 5775612"/>
              <a:gd name="connsiteX1" fmla="*/ 4971299 w 4971299"/>
              <a:gd name="connsiteY1" fmla="*/ 0 h 5775612"/>
              <a:gd name="connsiteX2" fmla="*/ 4971299 w 4971299"/>
              <a:gd name="connsiteY2" fmla="*/ 5775612 h 5775612"/>
              <a:gd name="connsiteX3" fmla="*/ 0 w 4971299"/>
              <a:gd name="connsiteY3" fmla="*/ 5775612 h 577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1299" h="5775612">
                <a:moveTo>
                  <a:pt x="0" y="0"/>
                </a:moveTo>
                <a:lnTo>
                  <a:pt x="4971299" y="0"/>
                </a:lnTo>
                <a:lnTo>
                  <a:pt x="4971299" y="5775612"/>
                </a:lnTo>
                <a:lnTo>
                  <a:pt x="0" y="577561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6BD444A-65D0-0825-3A4B-7F374E5B3993}"/>
              </a:ext>
            </a:extLst>
          </p:cNvPr>
          <p:cNvSpPr/>
          <p:nvPr userDrawn="1"/>
        </p:nvSpPr>
        <p:spPr>
          <a:xfrm>
            <a:off x="1030287" y="6281936"/>
            <a:ext cx="4353437" cy="1268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48653A-40D9-F0A1-4DA4-740D0FC873A8}"/>
              </a:ext>
            </a:extLst>
          </p:cNvPr>
          <p:cNvSpPr/>
          <p:nvPr userDrawn="1"/>
        </p:nvSpPr>
        <p:spPr>
          <a:xfrm>
            <a:off x="5994746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8FF8FF6-6B7D-DC84-3FC9-31A1F958F1EC}"/>
              </a:ext>
            </a:extLst>
          </p:cNvPr>
          <p:cNvSpPr/>
          <p:nvPr userDrawn="1"/>
        </p:nvSpPr>
        <p:spPr>
          <a:xfrm>
            <a:off x="10921565" y="6281936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EF428-F019-9EFD-FF36-EC8891AF38E4}"/>
              </a:ext>
            </a:extLst>
          </p:cNvPr>
          <p:cNvSpPr/>
          <p:nvPr userDrawn="1"/>
        </p:nvSpPr>
        <p:spPr>
          <a:xfrm>
            <a:off x="1030287" y="12492138"/>
            <a:ext cx="4353437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1E9869B-B344-24EF-979B-53C792802EEA}"/>
              </a:ext>
            </a:extLst>
          </p:cNvPr>
          <p:cNvSpPr/>
          <p:nvPr userDrawn="1"/>
        </p:nvSpPr>
        <p:spPr>
          <a:xfrm>
            <a:off x="5994746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8A65A32-4699-D29A-260C-F8D4D33F3413}"/>
              </a:ext>
            </a:extLst>
          </p:cNvPr>
          <p:cNvSpPr/>
          <p:nvPr userDrawn="1"/>
        </p:nvSpPr>
        <p:spPr>
          <a:xfrm>
            <a:off x="10921565" y="12492138"/>
            <a:ext cx="4340891" cy="126897"/>
          </a:xfrm>
          <a:prstGeom prst="rect">
            <a:avLst/>
          </a:prstGeom>
          <a:solidFill>
            <a:srgbClr val="823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6392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43BCEF-BE96-9001-7BC7-891904FFECB0}"/>
              </a:ext>
            </a:extLst>
          </p:cNvPr>
          <p:cNvSpPr/>
          <p:nvPr userDrawn="1"/>
        </p:nvSpPr>
        <p:spPr>
          <a:xfrm>
            <a:off x="10535022" y="11117334"/>
            <a:ext cx="5915724" cy="15017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DEEA4F-F347-D3D4-40DC-2C375988F4BB}"/>
              </a:ext>
            </a:extLst>
          </p:cNvPr>
          <p:cNvSpPr/>
          <p:nvPr userDrawn="1"/>
        </p:nvSpPr>
        <p:spPr>
          <a:xfrm>
            <a:off x="16774782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DD04E-6C86-6FAC-44E0-364547DEC499}"/>
              </a:ext>
            </a:extLst>
          </p:cNvPr>
          <p:cNvSpPr/>
          <p:nvPr userDrawn="1"/>
        </p:nvSpPr>
        <p:spPr>
          <a:xfrm>
            <a:off x="19079038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B26B-29FB-4A5B-226F-FE1678EB7323}"/>
              </a:ext>
            </a:extLst>
          </p:cNvPr>
          <p:cNvSpPr/>
          <p:nvPr userDrawn="1"/>
        </p:nvSpPr>
        <p:spPr>
          <a:xfrm>
            <a:off x="21384411" y="11117334"/>
            <a:ext cx="1980220" cy="15017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D49C7503-CC70-C25A-FF8B-A7E054F974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33904" y="2753543"/>
            <a:ext cx="5915725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34FBC5C-55A3-A2CA-39BE-BCFA6D290A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773665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B4D55F3-6C16-58C2-17A6-2231317CE2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076804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0052754-94F7-B1DE-E09C-342FB689D8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384411" y="2753543"/>
            <a:ext cx="1980220" cy="836378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pic>
        <p:nvPicPr>
          <p:cNvPr id="19" name="Graphic 18" descr="Streetcar with solid fill">
            <a:extLst>
              <a:ext uri="{FF2B5EF4-FFF2-40B4-BE49-F238E27FC236}">
                <a16:creationId xmlns:a16="http://schemas.microsoft.com/office/drawing/2014/main" id="{D4050214-F79F-5910-F195-048FB57C51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17321" y="11427070"/>
            <a:ext cx="914400" cy="914400"/>
          </a:xfrm>
          <a:prstGeom prst="rect">
            <a:avLst/>
          </a:prstGeom>
        </p:spPr>
      </p:pic>
      <p:pic>
        <p:nvPicPr>
          <p:cNvPr id="20" name="Graphic 19" descr="Graduation cap with solid fill">
            <a:extLst>
              <a:ext uri="{FF2B5EF4-FFF2-40B4-BE49-F238E27FC236}">
                <a16:creationId xmlns:a16="http://schemas.microsoft.com/office/drawing/2014/main" id="{EDCE87F6-2039-2130-3F1F-274BD085D4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11948" y="11427070"/>
            <a:ext cx="914400" cy="914400"/>
          </a:xfrm>
          <a:prstGeom prst="rect">
            <a:avLst/>
          </a:prstGeom>
        </p:spPr>
      </p:pic>
      <p:pic>
        <p:nvPicPr>
          <p:cNvPr id="21" name="Graphic 20" descr="Bank with solid fill">
            <a:extLst>
              <a:ext uri="{FF2B5EF4-FFF2-40B4-BE49-F238E27FC236}">
                <a16:creationId xmlns:a16="http://schemas.microsoft.com/office/drawing/2014/main" id="{56D8709F-CB26-24B1-574A-5A7F0AE797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306575" y="11427070"/>
            <a:ext cx="914400" cy="914400"/>
          </a:xfrm>
          <a:prstGeom prst="rect">
            <a:avLst/>
          </a:prstGeom>
        </p:spPr>
      </p:pic>
      <p:pic>
        <p:nvPicPr>
          <p:cNvPr id="22" name="Graphic 21" descr="Immunity with solid fill">
            <a:extLst>
              <a:ext uri="{FF2B5EF4-FFF2-40B4-BE49-F238E27FC236}">
                <a16:creationId xmlns:a16="http://schemas.microsoft.com/office/drawing/2014/main" id="{6E1735BE-0A9E-23C4-0683-0BA999B45F5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23054" y="11427070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CBC074-E396-5E83-4903-2D3CFCA05481}"/>
              </a:ext>
            </a:extLst>
          </p:cNvPr>
          <p:cNvSpPr txBox="1"/>
          <p:nvPr userDrawn="1"/>
        </p:nvSpPr>
        <p:spPr>
          <a:xfrm>
            <a:off x="12021864" y="11510473"/>
            <a:ext cx="4427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400"/>
              <a:t>AI-POWERED </a:t>
            </a:r>
            <a:r>
              <a:rPr lang="en-US" sz="2400"/>
              <a:t>HEALTHCARE </a:t>
            </a:r>
            <a:r>
              <a:rPr lang="id-ID" sz="2400"/>
              <a:t>DIAGNOSTICS</a:t>
            </a:r>
          </a:p>
        </p:txBody>
      </p:sp>
    </p:spTree>
    <p:extLst>
      <p:ext uri="{BB962C8B-B14F-4D97-AF65-F5344CB8AC3E}">
        <p14:creationId xmlns:p14="http://schemas.microsoft.com/office/powerpoint/2010/main" val="685732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1B5EC0-6E44-3C2B-C4F6-92B73D4D0C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1206" y="1096963"/>
            <a:ext cx="11160918" cy="5616199"/>
          </a:xfrm>
          <a:custGeom>
            <a:avLst/>
            <a:gdLst>
              <a:gd name="connsiteX0" fmla="*/ 601776 w 11160918"/>
              <a:gd name="connsiteY0" fmla="*/ 0 h 5616199"/>
              <a:gd name="connsiteX1" fmla="*/ 10559142 w 11160918"/>
              <a:gd name="connsiteY1" fmla="*/ 0 h 5616199"/>
              <a:gd name="connsiteX2" fmla="*/ 11160918 w 11160918"/>
              <a:gd name="connsiteY2" fmla="*/ 601776 h 5616199"/>
              <a:gd name="connsiteX3" fmla="*/ 11160918 w 11160918"/>
              <a:gd name="connsiteY3" fmla="*/ 5014423 h 5616199"/>
              <a:gd name="connsiteX4" fmla="*/ 10559142 w 11160918"/>
              <a:gd name="connsiteY4" fmla="*/ 5616199 h 5616199"/>
              <a:gd name="connsiteX5" fmla="*/ 601776 w 11160918"/>
              <a:gd name="connsiteY5" fmla="*/ 5616199 h 5616199"/>
              <a:gd name="connsiteX6" fmla="*/ 0 w 11160918"/>
              <a:gd name="connsiteY6" fmla="*/ 5014423 h 5616199"/>
              <a:gd name="connsiteX7" fmla="*/ 0 w 11160918"/>
              <a:gd name="connsiteY7" fmla="*/ 601776 h 5616199"/>
              <a:gd name="connsiteX8" fmla="*/ 601776 w 11160918"/>
              <a:gd name="connsiteY8" fmla="*/ 0 h 5616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0918" h="5616199">
                <a:moveTo>
                  <a:pt x="601776" y="0"/>
                </a:moveTo>
                <a:lnTo>
                  <a:pt x="10559142" y="0"/>
                </a:lnTo>
                <a:cubicBezTo>
                  <a:pt x="10891494" y="0"/>
                  <a:pt x="11160918" y="269424"/>
                  <a:pt x="11160918" y="601776"/>
                </a:cubicBezTo>
                <a:lnTo>
                  <a:pt x="11160918" y="5014423"/>
                </a:lnTo>
                <a:cubicBezTo>
                  <a:pt x="11160918" y="5346775"/>
                  <a:pt x="10891494" y="5616199"/>
                  <a:pt x="10559142" y="5616199"/>
                </a:cubicBezTo>
                <a:lnTo>
                  <a:pt x="601776" y="5616199"/>
                </a:lnTo>
                <a:cubicBezTo>
                  <a:pt x="269424" y="5616199"/>
                  <a:pt x="0" y="5346775"/>
                  <a:pt x="0" y="5014423"/>
                </a:cubicBezTo>
                <a:lnTo>
                  <a:pt x="0" y="601776"/>
                </a:lnTo>
                <a:cubicBezTo>
                  <a:pt x="0" y="269424"/>
                  <a:pt x="269424" y="0"/>
                  <a:pt x="601776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35C08B-0334-A3BE-5C0F-9592210038F0}"/>
              </a:ext>
            </a:extLst>
          </p:cNvPr>
          <p:cNvSpPr/>
          <p:nvPr userDrawn="1"/>
        </p:nvSpPr>
        <p:spPr>
          <a:xfrm>
            <a:off x="12191207" y="7002838"/>
            <a:ext cx="4392488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CB67E4-77EA-6E07-AD2B-43FD24B73FF2}"/>
              </a:ext>
            </a:extLst>
          </p:cNvPr>
          <p:cNvSpPr/>
          <p:nvPr userDrawn="1"/>
        </p:nvSpPr>
        <p:spPr>
          <a:xfrm>
            <a:off x="16871726" y="7002838"/>
            <a:ext cx="6480399" cy="5616199"/>
          </a:xfrm>
          <a:prstGeom prst="roundRect">
            <a:avLst>
              <a:gd name="adj" fmla="val 10715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15609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52C112B-85E6-311F-E485-D9E019AFC7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27382" y="4601776"/>
            <a:ext cx="6404184" cy="6404184"/>
          </a:xfrm>
          <a:custGeom>
            <a:avLst/>
            <a:gdLst>
              <a:gd name="connsiteX0" fmla="*/ 3202092 w 6404184"/>
              <a:gd name="connsiteY0" fmla="*/ 0 h 6404184"/>
              <a:gd name="connsiteX1" fmla="*/ 6404184 w 6404184"/>
              <a:gd name="connsiteY1" fmla="*/ 3202092 h 6404184"/>
              <a:gd name="connsiteX2" fmla="*/ 3202092 w 6404184"/>
              <a:gd name="connsiteY2" fmla="*/ 6404184 h 6404184"/>
              <a:gd name="connsiteX3" fmla="*/ 0 w 6404184"/>
              <a:gd name="connsiteY3" fmla="*/ 3202092 h 6404184"/>
              <a:gd name="connsiteX4" fmla="*/ 3202092 w 6404184"/>
              <a:gd name="connsiteY4" fmla="*/ 0 h 640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4184" h="6404184">
                <a:moveTo>
                  <a:pt x="3202092" y="0"/>
                </a:moveTo>
                <a:cubicBezTo>
                  <a:pt x="4970559" y="0"/>
                  <a:pt x="6404184" y="1433625"/>
                  <a:pt x="6404184" y="3202092"/>
                </a:cubicBezTo>
                <a:cubicBezTo>
                  <a:pt x="6404184" y="4970559"/>
                  <a:pt x="4970559" y="6404184"/>
                  <a:pt x="3202092" y="6404184"/>
                </a:cubicBezTo>
                <a:cubicBezTo>
                  <a:pt x="1433625" y="6404184"/>
                  <a:pt x="0" y="4970559"/>
                  <a:pt x="0" y="3202092"/>
                </a:cubicBezTo>
                <a:cubicBezTo>
                  <a:pt x="0" y="1433625"/>
                  <a:pt x="1433625" y="0"/>
                  <a:pt x="320209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07862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F6AA9-D08F-B388-9C1A-0FDA19DAC8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0413" y="1096963"/>
            <a:ext cx="11161711" cy="11522074"/>
          </a:xfrm>
          <a:custGeom>
            <a:avLst/>
            <a:gdLst>
              <a:gd name="connsiteX0" fmla="*/ 844384 w 11161711"/>
              <a:gd name="connsiteY0" fmla="*/ 0 h 11522074"/>
              <a:gd name="connsiteX1" fmla="*/ 10317327 w 11161711"/>
              <a:gd name="connsiteY1" fmla="*/ 0 h 11522074"/>
              <a:gd name="connsiteX2" fmla="*/ 11161711 w 11161711"/>
              <a:gd name="connsiteY2" fmla="*/ 844384 h 11522074"/>
              <a:gd name="connsiteX3" fmla="*/ 11161711 w 11161711"/>
              <a:gd name="connsiteY3" fmla="*/ 10677690 h 11522074"/>
              <a:gd name="connsiteX4" fmla="*/ 10317327 w 11161711"/>
              <a:gd name="connsiteY4" fmla="*/ 11522074 h 11522074"/>
              <a:gd name="connsiteX5" fmla="*/ 844384 w 11161711"/>
              <a:gd name="connsiteY5" fmla="*/ 11522074 h 11522074"/>
              <a:gd name="connsiteX6" fmla="*/ 0 w 11161711"/>
              <a:gd name="connsiteY6" fmla="*/ 10677690 h 11522074"/>
              <a:gd name="connsiteX7" fmla="*/ 0 w 11161711"/>
              <a:gd name="connsiteY7" fmla="*/ 844384 h 11522074"/>
              <a:gd name="connsiteX8" fmla="*/ 844384 w 11161711"/>
              <a:gd name="connsiteY8" fmla="*/ 0 h 1152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61711" h="11522074">
                <a:moveTo>
                  <a:pt x="844384" y="0"/>
                </a:moveTo>
                <a:lnTo>
                  <a:pt x="10317327" y="0"/>
                </a:lnTo>
                <a:cubicBezTo>
                  <a:pt x="10783667" y="0"/>
                  <a:pt x="11161711" y="378044"/>
                  <a:pt x="11161711" y="844384"/>
                </a:cubicBezTo>
                <a:lnTo>
                  <a:pt x="11161711" y="10677690"/>
                </a:lnTo>
                <a:cubicBezTo>
                  <a:pt x="11161711" y="11144030"/>
                  <a:pt x="10783667" y="11522074"/>
                  <a:pt x="10317327" y="11522074"/>
                </a:cubicBezTo>
                <a:lnTo>
                  <a:pt x="844384" y="11522074"/>
                </a:lnTo>
                <a:cubicBezTo>
                  <a:pt x="378044" y="11522074"/>
                  <a:pt x="0" y="11144030"/>
                  <a:pt x="0" y="10677690"/>
                </a:cubicBezTo>
                <a:lnTo>
                  <a:pt x="0" y="844384"/>
                </a:lnTo>
                <a:cubicBezTo>
                  <a:pt x="0" y="378044"/>
                  <a:pt x="378044" y="0"/>
                  <a:pt x="8443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6178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0624AE-E350-C78C-ADB8-F78C25F74EFA}"/>
              </a:ext>
            </a:extLst>
          </p:cNvPr>
          <p:cNvSpPr/>
          <p:nvPr userDrawn="1"/>
        </p:nvSpPr>
        <p:spPr>
          <a:xfrm>
            <a:off x="1030288" y="1096963"/>
            <a:ext cx="7259151" cy="115220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8DE28-E343-C878-D70F-3EB7B4665037}"/>
              </a:ext>
            </a:extLst>
          </p:cNvPr>
          <p:cNvSpPr/>
          <p:nvPr userDrawn="1"/>
        </p:nvSpPr>
        <p:spPr>
          <a:xfrm>
            <a:off x="1030288" y="1110672"/>
            <a:ext cx="7259151" cy="2265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45F11-671D-2D07-C177-A54E64E8C9C6}"/>
              </a:ext>
            </a:extLst>
          </p:cNvPr>
          <p:cNvSpPr/>
          <p:nvPr userDrawn="1"/>
        </p:nvSpPr>
        <p:spPr>
          <a:xfrm>
            <a:off x="8561631" y="6871709"/>
            <a:ext cx="7259151" cy="5761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B087196-5C93-461F-86AE-4E909DFCF5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092974" y="1110671"/>
            <a:ext cx="7259151" cy="1152207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79CF17-57D8-63B3-A1D6-CBA3E72AC4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61631" y="1096963"/>
            <a:ext cx="7259151" cy="5761038"/>
          </a:xfrm>
          <a:custGeom>
            <a:avLst/>
            <a:gdLst>
              <a:gd name="connsiteX0" fmla="*/ 0 w 7259151"/>
              <a:gd name="connsiteY0" fmla="*/ 0 h 5761037"/>
              <a:gd name="connsiteX1" fmla="*/ 7259151 w 7259151"/>
              <a:gd name="connsiteY1" fmla="*/ 0 h 5761037"/>
              <a:gd name="connsiteX2" fmla="*/ 7259151 w 7259151"/>
              <a:gd name="connsiteY2" fmla="*/ 5761037 h 5761037"/>
              <a:gd name="connsiteX3" fmla="*/ 0 w 7259151"/>
              <a:gd name="connsiteY3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59151" h="5761037">
                <a:moveTo>
                  <a:pt x="0" y="0"/>
                </a:moveTo>
                <a:lnTo>
                  <a:pt x="7259151" y="0"/>
                </a:lnTo>
                <a:lnTo>
                  <a:pt x="7259151" y="5761037"/>
                </a:lnTo>
                <a:lnTo>
                  <a:pt x="0" y="576103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49291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3D0DF2-1D5A-559A-A512-716170D945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4660" y="1096963"/>
            <a:ext cx="10806827" cy="5617022"/>
          </a:xfrm>
          <a:custGeom>
            <a:avLst/>
            <a:gdLst>
              <a:gd name="connsiteX0" fmla="*/ 419985 w 10806827"/>
              <a:gd name="connsiteY0" fmla="*/ 0 h 5617022"/>
              <a:gd name="connsiteX1" fmla="*/ 10386843 w 10806827"/>
              <a:gd name="connsiteY1" fmla="*/ 0 h 5617022"/>
              <a:gd name="connsiteX2" fmla="*/ 10806827 w 10806827"/>
              <a:gd name="connsiteY2" fmla="*/ 419985 h 5617022"/>
              <a:gd name="connsiteX3" fmla="*/ 10806827 w 10806827"/>
              <a:gd name="connsiteY3" fmla="*/ 5197036 h 5617022"/>
              <a:gd name="connsiteX4" fmla="*/ 10386843 w 10806827"/>
              <a:gd name="connsiteY4" fmla="*/ 5617022 h 5617022"/>
              <a:gd name="connsiteX5" fmla="*/ 419985 w 10806827"/>
              <a:gd name="connsiteY5" fmla="*/ 5617022 h 5617022"/>
              <a:gd name="connsiteX6" fmla="*/ 0 w 10806827"/>
              <a:gd name="connsiteY6" fmla="*/ 5197036 h 5617022"/>
              <a:gd name="connsiteX7" fmla="*/ 0 w 10806827"/>
              <a:gd name="connsiteY7" fmla="*/ 419985 h 5617022"/>
              <a:gd name="connsiteX8" fmla="*/ 419985 w 1080682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827" h="5617022">
                <a:moveTo>
                  <a:pt x="419985" y="0"/>
                </a:moveTo>
                <a:lnTo>
                  <a:pt x="10386843" y="0"/>
                </a:lnTo>
                <a:cubicBezTo>
                  <a:pt x="10618793" y="0"/>
                  <a:pt x="10806827" y="188034"/>
                  <a:pt x="10806827" y="419985"/>
                </a:cubicBezTo>
                <a:lnTo>
                  <a:pt x="10806827" y="5197036"/>
                </a:lnTo>
                <a:cubicBezTo>
                  <a:pt x="10806827" y="5428988"/>
                  <a:pt x="10618793" y="5617022"/>
                  <a:pt x="10386843" y="5617022"/>
                </a:cubicBezTo>
                <a:lnTo>
                  <a:pt x="419985" y="5617022"/>
                </a:lnTo>
                <a:cubicBezTo>
                  <a:pt x="188034" y="5617022"/>
                  <a:pt x="0" y="5428988"/>
                  <a:pt x="0" y="5197036"/>
                </a:cubicBezTo>
                <a:lnTo>
                  <a:pt x="0" y="419985"/>
                </a:lnTo>
                <a:cubicBezTo>
                  <a:pt x="0" y="188034"/>
                  <a:pt x="188034" y="0"/>
                  <a:pt x="419985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952B50B-ABF2-FFC3-8410-1625F37AB2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4660" y="7014434"/>
            <a:ext cx="5472288" cy="5617021"/>
          </a:xfrm>
          <a:custGeom>
            <a:avLst/>
            <a:gdLst>
              <a:gd name="connsiteX0" fmla="*/ 409164 w 5472288"/>
              <a:gd name="connsiteY0" fmla="*/ 0 h 5617021"/>
              <a:gd name="connsiteX1" fmla="*/ 5063125 w 5472288"/>
              <a:gd name="connsiteY1" fmla="*/ 0 h 5617021"/>
              <a:gd name="connsiteX2" fmla="*/ 5472288 w 5472288"/>
              <a:gd name="connsiteY2" fmla="*/ 409163 h 5617021"/>
              <a:gd name="connsiteX3" fmla="*/ 5472288 w 5472288"/>
              <a:gd name="connsiteY3" fmla="*/ 5207858 h 5617021"/>
              <a:gd name="connsiteX4" fmla="*/ 5063125 w 5472288"/>
              <a:gd name="connsiteY4" fmla="*/ 5617021 h 5617021"/>
              <a:gd name="connsiteX5" fmla="*/ 409164 w 5472288"/>
              <a:gd name="connsiteY5" fmla="*/ 5617021 h 5617021"/>
              <a:gd name="connsiteX6" fmla="*/ 0 w 5472288"/>
              <a:gd name="connsiteY6" fmla="*/ 5207858 h 5617021"/>
              <a:gd name="connsiteX7" fmla="*/ 0 w 5472288"/>
              <a:gd name="connsiteY7" fmla="*/ 409163 h 5617021"/>
              <a:gd name="connsiteX8" fmla="*/ 409164 w 5472288"/>
              <a:gd name="connsiteY8" fmla="*/ 0 h 5617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8" h="5617021">
                <a:moveTo>
                  <a:pt x="409164" y="0"/>
                </a:moveTo>
                <a:lnTo>
                  <a:pt x="5063125" y="0"/>
                </a:lnTo>
                <a:cubicBezTo>
                  <a:pt x="5289099" y="0"/>
                  <a:pt x="5472288" y="183189"/>
                  <a:pt x="5472288" y="409163"/>
                </a:cubicBezTo>
                <a:lnTo>
                  <a:pt x="5472288" y="5207858"/>
                </a:lnTo>
                <a:cubicBezTo>
                  <a:pt x="5472288" y="5433832"/>
                  <a:pt x="5289099" y="5617021"/>
                  <a:pt x="5063125" y="5617021"/>
                </a:cubicBezTo>
                <a:lnTo>
                  <a:pt x="409164" y="5617021"/>
                </a:lnTo>
                <a:cubicBezTo>
                  <a:pt x="183190" y="5617021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90" y="0"/>
                  <a:pt x="40916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915731-3728-DEFF-77F7-CFA8510018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19519" y="1096963"/>
            <a:ext cx="5472287" cy="5617022"/>
          </a:xfrm>
          <a:custGeom>
            <a:avLst/>
            <a:gdLst>
              <a:gd name="connsiteX0" fmla="*/ 409163 w 5472287"/>
              <a:gd name="connsiteY0" fmla="*/ 0 h 5617022"/>
              <a:gd name="connsiteX1" fmla="*/ 5063125 w 5472287"/>
              <a:gd name="connsiteY1" fmla="*/ 0 h 5617022"/>
              <a:gd name="connsiteX2" fmla="*/ 5472287 w 5472287"/>
              <a:gd name="connsiteY2" fmla="*/ 409163 h 5617022"/>
              <a:gd name="connsiteX3" fmla="*/ 5472287 w 5472287"/>
              <a:gd name="connsiteY3" fmla="*/ 5207858 h 5617022"/>
              <a:gd name="connsiteX4" fmla="*/ 5063125 w 5472287"/>
              <a:gd name="connsiteY4" fmla="*/ 5617022 h 5617022"/>
              <a:gd name="connsiteX5" fmla="*/ 409163 w 5472287"/>
              <a:gd name="connsiteY5" fmla="*/ 5617022 h 5617022"/>
              <a:gd name="connsiteX6" fmla="*/ 0 w 5472287"/>
              <a:gd name="connsiteY6" fmla="*/ 5207858 h 5617022"/>
              <a:gd name="connsiteX7" fmla="*/ 0 w 5472287"/>
              <a:gd name="connsiteY7" fmla="*/ 409163 h 5617022"/>
              <a:gd name="connsiteX8" fmla="*/ 409163 w 5472287"/>
              <a:gd name="connsiteY8" fmla="*/ 0 h 5617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7" h="5617022">
                <a:moveTo>
                  <a:pt x="409163" y="0"/>
                </a:moveTo>
                <a:lnTo>
                  <a:pt x="5063125" y="0"/>
                </a:lnTo>
                <a:cubicBezTo>
                  <a:pt x="5289097" y="0"/>
                  <a:pt x="5472287" y="183189"/>
                  <a:pt x="5472287" y="409163"/>
                </a:cubicBezTo>
                <a:lnTo>
                  <a:pt x="5472287" y="5207858"/>
                </a:lnTo>
                <a:cubicBezTo>
                  <a:pt x="5472287" y="5433832"/>
                  <a:pt x="5289097" y="5617022"/>
                  <a:pt x="5063125" y="5617022"/>
                </a:cubicBezTo>
                <a:lnTo>
                  <a:pt x="409163" y="5617022"/>
                </a:lnTo>
                <a:cubicBezTo>
                  <a:pt x="183189" y="5617022"/>
                  <a:pt x="0" y="5433832"/>
                  <a:pt x="0" y="5207858"/>
                </a:cubicBezTo>
                <a:lnTo>
                  <a:pt x="0" y="409163"/>
                </a:lnTo>
                <a:cubicBezTo>
                  <a:pt x="0" y="183189"/>
                  <a:pt x="183189" y="0"/>
                  <a:pt x="40916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3C29B2D-1ED1-19C4-50CB-574377CB6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879838" y="1096964"/>
            <a:ext cx="5472286" cy="11522075"/>
          </a:xfrm>
          <a:custGeom>
            <a:avLst/>
            <a:gdLst>
              <a:gd name="connsiteX0" fmla="*/ 409162 w 5472286"/>
              <a:gd name="connsiteY0" fmla="*/ 0 h 11522075"/>
              <a:gd name="connsiteX1" fmla="*/ 5063124 w 5472286"/>
              <a:gd name="connsiteY1" fmla="*/ 0 h 11522075"/>
              <a:gd name="connsiteX2" fmla="*/ 5472286 w 5472286"/>
              <a:gd name="connsiteY2" fmla="*/ 409163 h 11522075"/>
              <a:gd name="connsiteX3" fmla="*/ 5472286 w 5472286"/>
              <a:gd name="connsiteY3" fmla="*/ 11112912 h 11522075"/>
              <a:gd name="connsiteX4" fmla="*/ 5063124 w 5472286"/>
              <a:gd name="connsiteY4" fmla="*/ 11522075 h 11522075"/>
              <a:gd name="connsiteX5" fmla="*/ 409162 w 5472286"/>
              <a:gd name="connsiteY5" fmla="*/ 11522075 h 11522075"/>
              <a:gd name="connsiteX6" fmla="*/ 0 w 5472286"/>
              <a:gd name="connsiteY6" fmla="*/ 11112912 h 11522075"/>
              <a:gd name="connsiteX7" fmla="*/ 0 w 5472286"/>
              <a:gd name="connsiteY7" fmla="*/ 409163 h 11522075"/>
              <a:gd name="connsiteX8" fmla="*/ 409162 w 5472286"/>
              <a:gd name="connsiteY8" fmla="*/ 0 h 1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72286" h="11522075">
                <a:moveTo>
                  <a:pt x="409162" y="0"/>
                </a:moveTo>
                <a:lnTo>
                  <a:pt x="5063124" y="0"/>
                </a:lnTo>
                <a:cubicBezTo>
                  <a:pt x="5289098" y="0"/>
                  <a:pt x="5472286" y="183189"/>
                  <a:pt x="5472286" y="409163"/>
                </a:cubicBezTo>
                <a:lnTo>
                  <a:pt x="5472286" y="11112912"/>
                </a:lnTo>
                <a:cubicBezTo>
                  <a:pt x="5472286" y="11338886"/>
                  <a:pt x="5289098" y="11522075"/>
                  <a:pt x="5063124" y="11522075"/>
                </a:cubicBezTo>
                <a:lnTo>
                  <a:pt x="409162" y="11522075"/>
                </a:lnTo>
                <a:cubicBezTo>
                  <a:pt x="183190" y="11522075"/>
                  <a:pt x="0" y="11338886"/>
                  <a:pt x="0" y="11112912"/>
                </a:cubicBezTo>
                <a:lnTo>
                  <a:pt x="0" y="409163"/>
                </a:lnTo>
                <a:cubicBezTo>
                  <a:pt x="0" y="183189"/>
                  <a:pt x="183190" y="0"/>
                  <a:pt x="40916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04B63-7775-9D98-CDFD-4C8E84C53E82}"/>
              </a:ext>
            </a:extLst>
          </p:cNvPr>
          <p:cNvSpPr/>
          <p:nvPr userDrawn="1"/>
        </p:nvSpPr>
        <p:spPr>
          <a:xfrm>
            <a:off x="6784979" y="7006381"/>
            <a:ext cx="10806826" cy="5625073"/>
          </a:xfrm>
          <a:prstGeom prst="roundRect">
            <a:avLst>
              <a:gd name="adj" fmla="val 65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691942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4878C3-29FA-043B-82DE-4A17FC6DA8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13466" y="4625752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026BBAB-0297-9D01-4EC4-9CFD96BF5D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418286" y="4625752"/>
            <a:ext cx="5933838" cy="7993285"/>
          </a:xfrm>
          <a:custGeom>
            <a:avLst/>
            <a:gdLst>
              <a:gd name="connsiteX0" fmla="*/ 758522 w 5933838"/>
              <a:gd name="connsiteY0" fmla="*/ 0 h 7993285"/>
              <a:gd name="connsiteX1" fmla="*/ 5175316 w 5933838"/>
              <a:gd name="connsiteY1" fmla="*/ 0 h 7993285"/>
              <a:gd name="connsiteX2" fmla="*/ 5933838 w 5933838"/>
              <a:gd name="connsiteY2" fmla="*/ 758523 h 7993285"/>
              <a:gd name="connsiteX3" fmla="*/ 5933838 w 5933838"/>
              <a:gd name="connsiteY3" fmla="*/ 7234762 h 7993285"/>
              <a:gd name="connsiteX4" fmla="*/ 5175316 w 5933838"/>
              <a:gd name="connsiteY4" fmla="*/ 7993285 h 7993285"/>
              <a:gd name="connsiteX5" fmla="*/ 758522 w 5933838"/>
              <a:gd name="connsiteY5" fmla="*/ 7993285 h 7993285"/>
              <a:gd name="connsiteX6" fmla="*/ 0 w 5933838"/>
              <a:gd name="connsiteY6" fmla="*/ 7234762 h 7993285"/>
              <a:gd name="connsiteX7" fmla="*/ 0 w 5933838"/>
              <a:gd name="connsiteY7" fmla="*/ 758523 h 7993285"/>
              <a:gd name="connsiteX8" fmla="*/ 758522 w 5933838"/>
              <a:gd name="connsiteY8" fmla="*/ 0 h 7993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7993285">
                <a:moveTo>
                  <a:pt x="758522" y="0"/>
                </a:moveTo>
                <a:lnTo>
                  <a:pt x="5175316" y="0"/>
                </a:lnTo>
                <a:cubicBezTo>
                  <a:pt x="5594238" y="0"/>
                  <a:pt x="5933838" y="339602"/>
                  <a:pt x="5933838" y="758523"/>
                </a:cubicBezTo>
                <a:lnTo>
                  <a:pt x="5933838" y="7234762"/>
                </a:lnTo>
                <a:cubicBezTo>
                  <a:pt x="5933838" y="7653683"/>
                  <a:pt x="5594238" y="7993285"/>
                  <a:pt x="5175316" y="7993285"/>
                </a:cubicBezTo>
                <a:lnTo>
                  <a:pt x="758522" y="7993285"/>
                </a:lnTo>
                <a:cubicBezTo>
                  <a:pt x="339602" y="7993285"/>
                  <a:pt x="0" y="7653683"/>
                  <a:pt x="0" y="7234762"/>
                </a:cubicBezTo>
                <a:lnTo>
                  <a:pt x="0" y="758523"/>
                </a:lnTo>
                <a:cubicBezTo>
                  <a:pt x="0" y="339602"/>
                  <a:pt x="339602" y="0"/>
                  <a:pt x="75852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DC368D4-8DC3-4700-A79A-9C539DABA2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213466" y="8757874"/>
            <a:ext cx="5933838" cy="3861164"/>
          </a:xfrm>
          <a:custGeom>
            <a:avLst/>
            <a:gdLst>
              <a:gd name="connsiteX0" fmla="*/ 592728 w 5933838"/>
              <a:gd name="connsiteY0" fmla="*/ 0 h 3861164"/>
              <a:gd name="connsiteX1" fmla="*/ 5341112 w 5933838"/>
              <a:gd name="connsiteY1" fmla="*/ 0 h 3861164"/>
              <a:gd name="connsiteX2" fmla="*/ 5933838 w 5933838"/>
              <a:gd name="connsiteY2" fmla="*/ 592727 h 3861164"/>
              <a:gd name="connsiteX3" fmla="*/ 5933838 w 5933838"/>
              <a:gd name="connsiteY3" fmla="*/ 3268437 h 3861164"/>
              <a:gd name="connsiteX4" fmla="*/ 5341112 w 5933838"/>
              <a:gd name="connsiteY4" fmla="*/ 3861164 h 3861164"/>
              <a:gd name="connsiteX5" fmla="*/ 592728 w 5933838"/>
              <a:gd name="connsiteY5" fmla="*/ 3861164 h 3861164"/>
              <a:gd name="connsiteX6" fmla="*/ 0 w 5933838"/>
              <a:gd name="connsiteY6" fmla="*/ 3268437 h 3861164"/>
              <a:gd name="connsiteX7" fmla="*/ 0 w 5933838"/>
              <a:gd name="connsiteY7" fmla="*/ 592727 h 3861164"/>
              <a:gd name="connsiteX8" fmla="*/ 592728 w 5933838"/>
              <a:gd name="connsiteY8" fmla="*/ 0 h 386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33838" h="3861164">
                <a:moveTo>
                  <a:pt x="592728" y="0"/>
                </a:moveTo>
                <a:lnTo>
                  <a:pt x="5341112" y="0"/>
                </a:lnTo>
                <a:cubicBezTo>
                  <a:pt x="5668466" y="0"/>
                  <a:pt x="5933838" y="265373"/>
                  <a:pt x="5933838" y="592727"/>
                </a:cubicBezTo>
                <a:lnTo>
                  <a:pt x="5933838" y="3268437"/>
                </a:lnTo>
                <a:cubicBezTo>
                  <a:pt x="5933838" y="3595791"/>
                  <a:pt x="5668466" y="3861164"/>
                  <a:pt x="5341112" y="3861164"/>
                </a:cubicBezTo>
                <a:lnTo>
                  <a:pt x="592728" y="3861164"/>
                </a:lnTo>
                <a:cubicBezTo>
                  <a:pt x="265373" y="3861164"/>
                  <a:pt x="0" y="3595791"/>
                  <a:pt x="0" y="3268437"/>
                </a:cubicBezTo>
                <a:lnTo>
                  <a:pt x="0" y="592727"/>
                </a:lnTo>
                <a:cubicBezTo>
                  <a:pt x="0" y="265373"/>
                  <a:pt x="265373" y="0"/>
                  <a:pt x="59272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3966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2FC9A04-3E7C-86AA-3269-12494468769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161312" y="5620745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3068315-1CAC-ABA5-D094-9516EC7F76B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593524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0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0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0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0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DB522DF-D781-6112-1295-A496A643A1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025734" y="5416998"/>
            <a:ext cx="3063342" cy="5881614"/>
          </a:xfrm>
          <a:custGeom>
            <a:avLst/>
            <a:gdLst>
              <a:gd name="connsiteX0" fmla="*/ 306949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49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49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9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49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C486EE-1053-6314-D5B5-92D439797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77178" y="4692057"/>
            <a:ext cx="3878118" cy="7761144"/>
          </a:xfrm>
          <a:custGeom>
            <a:avLst/>
            <a:gdLst>
              <a:gd name="connsiteX0" fmla="*/ 428920 w 3878118"/>
              <a:gd name="connsiteY0" fmla="*/ 0 h 7761144"/>
              <a:gd name="connsiteX1" fmla="*/ 3449198 w 3878118"/>
              <a:gd name="connsiteY1" fmla="*/ 0 h 7761144"/>
              <a:gd name="connsiteX2" fmla="*/ 3878118 w 3878118"/>
              <a:gd name="connsiteY2" fmla="*/ 428920 h 7761144"/>
              <a:gd name="connsiteX3" fmla="*/ 3878118 w 3878118"/>
              <a:gd name="connsiteY3" fmla="*/ 7332224 h 7761144"/>
              <a:gd name="connsiteX4" fmla="*/ 3449198 w 3878118"/>
              <a:gd name="connsiteY4" fmla="*/ 7761144 h 7761144"/>
              <a:gd name="connsiteX5" fmla="*/ 428920 w 3878118"/>
              <a:gd name="connsiteY5" fmla="*/ 7761144 h 7761144"/>
              <a:gd name="connsiteX6" fmla="*/ 0 w 3878118"/>
              <a:gd name="connsiteY6" fmla="*/ 7332224 h 7761144"/>
              <a:gd name="connsiteX7" fmla="*/ 0 w 3878118"/>
              <a:gd name="connsiteY7" fmla="*/ 428920 h 7761144"/>
              <a:gd name="connsiteX8" fmla="*/ 428920 w 3878118"/>
              <a:gd name="connsiteY8" fmla="*/ 0 h 7761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8118" h="7761144">
                <a:moveTo>
                  <a:pt x="428920" y="0"/>
                </a:moveTo>
                <a:lnTo>
                  <a:pt x="3449198" y="0"/>
                </a:lnTo>
                <a:cubicBezTo>
                  <a:pt x="3686084" y="0"/>
                  <a:pt x="3878118" y="192034"/>
                  <a:pt x="3878118" y="428920"/>
                </a:cubicBezTo>
                <a:lnTo>
                  <a:pt x="3878118" y="7332224"/>
                </a:lnTo>
                <a:cubicBezTo>
                  <a:pt x="3878118" y="7569110"/>
                  <a:pt x="3686084" y="7761144"/>
                  <a:pt x="3449198" y="7761144"/>
                </a:cubicBezTo>
                <a:lnTo>
                  <a:pt x="428920" y="7761144"/>
                </a:lnTo>
                <a:cubicBezTo>
                  <a:pt x="192034" y="7761144"/>
                  <a:pt x="0" y="7569110"/>
                  <a:pt x="0" y="7332224"/>
                </a:cubicBezTo>
                <a:lnTo>
                  <a:pt x="0" y="428920"/>
                </a:lnTo>
                <a:cubicBezTo>
                  <a:pt x="0" y="192034"/>
                  <a:pt x="192034" y="0"/>
                  <a:pt x="42892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C94792A-5A7A-816C-A49E-FFF23C5111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3400" y="5416998"/>
            <a:ext cx="3063342" cy="5881614"/>
          </a:xfrm>
          <a:custGeom>
            <a:avLst/>
            <a:gdLst>
              <a:gd name="connsiteX0" fmla="*/ 306949 w 2775309"/>
              <a:gd name="connsiteY0" fmla="*/ 0 h 5328592"/>
              <a:gd name="connsiteX1" fmla="*/ 2468360 w 2775309"/>
              <a:gd name="connsiteY1" fmla="*/ 0 h 5328592"/>
              <a:gd name="connsiteX2" fmla="*/ 2775309 w 2775309"/>
              <a:gd name="connsiteY2" fmla="*/ 306950 h 5328592"/>
              <a:gd name="connsiteX3" fmla="*/ 2775309 w 2775309"/>
              <a:gd name="connsiteY3" fmla="*/ 5021643 h 5328592"/>
              <a:gd name="connsiteX4" fmla="*/ 2468360 w 2775309"/>
              <a:gd name="connsiteY4" fmla="*/ 5328592 h 5328592"/>
              <a:gd name="connsiteX5" fmla="*/ 306949 w 2775309"/>
              <a:gd name="connsiteY5" fmla="*/ 5328592 h 5328592"/>
              <a:gd name="connsiteX6" fmla="*/ 0 w 2775309"/>
              <a:gd name="connsiteY6" fmla="*/ 5021643 h 5328592"/>
              <a:gd name="connsiteX7" fmla="*/ 0 w 2775309"/>
              <a:gd name="connsiteY7" fmla="*/ 306950 h 5328592"/>
              <a:gd name="connsiteX8" fmla="*/ 306949 w 2775309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09" h="5328592">
                <a:moveTo>
                  <a:pt x="306949" y="0"/>
                </a:moveTo>
                <a:lnTo>
                  <a:pt x="2468360" y="0"/>
                </a:lnTo>
                <a:cubicBezTo>
                  <a:pt x="2637884" y="0"/>
                  <a:pt x="2775309" y="137426"/>
                  <a:pt x="2775309" y="306950"/>
                </a:cubicBezTo>
                <a:lnTo>
                  <a:pt x="2775309" y="5021643"/>
                </a:lnTo>
                <a:cubicBezTo>
                  <a:pt x="2775309" y="5191166"/>
                  <a:pt x="2637884" y="5328592"/>
                  <a:pt x="2468360" y="5328592"/>
                </a:cubicBezTo>
                <a:lnTo>
                  <a:pt x="306949" y="5328592"/>
                </a:lnTo>
                <a:cubicBezTo>
                  <a:pt x="137425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5" y="0"/>
                  <a:pt x="30694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ADD219-6079-57B5-8A00-23E0413B5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75609" y="6581489"/>
            <a:ext cx="3063342" cy="5881614"/>
          </a:xfrm>
          <a:custGeom>
            <a:avLst/>
            <a:gdLst>
              <a:gd name="connsiteX0" fmla="*/ 306948 w 2775310"/>
              <a:gd name="connsiteY0" fmla="*/ 0 h 5328592"/>
              <a:gd name="connsiteX1" fmla="*/ 2468361 w 2775310"/>
              <a:gd name="connsiteY1" fmla="*/ 0 h 5328592"/>
              <a:gd name="connsiteX2" fmla="*/ 2775310 w 2775310"/>
              <a:gd name="connsiteY2" fmla="*/ 306949 h 5328592"/>
              <a:gd name="connsiteX3" fmla="*/ 2775310 w 2775310"/>
              <a:gd name="connsiteY3" fmla="*/ 5021643 h 5328592"/>
              <a:gd name="connsiteX4" fmla="*/ 2468361 w 2775310"/>
              <a:gd name="connsiteY4" fmla="*/ 5328592 h 5328592"/>
              <a:gd name="connsiteX5" fmla="*/ 306948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49 h 5328592"/>
              <a:gd name="connsiteX8" fmla="*/ 306948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48" y="0"/>
                </a:moveTo>
                <a:lnTo>
                  <a:pt x="2468361" y="0"/>
                </a:lnTo>
                <a:cubicBezTo>
                  <a:pt x="2637884" y="0"/>
                  <a:pt x="2775310" y="137426"/>
                  <a:pt x="2775310" y="306949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1" y="5328592"/>
                </a:cubicBezTo>
                <a:lnTo>
                  <a:pt x="306948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49"/>
                </a:lnTo>
                <a:cubicBezTo>
                  <a:pt x="0" y="137426"/>
                  <a:pt x="137426" y="0"/>
                  <a:pt x="30694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3DEDA72-4538-779B-5E8F-5DF929163D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92182" y="5620745"/>
            <a:ext cx="3063342" cy="5881614"/>
          </a:xfrm>
          <a:custGeom>
            <a:avLst/>
            <a:gdLst>
              <a:gd name="connsiteX0" fmla="*/ 306950 w 2775310"/>
              <a:gd name="connsiteY0" fmla="*/ 0 h 5328592"/>
              <a:gd name="connsiteX1" fmla="*/ 2468362 w 2775310"/>
              <a:gd name="connsiteY1" fmla="*/ 0 h 5328592"/>
              <a:gd name="connsiteX2" fmla="*/ 2775310 w 2775310"/>
              <a:gd name="connsiteY2" fmla="*/ 306950 h 5328592"/>
              <a:gd name="connsiteX3" fmla="*/ 2775310 w 2775310"/>
              <a:gd name="connsiteY3" fmla="*/ 5021643 h 5328592"/>
              <a:gd name="connsiteX4" fmla="*/ 2468362 w 2775310"/>
              <a:gd name="connsiteY4" fmla="*/ 5328592 h 5328592"/>
              <a:gd name="connsiteX5" fmla="*/ 306950 w 2775310"/>
              <a:gd name="connsiteY5" fmla="*/ 5328592 h 5328592"/>
              <a:gd name="connsiteX6" fmla="*/ 0 w 2775310"/>
              <a:gd name="connsiteY6" fmla="*/ 5021643 h 5328592"/>
              <a:gd name="connsiteX7" fmla="*/ 0 w 2775310"/>
              <a:gd name="connsiteY7" fmla="*/ 306950 h 5328592"/>
              <a:gd name="connsiteX8" fmla="*/ 306950 w 2775310"/>
              <a:gd name="connsiteY8" fmla="*/ 0 h 532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75310" h="5328592">
                <a:moveTo>
                  <a:pt x="306950" y="0"/>
                </a:moveTo>
                <a:lnTo>
                  <a:pt x="2468362" y="0"/>
                </a:lnTo>
                <a:cubicBezTo>
                  <a:pt x="2637884" y="0"/>
                  <a:pt x="2775310" y="137426"/>
                  <a:pt x="2775310" y="306950"/>
                </a:cubicBezTo>
                <a:lnTo>
                  <a:pt x="2775310" y="5021643"/>
                </a:lnTo>
                <a:cubicBezTo>
                  <a:pt x="2775310" y="5191166"/>
                  <a:pt x="2637884" y="5328592"/>
                  <a:pt x="2468362" y="5328592"/>
                </a:cubicBezTo>
                <a:lnTo>
                  <a:pt x="306950" y="5328592"/>
                </a:lnTo>
                <a:cubicBezTo>
                  <a:pt x="137426" y="5328592"/>
                  <a:pt x="0" y="5191166"/>
                  <a:pt x="0" y="5021643"/>
                </a:cubicBezTo>
                <a:lnTo>
                  <a:pt x="0" y="306950"/>
                </a:lnTo>
                <a:cubicBezTo>
                  <a:pt x="0" y="137426"/>
                  <a:pt x="137426" y="0"/>
                  <a:pt x="30695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817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E6F36ED-95AD-7200-C5E0-AF721004F70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628708" y="2841370"/>
            <a:ext cx="6721544" cy="6608918"/>
          </a:xfrm>
          <a:custGeom>
            <a:avLst/>
            <a:gdLst>
              <a:gd name="connsiteX0" fmla="*/ 639808 w 6721544"/>
              <a:gd name="connsiteY0" fmla="*/ 0 h 6608918"/>
              <a:gd name="connsiteX1" fmla="*/ 6081736 w 6721544"/>
              <a:gd name="connsiteY1" fmla="*/ 0 h 6608918"/>
              <a:gd name="connsiteX2" fmla="*/ 6721544 w 6721544"/>
              <a:gd name="connsiteY2" fmla="*/ 639809 h 6608918"/>
              <a:gd name="connsiteX3" fmla="*/ 6721544 w 6721544"/>
              <a:gd name="connsiteY3" fmla="*/ 5969109 h 6608918"/>
              <a:gd name="connsiteX4" fmla="*/ 6081736 w 6721544"/>
              <a:gd name="connsiteY4" fmla="*/ 6608918 h 6608918"/>
              <a:gd name="connsiteX5" fmla="*/ 639808 w 6721544"/>
              <a:gd name="connsiteY5" fmla="*/ 6608918 h 6608918"/>
              <a:gd name="connsiteX6" fmla="*/ 0 w 6721544"/>
              <a:gd name="connsiteY6" fmla="*/ 5969109 h 6608918"/>
              <a:gd name="connsiteX7" fmla="*/ 0 w 6721544"/>
              <a:gd name="connsiteY7" fmla="*/ 639809 h 6608918"/>
              <a:gd name="connsiteX8" fmla="*/ 639808 w 6721544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4" h="6608918">
                <a:moveTo>
                  <a:pt x="639808" y="0"/>
                </a:moveTo>
                <a:lnTo>
                  <a:pt x="6081736" y="0"/>
                </a:lnTo>
                <a:cubicBezTo>
                  <a:pt x="6435092" y="0"/>
                  <a:pt x="6721544" y="286452"/>
                  <a:pt x="6721544" y="639809"/>
                </a:cubicBezTo>
                <a:lnTo>
                  <a:pt x="6721544" y="5969109"/>
                </a:lnTo>
                <a:cubicBezTo>
                  <a:pt x="6721544" y="6322466"/>
                  <a:pt x="6435092" y="6608918"/>
                  <a:pt x="6081736" y="6608918"/>
                </a:cubicBezTo>
                <a:lnTo>
                  <a:pt x="639808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A4E69A7-E7AF-32CB-9147-ED8E8CAC3E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4667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C31DCD-B6DD-DB12-9705-79BC159CF3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9640" y="2841370"/>
            <a:ext cx="6721545" cy="6608918"/>
          </a:xfrm>
          <a:custGeom>
            <a:avLst/>
            <a:gdLst>
              <a:gd name="connsiteX0" fmla="*/ 639809 w 6721545"/>
              <a:gd name="connsiteY0" fmla="*/ 0 h 6608918"/>
              <a:gd name="connsiteX1" fmla="*/ 6081736 w 6721545"/>
              <a:gd name="connsiteY1" fmla="*/ 0 h 6608918"/>
              <a:gd name="connsiteX2" fmla="*/ 6721545 w 6721545"/>
              <a:gd name="connsiteY2" fmla="*/ 639809 h 6608918"/>
              <a:gd name="connsiteX3" fmla="*/ 6721545 w 6721545"/>
              <a:gd name="connsiteY3" fmla="*/ 5969109 h 6608918"/>
              <a:gd name="connsiteX4" fmla="*/ 6081736 w 6721545"/>
              <a:gd name="connsiteY4" fmla="*/ 6608918 h 6608918"/>
              <a:gd name="connsiteX5" fmla="*/ 639809 w 6721545"/>
              <a:gd name="connsiteY5" fmla="*/ 6608918 h 6608918"/>
              <a:gd name="connsiteX6" fmla="*/ 0 w 6721545"/>
              <a:gd name="connsiteY6" fmla="*/ 5969109 h 6608918"/>
              <a:gd name="connsiteX7" fmla="*/ 0 w 6721545"/>
              <a:gd name="connsiteY7" fmla="*/ 639809 h 6608918"/>
              <a:gd name="connsiteX8" fmla="*/ 639809 w 6721545"/>
              <a:gd name="connsiteY8" fmla="*/ 0 h 660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545" h="6608918">
                <a:moveTo>
                  <a:pt x="639809" y="0"/>
                </a:moveTo>
                <a:lnTo>
                  <a:pt x="6081736" y="0"/>
                </a:lnTo>
                <a:cubicBezTo>
                  <a:pt x="6435092" y="0"/>
                  <a:pt x="6721545" y="286452"/>
                  <a:pt x="6721545" y="639809"/>
                </a:cubicBezTo>
                <a:lnTo>
                  <a:pt x="6721545" y="5969109"/>
                </a:lnTo>
                <a:cubicBezTo>
                  <a:pt x="6721545" y="6322466"/>
                  <a:pt x="6435092" y="6608918"/>
                  <a:pt x="6081736" y="6608918"/>
                </a:cubicBezTo>
                <a:lnTo>
                  <a:pt x="639809" y="6608918"/>
                </a:lnTo>
                <a:cubicBezTo>
                  <a:pt x="286452" y="6608918"/>
                  <a:pt x="0" y="6322466"/>
                  <a:pt x="0" y="5969109"/>
                </a:cubicBezTo>
                <a:lnTo>
                  <a:pt x="0" y="639809"/>
                </a:lnTo>
                <a:cubicBezTo>
                  <a:pt x="0" y="286452"/>
                  <a:pt x="286452" y="0"/>
                  <a:pt x="639809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45118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08C6678-C054-AB74-F6B8-BA386797A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96964"/>
            <a:ext cx="11254309" cy="11545295"/>
          </a:xfrm>
          <a:custGeom>
            <a:avLst/>
            <a:gdLst>
              <a:gd name="connsiteX0" fmla="*/ 0 w 11254309"/>
              <a:gd name="connsiteY0" fmla="*/ 0 h 11545295"/>
              <a:gd name="connsiteX1" fmla="*/ 10269842 w 11254309"/>
              <a:gd name="connsiteY1" fmla="*/ 0 h 11545295"/>
              <a:gd name="connsiteX2" fmla="*/ 11254309 w 11254309"/>
              <a:gd name="connsiteY2" fmla="*/ 984467 h 11545295"/>
              <a:gd name="connsiteX3" fmla="*/ 11254309 w 11254309"/>
              <a:gd name="connsiteY3" fmla="*/ 10560828 h 11545295"/>
              <a:gd name="connsiteX4" fmla="*/ 10269842 w 11254309"/>
              <a:gd name="connsiteY4" fmla="*/ 11545295 h 11545295"/>
              <a:gd name="connsiteX5" fmla="*/ 0 w 11254309"/>
              <a:gd name="connsiteY5" fmla="*/ 11545295 h 11545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54309" h="11545295">
                <a:moveTo>
                  <a:pt x="0" y="0"/>
                </a:moveTo>
                <a:lnTo>
                  <a:pt x="10269842" y="0"/>
                </a:lnTo>
                <a:cubicBezTo>
                  <a:pt x="10813548" y="0"/>
                  <a:pt x="11254309" y="440761"/>
                  <a:pt x="11254309" y="984467"/>
                </a:cubicBezTo>
                <a:lnTo>
                  <a:pt x="11254309" y="10560828"/>
                </a:lnTo>
                <a:cubicBezTo>
                  <a:pt x="11254309" y="11104534"/>
                  <a:pt x="10813548" y="11545295"/>
                  <a:pt x="10269842" y="11545295"/>
                </a:cubicBezTo>
                <a:lnTo>
                  <a:pt x="0" y="11545295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71C925-1A34-EBAE-12E1-F2BAD7A94C38}"/>
              </a:ext>
            </a:extLst>
          </p:cNvPr>
          <p:cNvSpPr/>
          <p:nvPr userDrawn="1"/>
        </p:nvSpPr>
        <p:spPr>
          <a:xfrm>
            <a:off x="12170643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CD913A-2549-E033-A2DE-5A9D31B9EC1F}"/>
              </a:ext>
            </a:extLst>
          </p:cNvPr>
          <p:cNvSpPr/>
          <p:nvPr userDrawn="1"/>
        </p:nvSpPr>
        <p:spPr>
          <a:xfrm>
            <a:off x="18100562" y="6126438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581AB6-15B1-F96E-DC0D-8713ADBBEAEC}"/>
              </a:ext>
            </a:extLst>
          </p:cNvPr>
          <p:cNvSpPr/>
          <p:nvPr userDrawn="1"/>
        </p:nvSpPr>
        <p:spPr>
          <a:xfrm>
            <a:off x="12170643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C045D1-F006-DF58-B843-0C898475C47B}"/>
              </a:ext>
            </a:extLst>
          </p:cNvPr>
          <p:cNvSpPr/>
          <p:nvPr userDrawn="1"/>
        </p:nvSpPr>
        <p:spPr>
          <a:xfrm>
            <a:off x="18100562" y="8911340"/>
            <a:ext cx="5251563" cy="2274966"/>
          </a:xfrm>
          <a:prstGeom prst="roundRect">
            <a:avLst>
              <a:gd name="adj" fmla="val 11307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745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80ED3F-48AE-DCA2-6B60-CE356ACFF1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0288" y="1096964"/>
            <a:ext cx="22321836" cy="5545013"/>
          </a:xfrm>
          <a:custGeom>
            <a:avLst/>
            <a:gdLst>
              <a:gd name="connsiteX0" fmla="*/ 638730 w 22321836"/>
              <a:gd name="connsiteY0" fmla="*/ 0 h 5545013"/>
              <a:gd name="connsiteX1" fmla="*/ 21683108 w 22321836"/>
              <a:gd name="connsiteY1" fmla="*/ 0 h 5545013"/>
              <a:gd name="connsiteX2" fmla="*/ 22321836 w 22321836"/>
              <a:gd name="connsiteY2" fmla="*/ 638730 h 5545013"/>
              <a:gd name="connsiteX3" fmla="*/ 22321836 w 22321836"/>
              <a:gd name="connsiteY3" fmla="*/ 4906283 h 5545013"/>
              <a:gd name="connsiteX4" fmla="*/ 21683108 w 22321836"/>
              <a:gd name="connsiteY4" fmla="*/ 5545013 h 5545013"/>
              <a:gd name="connsiteX5" fmla="*/ 638730 w 22321836"/>
              <a:gd name="connsiteY5" fmla="*/ 5545013 h 5545013"/>
              <a:gd name="connsiteX6" fmla="*/ 0 w 22321836"/>
              <a:gd name="connsiteY6" fmla="*/ 4906283 h 5545013"/>
              <a:gd name="connsiteX7" fmla="*/ 0 w 22321836"/>
              <a:gd name="connsiteY7" fmla="*/ 638730 h 5545013"/>
              <a:gd name="connsiteX8" fmla="*/ 638730 w 22321836"/>
              <a:gd name="connsiteY8" fmla="*/ 0 h 5545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1836" h="5545013">
                <a:moveTo>
                  <a:pt x="638730" y="0"/>
                </a:moveTo>
                <a:lnTo>
                  <a:pt x="21683108" y="0"/>
                </a:lnTo>
                <a:cubicBezTo>
                  <a:pt x="22035868" y="0"/>
                  <a:pt x="22321836" y="285969"/>
                  <a:pt x="22321836" y="638730"/>
                </a:cubicBezTo>
                <a:lnTo>
                  <a:pt x="22321836" y="4906283"/>
                </a:lnTo>
                <a:cubicBezTo>
                  <a:pt x="22321836" y="5259044"/>
                  <a:pt x="22035868" y="5545013"/>
                  <a:pt x="21683108" y="5545013"/>
                </a:cubicBezTo>
                <a:lnTo>
                  <a:pt x="638730" y="5545013"/>
                </a:lnTo>
                <a:cubicBezTo>
                  <a:pt x="285969" y="5545013"/>
                  <a:pt x="0" y="5259044"/>
                  <a:pt x="0" y="4906283"/>
                </a:cubicBezTo>
                <a:lnTo>
                  <a:pt x="0" y="638730"/>
                </a:lnTo>
                <a:cubicBezTo>
                  <a:pt x="0" y="285969"/>
                  <a:pt x="285969" y="0"/>
                  <a:pt x="638730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855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99EDF11-F2A0-3130-9E81-65407DCCF4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86582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449770-ECAB-2E86-FCCF-296AC3138D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8658200"/>
            <a:ext cx="24382413" cy="5057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39211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3E89ECC-3026-149C-27C7-58DF9A6FE1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4382413" cy="1009836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>
              <a:defRPr sz="32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7239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0890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62" r:id="rId3"/>
    <p:sldLayoutId id="2147483663" r:id="rId4"/>
    <p:sldLayoutId id="2147483688" r:id="rId5"/>
    <p:sldLayoutId id="2147483664" r:id="rId6"/>
    <p:sldLayoutId id="2147483668" r:id="rId7"/>
    <p:sldLayoutId id="2147483665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  <p:sldLayoutId id="2147483676" r:id="rId17"/>
    <p:sldLayoutId id="2147483678" r:id="rId18"/>
    <p:sldLayoutId id="2147483679" r:id="rId19"/>
    <p:sldLayoutId id="2147483680" r:id="rId20"/>
    <p:sldLayoutId id="2147483681" r:id="rId21"/>
    <p:sldLayoutId id="2147483684" r:id="rId22"/>
    <p:sldLayoutId id="2147483685" r:id="rId23"/>
    <p:sldLayoutId id="2147483687" r:id="rId24"/>
    <p:sldLayoutId id="2147483686" r:id="rId25"/>
    <p:sldLayoutId id="2147483666" r:id="rId26"/>
    <p:sldLayoutId id="2147483667" r:id="rId27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bm.com/mx-es/topics/data-mining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sa/3.0/" TargetMode="External"/><Relationship Id="rId3" Type="http://schemas.openxmlformats.org/officeDocument/2006/relationships/image" Target="../media/image27.svg"/><Relationship Id="rId7" Type="http://schemas.openxmlformats.org/officeDocument/2006/relationships/hyperlink" Target="https://www.tuinstitutoonline.com/cursos/bbdd/basebasico1_v19es/02tablas.php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9.png"/><Relationship Id="rId5" Type="http://schemas.microsoft.com/office/2007/relationships/hdphoto" Target="../media/hdphoto1.wdp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8170DD38-E9C3-D315-4E4F-FEE67F936025}"/>
              </a:ext>
            </a:extLst>
          </p:cNvPr>
          <p:cNvSpPr txBox="1"/>
          <p:nvPr/>
        </p:nvSpPr>
        <p:spPr>
          <a:xfrm>
            <a:off x="11887199" y="4157260"/>
            <a:ext cx="11456832" cy="540147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1500" b="1" dirty="0">
                <a:latin typeface="Avenir Next LT Pro"/>
                <a:ea typeface="Inter Tight" pitchFamily="2" charset="0"/>
                <a:cs typeface="Inter Tight" pitchFamily="2" charset="0"/>
              </a:rPr>
              <a:t>Data Warehouse</a:t>
            </a:r>
          </a:p>
          <a:p>
            <a:r>
              <a:rPr lang="en-US" sz="11500" b="1" dirty="0">
                <a:latin typeface="Avenir Next LT Pro"/>
                <a:ea typeface="Inter Tight" pitchFamily="2" charset="0"/>
                <a:cs typeface="Inter Tight" pitchFamily="2" charset="0"/>
              </a:rPr>
              <a:t>- DWH -</a:t>
            </a:r>
            <a:endParaRPr lang="id-ID" sz="11500" b="1" dirty="0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500D8B-D499-5E34-5254-B65391837836}"/>
              </a:ext>
            </a:extLst>
          </p:cNvPr>
          <p:cNvSpPr/>
          <p:nvPr/>
        </p:nvSpPr>
        <p:spPr>
          <a:xfrm>
            <a:off x="1038382" y="2321497"/>
            <a:ext cx="3404913" cy="7416823"/>
          </a:xfrm>
          <a:prstGeom prst="roundRect">
            <a:avLst>
              <a:gd name="adj" fmla="val 23139"/>
            </a:avLst>
          </a:prstGeom>
          <a:gradFill>
            <a:gsLst>
              <a:gs pos="88000">
                <a:srgbClr val="120B3E"/>
              </a:gs>
              <a:gs pos="17000">
                <a:srgbClr val="8236FB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C6BD77-AA1F-DB29-28F1-167585FAFA3F}"/>
              </a:ext>
            </a:extLst>
          </p:cNvPr>
          <p:cNvSpPr/>
          <p:nvPr/>
        </p:nvSpPr>
        <p:spPr>
          <a:xfrm>
            <a:off x="5761914" y="11207334"/>
            <a:ext cx="3404913" cy="7416823"/>
          </a:xfrm>
          <a:prstGeom prst="roundRect">
            <a:avLst>
              <a:gd name="adj" fmla="val 23139"/>
            </a:avLst>
          </a:prstGeom>
          <a:noFill/>
          <a:ln w="28575">
            <a:solidFill>
              <a:srgbClr val="00FFF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6B353F-15F1-BA6F-0504-E29ECC5D3A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F45D392-7F28-9407-9A19-CFED59C3C0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11" name="Graphic 5">
            <a:extLst>
              <a:ext uri="{FF2B5EF4-FFF2-40B4-BE49-F238E27FC236}">
                <a16:creationId xmlns:a16="http://schemas.microsoft.com/office/drawing/2014/main" id="{72174874-2D56-A996-7746-ED114C41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79" y="2050586"/>
            <a:ext cx="2628290" cy="53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A500-4BE8-C243-54F6-9134F792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6A0BB19-7A16-C269-B10F-4CC9D7229AF9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¿Un data… que?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06839AF-4CF8-21A4-528A-5C90F80195AD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A4BA3B5F-DBEF-F882-DC5E-2E88339DC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2E67B8A-4157-0AD9-7510-EA0642ED06D1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D0680820-E6D7-A8FD-F4B5-8D8730CCD328}"/>
              </a:ext>
            </a:extLst>
          </p:cNvPr>
          <p:cNvSpPr txBox="1"/>
          <p:nvPr/>
        </p:nvSpPr>
        <p:spPr>
          <a:xfrm>
            <a:off x="2022724" y="4735503"/>
            <a:ext cx="1232872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4000" dirty="0"/>
              <a:t>Un data </a:t>
            </a:r>
            <a:r>
              <a:rPr lang="es-MX" sz="4000" dirty="0" err="1"/>
              <a:t>warehouse</a:t>
            </a:r>
            <a:r>
              <a:rPr lang="es-MX" sz="4000" dirty="0"/>
              <a:t> es un sistema de </a:t>
            </a:r>
            <a:r>
              <a:rPr lang="es-MX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almacenamiento de datos</a:t>
            </a:r>
            <a:r>
              <a:rPr lang="es-MX" sz="4000" dirty="0"/>
              <a:t> diseñado para recopilar, consolidar y analizar grandes volúmenes de datos </a:t>
            </a:r>
            <a:r>
              <a:rPr lang="es-MX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provenientes de diversas fuentes</a:t>
            </a:r>
            <a:r>
              <a:rPr lang="es-MX" sz="4000" dirty="0"/>
              <a:t>. Su objetivo principal es proporcionar una visión global y coherente de la información para apoyar la toma de decisiones estratégicas en una organización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E62C30-C861-0B62-6846-590CF6375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9558" y="3905672"/>
            <a:ext cx="7829128" cy="7829128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5427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51635-7D0F-82F9-A799-1C30769C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C018230-F6FD-8F4C-0602-E6986FF3A7FD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Características Clave: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37D337A-FC72-74F4-EEFD-075BA6DE16D0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71A0B209-DCCD-07C9-E056-BA37AD54F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5FEC2321-A196-769D-B17F-02819DAA23AB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EF16EE1C-031A-E8A6-AFE1-E149812CA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658439"/>
              </p:ext>
            </p:extLst>
          </p:nvPr>
        </p:nvGraphicFramePr>
        <p:xfrm>
          <a:off x="1101974" y="3719259"/>
          <a:ext cx="10657184" cy="895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63F9FAF-D6EF-2F05-072E-9333EE36EA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988700"/>
              </p:ext>
            </p:extLst>
          </p:nvPr>
        </p:nvGraphicFramePr>
        <p:xfrm>
          <a:off x="12407230" y="3719259"/>
          <a:ext cx="10657184" cy="895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6251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7D3657D-F621-4AF8-9C72-0485046FC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D058184-D9C5-467D-9F8A-3DA81D03E3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CA7410-6F8C-4B15-BE04-117C76AAF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F2D89FD-3AD9-4C1D-9392-BCF74BC12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D3657D-F621-4AF8-9C72-0485046FC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058184-D9C5-467D-9F8A-3DA81D03E3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CA7410-6F8C-4B15-BE04-117C76AAF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2D89FD-3AD9-4C1D-9392-BCF74BC12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Graphic spid="4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6C7B7-23C5-E639-7F26-B3D231CE7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2A0037C-62BF-C0FF-6552-6D62B6AA0AC2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Características Clave: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6C350B0-F31A-98A7-551B-5DCF4CE4C13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B7694383-1D64-0D33-C653-6F24B3852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B4B329A3-4F59-9F9D-DD54-7843264A8AF1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6EB2B0CD-79B4-F8D8-31FC-38F6008CF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5340223"/>
              </p:ext>
            </p:extLst>
          </p:nvPr>
        </p:nvGraphicFramePr>
        <p:xfrm>
          <a:off x="1101974" y="3719259"/>
          <a:ext cx="10657184" cy="895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F310E64-0DCC-079F-40E9-478FB0A46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9015163"/>
              </p:ext>
            </p:extLst>
          </p:nvPr>
        </p:nvGraphicFramePr>
        <p:xfrm>
          <a:off x="12407230" y="3719259"/>
          <a:ext cx="10657184" cy="895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75644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7D3657D-F621-4AF8-9C72-0485046FC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D058184-D9C5-467D-9F8A-3DA81D03E3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7CA7410-6F8C-4B15-BE04-117C76AAF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F2D89FD-3AD9-4C1D-9392-BCF74BC12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D3657D-F621-4AF8-9C72-0485046FC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058184-D9C5-467D-9F8A-3DA81D03E3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CA7410-6F8C-4B15-BE04-117C76AAF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2D89FD-3AD9-4C1D-9392-BCF74BC12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  <p:bldGraphic spid="4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6335-0610-5525-8174-AF5C3089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0CFA1E0-F2F4-A3BA-C05A-07C1177E2390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Estructura Básica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5B26C41-30BB-14C1-EC18-1BB91BFC58D1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FEF01FE9-4FB0-DFC9-9F6B-BCA730166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47D5B7AE-5105-6648-C6E1-C45B9DFBF992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2" descr="Introducción a los cubos OLAP para análisis avanzados | Microsoft Learn">
            <a:extLst>
              <a:ext uri="{FF2B5EF4-FFF2-40B4-BE49-F238E27FC236}">
                <a16:creationId xmlns:a16="http://schemas.microsoft.com/office/drawing/2014/main" id="{BDE1025C-1049-3919-DCEE-B83EFA2E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118" y="4507740"/>
            <a:ext cx="19586176" cy="65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72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3C64-D698-1D87-DD5A-D819AFCF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C1DD02F-065E-CE71-4927-99BBE41126C1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Caso Práctico – Uso de Data </a:t>
            </a:r>
            <a:r>
              <a:rPr lang="es-MX" dirty="0" err="1"/>
              <a:t>Warehouse</a:t>
            </a:r>
            <a:r>
              <a:rPr lang="es-MX" dirty="0"/>
              <a:t> en una Cadena de Supermercados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2D871D9-4A5F-9DD0-E666-AF701BF729A5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469A5A96-FBC5-288E-8C47-B59F490F5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02656CAE-8931-35BF-D5FF-73CA8EE079F2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Gráfico 2" descr="Documento con relleno sólido">
            <a:extLst>
              <a:ext uri="{FF2B5EF4-FFF2-40B4-BE49-F238E27FC236}">
                <a16:creationId xmlns:a16="http://schemas.microsoft.com/office/drawing/2014/main" id="{6CA05E0D-98FC-4012-CF07-18A899FA6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55665" y="7268895"/>
            <a:ext cx="1520717" cy="1520717"/>
          </a:xfrm>
          <a:prstGeom prst="rect">
            <a:avLst/>
          </a:prstGeom>
        </p:spPr>
      </p:pic>
      <p:pic>
        <p:nvPicPr>
          <p:cNvPr id="4" name="Gráfico 3" descr="Trabajo remoto con relleno sólido">
            <a:extLst>
              <a:ext uri="{FF2B5EF4-FFF2-40B4-BE49-F238E27FC236}">
                <a16:creationId xmlns:a16="http://schemas.microsoft.com/office/drawing/2014/main" id="{E83682CA-9130-E1E4-4626-6551F18D31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55665" y="11691085"/>
            <a:ext cx="1520717" cy="1520717"/>
          </a:xfrm>
          <a:prstGeom prst="rect">
            <a:avLst/>
          </a:prstGeom>
        </p:spPr>
      </p:pic>
      <p:pic>
        <p:nvPicPr>
          <p:cNvPr id="7" name="Gráfico 6" descr="Estadísticas con relleno sólido">
            <a:extLst>
              <a:ext uri="{FF2B5EF4-FFF2-40B4-BE49-F238E27FC236}">
                <a16:creationId xmlns:a16="http://schemas.microsoft.com/office/drawing/2014/main" id="{5CCD3754-9A06-89AF-2085-4DD61F4F77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255665" y="9479990"/>
            <a:ext cx="1520717" cy="1520717"/>
          </a:xfrm>
          <a:prstGeom prst="rect">
            <a:avLst/>
          </a:prstGeom>
        </p:spPr>
      </p:pic>
      <p:pic>
        <p:nvPicPr>
          <p:cNvPr id="9" name="Gráfico 8" descr="Base de datos con relleno sólido">
            <a:extLst>
              <a:ext uri="{FF2B5EF4-FFF2-40B4-BE49-F238E27FC236}">
                <a16:creationId xmlns:a16="http://schemas.microsoft.com/office/drawing/2014/main" id="{F85E8688-4B3B-0FD2-26B3-8B479788B9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55665" y="5057800"/>
            <a:ext cx="1520717" cy="1520717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A10D34F0-7DEA-7CCE-ED0A-56E81F896CDC}"/>
              </a:ext>
            </a:extLst>
          </p:cNvPr>
          <p:cNvSpPr txBox="1"/>
          <p:nvPr/>
        </p:nvSpPr>
        <p:spPr>
          <a:xfrm>
            <a:off x="2022724" y="5151283"/>
            <a:ext cx="17585306" cy="79714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200" dirty="0"/>
              <a:t>Una cadena de supermercados busca optimizar su estrategia comercial analizando las ventas de los últimos cinco años. Para ello, implementa un Data </a:t>
            </a:r>
            <a:r>
              <a:rPr lang="es-MX" sz="3200" dirty="0" err="1"/>
              <a:t>Warehouse</a:t>
            </a:r>
            <a:r>
              <a:rPr lang="es-MX" sz="3200" dirty="0"/>
              <a:t>, que le permite:</a:t>
            </a:r>
          </a:p>
          <a:p>
            <a:pPr lvl="0"/>
            <a:endParaRPr lang="es-MX" sz="3200" dirty="0"/>
          </a:p>
          <a:p>
            <a:pPr marL="514350" lvl="0" indent="-514350">
              <a:buFont typeface="+mj-lt"/>
              <a:buAutoNum type="arabicPeriod"/>
            </a:pPr>
            <a:r>
              <a:rPr lang="es-MX" sz="3200" dirty="0"/>
              <a:t>Centralizar los datos históricos de ventas provenientes de múltiples sucursales, integrando información de sistemas de facturación, inventarios y programas de fidelización.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3200" dirty="0"/>
              <a:t>Estandarizar y limpiar los datos, eliminando inconsistencias y asegurando calidad en la información almacenada.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3200" dirty="0"/>
              <a:t>Facilitar el análisis de tendencias, permitiendo identificar patrones de compra según temporada, ubicación geográfica y preferencias de los clientes.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3200" dirty="0"/>
              <a:t>Optimizar la toma de decisiones, utilizando herramientas de Business </a:t>
            </a:r>
            <a:r>
              <a:rPr lang="es-MX" sz="3200" dirty="0" err="1"/>
              <a:t>Intelligence</a:t>
            </a:r>
            <a:r>
              <a:rPr lang="es-MX" sz="3200" dirty="0"/>
              <a:t> para generar informes dinámicos y </a:t>
            </a:r>
            <a:r>
              <a:rPr lang="es-MX" sz="3200" dirty="0" err="1"/>
              <a:t>dashboards</a:t>
            </a:r>
            <a:r>
              <a:rPr lang="es-MX" sz="3200" dirty="0"/>
              <a:t> interactivos.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s-MX" sz="3200" dirty="0"/>
              <a:t>Mejorar la planificación estratégica, ayudando a definir qué productos promocionar, ajustar precios y decidir en qué regiones abrir nuevas tiendas.</a:t>
            </a:r>
          </a:p>
          <a:p>
            <a:pPr lvl="0"/>
            <a:endParaRPr lang="es-MX" sz="3200" dirty="0"/>
          </a:p>
          <a:p>
            <a:pPr lvl="0"/>
            <a:r>
              <a:rPr lang="es-MX" sz="3200" dirty="0"/>
              <a:t>Este enfoque permite a la empresa reducir costos, mejorar la eficiencia operativa y aumentar la satisfacción del cliente al anticipar sus necesidades.</a:t>
            </a:r>
          </a:p>
        </p:txBody>
      </p:sp>
    </p:spTree>
    <p:extLst>
      <p:ext uri="{BB962C8B-B14F-4D97-AF65-F5344CB8AC3E}">
        <p14:creationId xmlns:p14="http://schemas.microsoft.com/office/powerpoint/2010/main" val="197218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D8B91-B2E8-BA69-19AF-B0155FD7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15B5F86-DB21-3BB3-E0A9-A7A15DC7F7CA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Arquitectura de un DWH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20371FB-B8A8-70F0-FBCF-57C6EF38B0D3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3C57EC69-FCB2-4A92-A82F-6F36CC9A0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2C0E95E-1F80-45C7-21E2-A72EDFC980CA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DE051871-EED8-A7BA-4CE7-0E664B7E1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46" y="4416533"/>
            <a:ext cx="11881320" cy="5639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887D65A-1ED1-6C06-8D07-E83893BD2111}"/>
              </a:ext>
            </a:extLst>
          </p:cNvPr>
          <p:cNvSpPr txBox="1"/>
          <p:nvPr/>
        </p:nvSpPr>
        <p:spPr>
          <a:xfrm>
            <a:off x="590052" y="4337720"/>
            <a:ext cx="42563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s-MX" sz="2400" kern="0" dirty="0">
                <a:solidFill>
                  <a:srgbClr val="FFFFFF"/>
                </a:solidFill>
                <a:latin typeface="-apple-system"/>
                <a:cs typeface="Arial"/>
                <a:sym typeface="Arial"/>
              </a:rPr>
              <a:t>Sistemas Fuente:</a:t>
            </a:r>
          </a:p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s-MX" sz="2400" kern="0" dirty="0">
                <a:solidFill>
                  <a:srgbClr val="FFFFFF"/>
                </a:solidFill>
                <a:latin typeface="-apple-system"/>
                <a:cs typeface="Arial"/>
                <a:sym typeface="Arial"/>
              </a:rPr>
              <a:t>- Bases de datos operacionales: Sistemas de gestión de ventas, CRM, ERP, etc.</a:t>
            </a:r>
          </a:p>
          <a:p>
            <a:pPr defTabSz="914400">
              <a:buClr>
                <a:srgbClr val="000000"/>
              </a:buClr>
              <a:buFont typeface="Arial"/>
              <a:buNone/>
            </a:pPr>
            <a:r>
              <a:rPr lang="es-MX" sz="2400" kern="0" dirty="0">
                <a:solidFill>
                  <a:srgbClr val="FFFFFF"/>
                </a:solidFill>
                <a:latin typeface="-apple-system"/>
                <a:cs typeface="Arial"/>
                <a:sym typeface="Arial"/>
              </a:rPr>
              <a:t>- Fuentes externas: Archivos CSV, datos de redes sociales, </a:t>
            </a:r>
            <a:r>
              <a:rPr lang="es-MX" sz="2400" kern="0" dirty="0" err="1">
                <a:solidFill>
                  <a:srgbClr val="FFFFFF"/>
                </a:solidFill>
                <a:latin typeface="-apple-system"/>
                <a:cs typeface="Arial"/>
                <a:sym typeface="Arial"/>
              </a:rPr>
              <a:t>APIs</a:t>
            </a:r>
            <a:r>
              <a:rPr lang="es-MX" sz="2400" kern="0" dirty="0">
                <a:solidFill>
                  <a:srgbClr val="FFFFFF"/>
                </a:solidFill>
                <a:latin typeface="-apple-system"/>
                <a:cs typeface="Arial"/>
                <a:sym typeface="Arial"/>
              </a:rPr>
              <a:t> externas.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5F00233-A91D-A61F-2D20-D5DB36B4F1B6}"/>
              </a:ext>
            </a:extLst>
          </p:cNvPr>
          <p:cNvSpPr txBox="1"/>
          <p:nvPr/>
        </p:nvSpPr>
        <p:spPr>
          <a:xfrm>
            <a:off x="5782494" y="10386392"/>
            <a:ext cx="60200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Área de </a:t>
            </a:r>
            <a:r>
              <a:rPr kumimoji="0" lang="es-MX" sz="2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Staging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Extracción: Los datos se extraen de los sistemas fuente.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Transformación: Los datos se limpian y transforman para asegurar consistencia y calidad.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Carga: Los datos transformados se cargan en el data </a:t>
            </a:r>
            <a:r>
              <a:rPr kumimoji="0" lang="es-MX" sz="2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warehouse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A15270F-0D1B-39C0-10A7-B5C8DF46F6AF}"/>
              </a:ext>
            </a:extLst>
          </p:cNvPr>
          <p:cNvSpPr txBox="1"/>
          <p:nvPr/>
        </p:nvSpPr>
        <p:spPr>
          <a:xfrm>
            <a:off x="12623254" y="10386392"/>
            <a:ext cx="50764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Data </a:t>
            </a:r>
            <a:r>
              <a:rPr kumimoji="0" lang="es-MX" sz="2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Marts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Subconjuntos de datos: Datos específicos para diferentes departamentos o áreas de negocio.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MX" sz="2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-apple-system"/>
              <a:cs typeface="Arial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44E8978-1DC5-AF0E-8729-C2086A0F3479}"/>
              </a:ext>
            </a:extLst>
          </p:cNvPr>
          <p:cNvSpPr txBox="1"/>
          <p:nvPr/>
        </p:nvSpPr>
        <p:spPr>
          <a:xfrm>
            <a:off x="18959958" y="4444711"/>
            <a:ext cx="47886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Data </a:t>
            </a:r>
            <a:r>
              <a:rPr kumimoji="0" lang="es-MX" sz="2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mining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 (minería de datos) es el proceso de descubrir patrones, tendencias y relaciones significativas en grandes conjuntos de datos mediante el uso de técnicas de estadística, aprendizaje automático y análisis de bases de datos. 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Este proceso permite transformar datos sin procesar en información útil para la toma de decisiones estratégicas</a:t>
            </a:r>
            <a:endParaRPr kumimoji="0" lang="es-SV" sz="24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15B8E58-3299-C288-6EFE-B0C600FCC5F8}"/>
              </a:ext>
            </a:extLst>
          </p:cNvPr>
          <p:cNvSpPr txBox="1"/>
          <p:nvPr/>
        </p:nvSpPr>
        <p:spPr>
          <a:xfrm>
            <a:off x="19125413" y="10053007"/>
            <a:ext cx="4788679" cy="3046988"/>
          </a:xfrm>
          <a:prstGeom prst="rect">
            <a:avLst/>
          </a:prstGeom>
          <a:solidFill>
            <a:srgbClr val="001633">
              <a:lumMod val="90000"/>
              <a:lumOff val="1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- Consultas y reportes: Herramientas que permiten a los usuarios finales realizar consultas ad hoc y generar reportes.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- Visualización de datos: </a:t>
            </a:r>
            <a:r>
              <a:rPr kumimoji="0" lang="es-MX" sz="240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Dashboards</a:t>
            </a:r>
            <a:r>
              <a:rPr kumimoji="0" lang="es-MX" sz="24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-apple-system"/>
                <a:cs typeface="Arial"/>
                <a:sym typeface="Arial"/>
              </a:rPr>
              <a:t> y gráficos interactivos para facilitar la interpretación de los datos.</a:t>
            </a:r>
          </a:p>
        </p:txBody>
      </p:sp>
    </p:spTree>
    <p:extLst>
      <p:ext uri="{BB962C8B-B14F-4D97-AF65-F5344CB8AC3E}">
        <p14:creationId xmlns:p14="http://schemas.microsoft.com/office/powerpoint/2010/main" val="228960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1D7A4FD9-4BD5-2C4A-C5C7-29988D0E94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68FE60-E435-381E-65CD-C5970723CF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7025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F1956132-9C20-A067-A573-24E3077E1E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BC7F15-2644-CF05-0F66-7D7AFB88FE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24774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5E3D-85F7-9AA9-EBBA-FA455E79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E2A63035-316B-01B6-EA1F-DA5D179F10A3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Arquitectura Funcional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FF26C30-D3C6-54B2-CEC2-00B9BD1864C3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01CB3B68-19D1-F8FA-DD89-413007D28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A8DA5E2-CA49-7E2B-3462-30F615902A37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5834D6E-8491-981B-C99E-96FF7FFB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239" y="4265712"/>
            <a:ext cx="15501934" cy="842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53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0250-99D3-DB22-CE62-B6CBF4A2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2C9CE40-093A-26A2-FBBC-1159DFBCAA5F}"/>
              </a:ext>
            </a:extLst>
          </p:cNvPr>
          <p:cNvSpPr txBox="1"/>
          <p:nvPr/>
        </p:nvSpPr>
        <p:spPr>
          <a:xfrm>
            <a:off x="1925642" y="2339555"/>
            <a:ext cx="210667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Dos enfoques para la creación de un DWH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D94C86A8-7EE5-7AC8-197A-871C99FF16E4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C939A0D9-F272-2F29-5F51-01368836A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F67CB3A-B473-64B9-A9D8-3306A55E5601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oogle Shape;1994;p57">
            <a:extLst>
              <a:ext uri="{FF2B5EF4-FFF2-40B4-BE49-F238E27FC236}">
                <a16:creationId xmlns:a16="http://schemas.microsoft.com/office/drawing/2014/main" id="{5D91051C-B914-DEE8-B6B8-8AD359540D72}"/>
              </a:ext>
            </a:extLst>
          </p:cNvPr>
          <p:cNvSpPr txBox="1">
            <a:spLocks/>
          </p:cNvSpPr>
          <p:nvPr/>
        </p:nvSpPr>
        <p:spPr>
          <a:xfrm>
            <a:off x="3046190" y="5704862"/>
            <a:ext cx="7488832" cy="3385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r>
              <a:rPr lang="es-MX" sz="2800" i="1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Comienza con una visión global y estratégica de la organización y desciende a los detalles específicos.</a:t>
            </a:r>
          </a:p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Ventajas:</a:t>
            </a:r>
          </a:p>
          <a:p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Coherencia e Integración: Visión integrada y coherente de los datos.</a:t>
            </a:r>
          </a:p>
          <a:p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Alineación Estratégica: Alineado con los objetivos estratégicos de la organización.</a:t>
            </a:r>
          </a:p>
          <a:p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Escalabilidad: Permite expansión y mejora continua.</a:t>
            </a:r>
          </a:p>
          <a:p>
            <a:pPr marL="139700" indent="0">
              <a:buFont typeface="Arial" panose="020B0604020202020204" pitchFamily="34" charset="0"/>
              <a:buNone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Google Shape;1996;p57">
            <a:extLst>
              <a:ext uri="{FF2B5EF4-FFF2-40B4-BE49-F238E27FC236}">
                <a16:creationId xmlns:a16="http://schemas.microsoft.com/office/drawing/2014/main" id="{FB7B0208-ECBC-481C-21CD-0278100D52B8}"/>
              </a:ext>
            </a:extLst>
          </p:cNvPr>
          <p:cNvSpPr txBox="1">
            <a:spLocks/>
          </p:cNvSpPr>
          <p:nvPr/>
        </p:nvSpPr>
        <p:spPr>
          <a:xfrm>
            <a:off x="3046190" y="4193704"/>
            <a:ext cx="7488832" cy="9804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8287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SV" sz="6000" dirty="0"/>
              <a:t>Enfoque Top-Down</a:t>
            </a:r>
          </a:p>
        </p:txBody>
      </p:sp>
      <p:sp>
        <p:nvSpPr>
          <p:cNvPr id="7" name="Google Shape;1997;p57">
            <a:extLst>
              <a:ext uri="{FF2B5EF4-FFF2-40B4-BE49-F238E27FC236}">
                <a16:creationId xmlns:a16="http://schemas.microsoft.com/office/drawing/2014/main" id="{5AA88781-41CA-9FFC-3DB0-C98788CE0F72}"/>
              </a:ext>
            </a:extLst>
          </p:cNvPr>
          <p:cNvSpPr txBox="1">
            <a:spLocks/>
          </p:cNvSpPr>
          <p:nvPr/>
        </p:nvSpPr>
        <p:spPr>
          <a:xfrm>
            <a:off x="12696750" y="4193704"/>
            <a:ext cx="7488832" cy="9804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82870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SV" sz="6000" dirty="0"/>
              <a:t>Enfoque Bottom-Up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A64C5E1-FE84-8ED2-28BB-76AAC68F2600}"/>
              </a:ext>
            </a:extLst>
          </p:cNvPr>
          <p:cNvSpPr txBox="1">
            <a:spLocks/>
          </p:cNvSpPr>
          <p:nvPr/>
        </p:nvSpPr>
        <p:spPr>
          <a:xfrm>
            <a:off x="12695262" y="5704862"/>
            <a:ext cx="7488832" cy="3385386"/>
          </a:xfrm>
          <a:prstGeom prst="rect">
            <a:avLst/>
          </a:prstGeom>
        </p:spPr>
        <p:txBody>
          <a:bodyPr/>
          <a:lstStyle>
            <a:lvl1pPr marL="457177" indent="-457177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r>
              <a:rPr lang="es-MX" sz="2800" i="1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Comienza con la creación de data </a:t>
            </a:r>
            <a:r>
              <a:rPr lang="es-MX" sz="2800" i="1" dirty="0" err="1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marts</a:t>
            </a:r>
            <a:r>
              <a:rPr lang="es-MX" sz="2800" i="1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específicos y luego se integran para formar el data </a:t>
            </a:r>
            <a:r>
              <a:rPr lang="es-MX" sz="2800" i="1" dirty="0" err="1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warehouse</a:t>
            </a:r>
            <a:r>
              <a:rPr lang="es-MX" sz="2800" i="1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completo.</a:t>
            </a: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indent="0">
              <a:spcBef>
                <a:spcPts val="0"/>
              </a:spcBef>
              <a:buSzPts val="1400"/>
              <a:buFont typeface="Arial" panose="020B0604020202020204" pitchFamily="34" charset="0"/>
              <a:buNone/>
            </a:pP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Ventajas:</a:t>
            </a: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Rápida Implementación</a:t>
            </a: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Flexibilidad: Adaptable a las necesidades cambiantes de la organización.</a:t>
            </a: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endParaRPr lang="es-MX" sz="2800" dirty="0">
              <a:latin typeface="Montserra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317500">
              <a:spcBef>
                <a:spcPts val="0"/>
              </a:spcBef>
              <a:buSzPts val="1400"/>
              <a:buFont typeface="Arial" panose="020B0604020202020204" pitchFamily="34" charset="0"/>
              <a:buChar char="●"/>
            </a:pP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Menor Costo Inicial: Menor inversión inicial en comparación con el enfoque top-</a:t>
            </a:r>
            <a:r>
              <a:rPr lang="es-MX" sz="2800" dirty="0" err="1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down</a:t>
            </a:r>
            <a:r>
              <a:rPr lang="es-MX" sz="2800" dirty="0">
                <a:latin typeface="Montserrat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641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9F1B-1069-A13A-1D39-5533790D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94C3218-A241-A43E-09A6-5A6512AF4183}"/>
              </a:ext>
            </a:extLst>
          </p:cNvPr>
          <p:cNvSpPr txBox="1"/>
          <p:nvPr/>
        </p:nvSpPr>
        <p:spPr>
          <a:xfrm>
            <a:off x="1925642" y="2339555"/>
            <a:ext cx="210667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SV" dirty="0"/>
              <a:t>Otros enfoques en la creación de DWH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2B93C83-8E78-EA0E-06E4-B83326F80AC2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80E709C9-6345-85B0-B04E-C1945FB6F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503A0361-F0A2-AC84-F1CF-29DA9F297C64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12">
            <a:extLst>
              <a:ext uri="{FF2B5EF4-FFF2-40B4-BE49-F238E27FC236}">
                <a16:creationId xmlns:a16="http://schemas.microsoft.com/office/drawing/2014/main" id="{7F8C1FE8-F29D-3132-38F5-00BE50E0A43A}"/>
              </a:ext>
            </a:extLst>
          </p:cNvPr>
          <p:cNvSpPr txBox="1"/>
          <p:nvPr/>
        </p:nvSpPr>
        <p:spPr>
          <a:xfrm>
            <a:off x="2022724" y="5921897"/>
            <a:ext cx="8656314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600" dirty="0"/>
              <a:t>1. Arquitectura en la Nube</a:t>
            </a:r>
          </a:p>
          <a:p>
            <a:pPr lvl="0"/>
            <a:r>
              <a:rPr lang="es-MX" sz="3600" dirty="0"/>
              <a:t>Utiliza servicios en la nube para almacenar y procesar datos.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Ventajas: </a:t>
            </a:r>
          </a:p>
          <a:p>
            <a:pPr lvl="0"/>
            <a:r>
              <a:rPr lang="es-MX" sz="3600" dirty="0"/>
              <a:t>Escalabilidad, flexibilidad, y reducción de costos de infraestructura.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Ejemplos: Amazon </a:t>
            </a:r>
            <a:r>
              <a:rPr lang="es-MX" sz="3600" dirty="0" err="1"/>
              <a:t>Redshift</a:t>
            </a:r>
            <a:r>
              <a:rPr lang="es-MX" sz="3600" dirty="0"/>
              <a:t>, Google </a:t>
            </a:r>
            <a:r>
              <a:rPr lang="es-MX" sz="3600" dirty="0" err="1"/>
              <a:t>BigQuery</a:t>
            </a:r>
            <a:r>
              <a:rPr lang="es-MX" sz="3600" dirty="0"/>
              <a:t>, Microsoft Azure </a:t>
            </a:r>
            <a:r>
              <a:rPr lang="es-MX" sz="3600" dirty="0" err="1"/>
              <a:t>Synapse</a:t>
            </a:r>
            <a:r>
              <a:rPr lang="es-MX" sz="3600" dirty="0"/>
              <a:t>.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6A1CE1DD-343C-4E73-1E5D-113DBD053D16}"/>
              </a:ext>
            </a:extLst>
          </p:cNvPr>
          <p:cNvSpPr txBox="1"/>
          <p:nvPr/>
        </p:nvSpPr>
        <p:spPr>
          <a:xfrm>
            <a:off x="12191206" y="5921896"/>
            <a:ext cx="8656314" cy="74789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600" dirty="0"/>
              <a:t>2. Arquitectura de Tres Capas</a:t>
            </a:r>
          </a:p>
          <a:p>
            <a:pPr lvl="0"/>
            <a:r>
              <a:rPr lang="es-MX" sz="3600" dirty="0"/>
              <a:t>Consiste en tres capas: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s-MX" sz="3200" dirty="0"/>
              <a:t>Capa de Datos: Almacena los datos en bases de datos.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s-MX" sz="3200" dirty="0"/>
              <a:t>Capa de Aplicación: Procesa los datos y proporciona una vista abstracta.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s-MX" sz="3200" dirty="0"/>
              <a:t>Capa de Presentación: Herramientas y </a:t>
            </a:r>
            <a:r>
              <a:rPr lang="es-MX" sz="3200" dirty="0" err="1"/>
              <a:t>APIs</a:t>
            </a:r>
            <a:r>
              <a:rPr lang="es-MX" sz="3200" dirty="0"/>
              <a:t> para extraer y visualizar datos.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Ventajas: </a:t>
            </a:r>
          </a:p>
          <a:p>
            <a:pPr lvl="0"/>
            <a:r>
              <a:rPr lang="es-MX" sz="3600" dirty="0"/>
              <a:t>Separación clara de responsabilidades y mejor gestión de datos.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Ejemplos: </a:t>
            </a:r>
            <a:r>
              <a:rPr lang="es-MX" sz="3600" dirty="0" err="1"/>
              <a:t>Snowflake</a:t>
            </a:r>
            <a:r>
              <a:rPr lang="es-MX" sz="3600" dirty="0"/>
              <a:t>, Teradata.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4FB9157-B97C-20C8-CD6B-1C38DB1C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664" y="3797705"/>
            <a:ext cx="1959638" cy="195963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6DD7065-5B09-44D0-7AEC-A5E47E211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5173" y="3827547"/>
            <a:ext cx="1959638" cy="19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4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E403-B88B-58A0-47CA-86A339CB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4AE88941-CE38-A58F-1EE2-BB3CF51901BE}"/>
              </a:ext>
            </a:extLst>
          </p:cNvPr>
          <p:cNvSpPr txBox="1"/>
          <p:nvPr/>
        </p:nvSpPr>
        <p:spPr>
          <a:xfrm>
            <a:off x="1925642" y="2339555"/>
            <a:ext cx="210667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SV" dirty="0"/>
              <a:t>Otros enfoques en la creación de DWH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3AA6771-9266-C3C4-F60A-165EF8373087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9E5D0B20-8187-EE2F-4184-7554FC326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0209796C-E542-8BE4-D57B-820BCF51DB0B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12">
            <a:extLst>
              <a:ext uri="{FF2B5EF4-FFF2-40B4-BE49-F238E27FC236}">
                <a16:creationId xmlns:a16="http://schemas.microsoft.com/office/drawing/2014/main" id="{42136A83-1D5C-89C3-7D36-ED431D28F00F}"/>
              </a:ext>
            </a:extLst>
          </p:cNvPr>
          <p:cNvSpPr txBox="1"/>
          <p:nvPr/>
        </p:nvSpPr>
        <p:spPr>
          <a:xfrm>
            <a:off x="2022724" y="5921897"/>
            <a:ext cx="8656314" cy="67403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600" dirty="0"/>
              <a:t>3. Arquitectura de Almacenamiento Distribuido</a:t>
            </a:r>
          </a:p>
          <a:p>
            <a:pPr lvl="0"/>
            <a:r>
              <a:rPr lang="es-MX" sz="3600" dirty="0"/>
              <a:t>Utiliza sistemas de almacenamiento distribuidos para manejar grandes volúmenes de datos.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Ventajas: </a:t>
            </a:r>
          </a:p>
          <a:p>
            <a:pPr lvl="0"/>
            <a:r>
              <a:rPr lang="es-MX" sz="3600" dirty="0"/>
              <a:t>Alta disponibilidad, tolerancia a fallos, y escalabilidad horizontal.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Ejemplos: Apache Hadoop, Apache </a:t>
            </a:r>
            <a:r>
              <a:rPr lang="es-MX" sz="3600" dirty="0" err="1"/>
              <a:t>Cassandra</a:t>
            </a:r>
            <a:r>
              <a:rPr lang="es-MX" sz="3600" dirty="0"/>
              <a:t>.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96946CAC-D4C8-6E0F-63B8-2B7E11775D2A}"/>
              </a:ext>
            </a:extLst>
          </p:cNvPr>
          <p:cNvSpPr txBox="1"/>
          <p:nvPr/>
        </p:nvSpPr>
        <p:spPr>
          <a:xfrm>
            <a:off x="12191206" y="5921896"/>
            <a:ext cx="8656314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3600" dirty="0"/>
              <a:t>4. Arquitectura de Data Lake</a:t>
            </a:r>
          </a:p>
          <a:p>
            <a:pPr lvl="0"/>
            <a:r>
              <a:rPr lang="es-MX" sz="3600" dirty="0"/>
              <a:t>Almacena datos en su formato bruto y permite su procesamiento y análisis posterior.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Ventajas: </a:t>
            </a:r>
          </a:p>
          <a:p>
            <a:pPr lvl="0"/>
            <a:r>
              <a:rPr lang="es-MX" sz="3600" dirty="0"/>
              <a:t>Flexibilidad para almacenar datos estructurados y no estructurados.</a:t>
            </a:r>
          </a:p>
          <a:p>
            <a:pPr lvl="0"/>
            <a:endParaRPr lang="es-MX" sz="3600" dirty="0"/>
          </a:p>
          <a:p>
            <a:pPr lvl="0"/>
            <a:r>
              <a:rPr lang="es-MX" sz="3600" dirty="0"/>
              <a:t>Ejemplos: Amazon S3, Azure Data Lake.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D94489-A5E3-3242-3538-680E42B6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24" y="3645804"/>
            <a:ext cx="2088232" cy="208823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1BB5332-1E49-77E3-15D8-8EBF67B8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206" y="3662994"/>
            <a:ext cx="208823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7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CD0B-931C-2E17-EC79-CB34E608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DEB09F73-DDDD-B740-C83A-9A11775BBB59}"/>
              </a:ext>
            </a:extLst>
          </p:cNvPr>
          <p:cNvSpPr txBox="1"/>
          <p:nvPr/>
        </p:nvSpPr>
        <p:spPr>
          <a:xfrm>
            <a:off x="1925642" y="2339555"/>
            <a:ext cx="210667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SV" dirty="0"/>
              <a:t>Data </a:t>
            </a:r>
            <a:r>
              <a:rPr lang="es-SV" dirty="0" err="1"/>
              <a:t>lakehouse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DFE5294-0995-C532-C415-71B4FEC901D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7073494B-443D-0837-3AA0-1D3F3245F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F278D9C-94F5-0E59-51A5-D2C600EBC7FC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">
            <a:extLst>
              <a:ext uri="{FF2B5EF4-FFF2-40B4-BE49-F238E27FC236}">
                <a16:creationId xmlns:a16="http://schemas.microsoft.com/office/drawing/2014/main" id="{D362279B-941C-7023-C453-F78AC9E77543}"/>
              </a:ext>
            </a:extLst>
          </p:cNvPr>
          <p:cNvSpPr txBox="1"/>
          <p:nvPr/>
        </p:nvSpPr>
        <p:spPr>
          <a:xfrm>
            <a:off x="1922566" y="3861825"/>
            <a:ext cx="9620568" cy="8710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4000" dirty="0"/>
              <a:t>Un Data </a:t>
            </a:r>
            <a:r>
              <a:rPr lang="es-MX" sz="4000" dirty="0" err="1"/>
              <a:t>Lakehouse</a:t>
            </a:r>
            <a:r>
              <a:rPr lang="es-MX" sz="4000" dirty="0"/>
              <a:t> es una arquitectura moderna que combina las mejores características de un Data </a:t>
            </a:r>
            <a:r>
              <a:rPr lang="es-MX" sz="4000" dirty="0" err="1"/>
              <a:t>Warehouse</a:t>
            </a:r>
            <a:r>
              <a:rPr lang="es-MX" sz="4000" dirty="0"/>
              <a:t> y un Data Lake, permitiendo almacenamiento escalable y análisis eficiente de datos estructurados y no estructurados.</a:t>
            </a:r>
          </a:p>
          <a:p>
            <a:pPr lvl="0"/>
            <a:endParaRPr lang="es-MX" sz="4000" dirty="0"/>
          </a:p>
          <a:p>
            <a:pPr lvl="0"/>
            <a:r>
              <a:rPr lang="es-MX" sz="4000" dirty="0"/>
              <a:t>Una empresa de comercio electrónico utiliza un Data </a:t>
            </a:r>
            <a:r>
              <a:rPr lang="es-MX" sz="4000" dirty="0" err="1"/>
              <a:t>Lakehouse</a:t>
            </a:r>
            <a:r>
              <a:rPr lang="es-MX" sz="4000" dirty="0"/>
              <a:t> para almacenar datos de clientes, transacciones y comportamiento de navegación. Gracias a esta arquitectura, pueden realizar análisis en tiempo real para mejorar la personalización de ofertas y optimizar la experiencia del usuario.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16BBB36-52AD-CB24-D0B6-BA80A233B025}"/>
              </a:ext>
            </a:extLst>
          </p:cNvPr>
          <p:cNvSpPr txBox="1"/>
          <p:nvPr/>
        </p:nvSpPr>
        <p:spPr>
          <a:xfrm>
            <a:off x="12191206" y="3662994"/>
            <a:ext cx="1116124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3200" dirty="0"/>
              <a:t>Características Clave: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Unificación de almacenamiento y análisis: Permite almacenar datos en su forma original y analizarlos sin necesidad de transformaciones previas.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Soporte para datos estructurados y no estructurados: Facilita el procesamiento de datos provenientes de diversas fuentes, como bases de datos, archivos de texto, imágenes y videos.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Optimización para consultas analíticas: Utiliza técnicas avanzadas como indexación y procesamiento distribuido para mejorar el rendimiento.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Gestión de datos mejorada: Implementa controles de calidad, gobernanza y seguridad para garantizar la confiabilidad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40828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6DEC-6CE4-B0FF-427C-8764DC7C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2F37AE4-8885-EC26-DFCC-A2D71515BC9E}"/>
              </a:ext>
            </a:extLst>
          </p:cNvPr>
          <p:cNvSpPr txBox="1"/>
          <p:nvPr/>
        </p:nvSpPr>
        <p:spPr>
          <a:xfrm>
            <a:off x="1925642" y="2339555"/>
            <a:ext cx="21066764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SV" dirty="0"/>
              <a:t>Data </a:t>
            </a:r>
            <a:r>
              <a:rPr lang="es-SV" dirty="0" err="1"/>
              <a:t>lakehouse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63CE7F2-05C6-9D8B-B319-3DE6D91EA601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46C53565-6F74-27BF-9D8F-4D193B9F5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FFD27FCE-ACCB-D404-5D26-642052267DE1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2">
            <a:extLst>
              <a:ext uri="{FF2B5EF4-FFF2-40B4-BE49-F238E27FC236}">
                <a16:creationId xmlns:a16="http://schemas.microsoft.com/office/drawing/2014/main" id="{85073FA9-C20D-C75F-D423-5895AB5AA60F}"/>
              </a:ext>
            </a:extLst>
          </p:cNvPr>
          <p:cNvSpPr txBox="1"/>
          <p:nvPr/>
        </p:nvSpPr>
        <p:spPr>
          <a:xfrm>
            <a:off x="1922566" y="3861825"/>
            <a:ext cx="9620568" cy="8710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es-MX" sz="4000" dirty="0"/>
              <a:t>Un Data </a:t>
            </a:r>
            <a:r>
              <a:rPr lang="es-MX" sz="4000" dirty="0" err="1"/>
              <a:t>Lakehouse</a:t>
            </a:r>
            <a:r>
              <a:rPr lang="es-MX" sz="4000" dirty="0"/>
              <a:t> es una arquitectura moderna que combina las mejores características de un Data </a:t>
            </a:r>
            <a:r>
              <a:rPr lang="es-MX" sz="4000" dirty="0" err="1"/>
              <a:t>Warehouse</a:t>
            </a:r>
            <a:r>
              <a:rPr lang="es-MX" sz="4000" dirty="0"/>
              <a:t> y un Data Lake, permitiendo almacenamiento escalable y análisis eficiente de datos estructurados y no estructurados.</a:t>
            </a:r>
          </a:p>
          <a:p>
            <a:pPr lvl="0"/>
            <a:endParaRPr lang="es-MX" sz="4000" dirty="0"/>
          </a:p>
          <a:p>
            <a:pPr lvl="0"/>
            <a:r>
              <a:rPr lang="es-MX" sz="4000" dirty="0"/>
              <a:t>Una empresa de comercio electrónico utiliza un Data </a:t>
            </a:r>
            <a:r>
              <a:rPr lang="es-MX" sz="4000" dirty="0" err="1"/>
              <a:t>Lakehouse</a:t>
            </a:r>
            <a:r>
              <a:rPr lang="es-MX" sz="4000" dirty="0"/>
              <a:t> para almacenar datos de clientes, transacciones y comportamiento de navegación. Gracias a esta arquitectura, pueden realizar análisis en tiempo real para mejorar la personalización de ofertas y optimizar la experiencia del usuario.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C00B82D-3E44-9437-FC8C-334E7897F790}"/>
              </a:ext>
            </a:extLst>
          </p:cNvPr>
          <p:cNvSpPr txBox="1"/>
          <p:nvPr/>
        </p:nvSpPr>
        <p:spPr>
          <a:xfrm>
            <a:off x="12191206" y="3662994"/>
            <a:ext cx="11161240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3200" dirty="0"/>
              <a:t>Características Clave: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Unificación de almacenamiento y análisis: Permite almacenar datos en su forma original y analizarlos sin necesidad de transformaciones previas.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Soporte para datos estructurados y no estructurados: Facilita el procesamiento de datos provenientes de diversas fuentes, como bases de datos, archivos de texto, imágenes y videos.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Optimización para consultas analíticas: Utiliza técnicas avanzadas como indexación y procesamiento distribuido para mejorar el rendimiento.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/>
              <a:t>Gestión de datos mejorada: Implementa controles de calidad, gobernanza y seguridad para garantizar la confiabilidad de la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80405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3928-2E7D-C6B3-6B62-A6CB5A72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6AC8C7A-095B-3DD2-3D6A-165B00A86B26}"/>
              </a:ext>
            </a:extLst>
          </p:cNvPr>
          <p:cNvSpPr/>
          <p:nvPr/>
        </p:nvSpPr>
        <p:spPr>
          <a:xfrm>
            <a:off x="-1" y="0"/>
            <a:ext cx="24382414" cy="5561856"/>
          </a:xfrm>
          <a:prstGeom prst="rect">
            <a:avLst/>
          </a:prstGeom>
          <a:gradFill flip="none" rotWithShape="1">
            <a:gsLst>
              <a:gs pos="36000">
                <a:srgbClr val="000000">
                  <a:alpha val="0"/>
                </a:srgbClr>
              </a:gs>
              <a:gs pos="0">
                <a:srgbClr val="000000">
                  <a:alpha val="7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2E14F4-C869-9689-EAF8-4460FA20DB39}"/>
              </a:ext>
            </a:extLst>
          </p:cNvPr>
          <p:cNvGrpSpPr/>
          <p:nvPr/>
        </p:nvGrpSpPr>
        <p:grpSpPr>
          <a:xfrm>
            <a:off x="1030288" y="1070735"/>
            <a:ext cx="3674534" cy="960121"/>
            <a:chOff x="11997266" y="2215077"/>
            <a:chExt cx="3674534" cy="96012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937DC037-F36A-D3FE-09D1-7B94087F6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997266" y="2215077"/>
              <a:ext cx="960121" cy="96012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C4738A-0F88-76EA-2E8D-760666F6E84A}"/>
                </a:ext>
              </a:extLst>
            </p:cNvPr>
            <p:cNvSpPr txBox="1"/>
            <p:nvPr/>
          </p:nvSpPr>
          <p:spPr>
            <a:xfrm>
              <a:off x="13179265" y="2218084"/>
              <a:ext cx="249253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HORIZON</a:t>
              </a:r>
            </a:p>
            <a:p>
              <a:r>
                <a:rPr lang="en-US" sz="2800" b="1" dirty="0"/>
                <a:t>TECH.</a:t>
              </a:r>
              <a:endParaRPr lang="id-ID" sz="2800" b="1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E120E07-9F4F-52A8-BDC7-204A09598F14}"/>
              </a:ext>
            </a:extLst>
          </p:cNvPr>
          <p:cNvSpPr txBox="1"/>
          <p:nvPr/>
        </p:nvSpPr>
        <p:spPr>
          <a:xfrm>
            <a:off x="18455902" y="1007349"/>
            <a:ext cx="504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INNOVATING TODAY FOR </a:t>
            </a:r>
          </a:p>
          <a:p>
            <a:pPr algn="r"/>
            <a:r>
              <a:rPr lang="en-US" sz="2400" dirty="0">
                <a:latin typeface="Inter Tight Light" pitchFamily="2" charset="0"/>
                <a:ea typeface="Inter Tight Light" pitchFamily="2" charset="0"/>
                <a:cs typeface="Inter Tight Light" pitchFamily="2" charset="0"/>
              </a:rPr>
              <a:t>A SMARTER TOMORROW</a:t>
            </a:r>
            <a:endParaRPr lang="id-ID" sz="2400">
              <a:latin typeface="Inter Tight Light" pitchFamily="2" charset="0"/>
              <a:ea typeface="Inter Tight Light" pitchFamily="2" charset="0"/>
              <a:cs typeface="Inter Tight Light" pitchFamily="2" charset="0"/>
            </a:endParaRPr>
          </a:p>
        </p:txBody>
      </p:sp>
      <p:pic>
        <p:nvPicPr>
          <p:cNvPr id="11" name="Picture Placeholder 10" descr="A purple and white gradient&#10;&#10;Description automatically generated">
            <a:extLst>
              <a:ext uri="{FF2B5EF4-FFF2-40B4-BE49-F238E27FC236}">
                <a16:creationId xmlns:a16="http://schemas.microsoft.com/office/drawing/2014/main" id="{CA9016AB-2FAF-C357-AF2C-71E9C2856E8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0379" b="2743"/>
          <a:stretch/>
        </p:blipFill>
        <p:spPr>
          <a:xfrm>
            <a:off x="-1" y="8658200"/>
            <a:ext cx="24382413" cy="5057800"/>
          </a:xfrm>
        </p:spPr>
      </p:pic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D68BC334-5A67-9B87-3742-18BC5978EF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4445" r="4445"/>
          <a:stretch/>
        </p:blipFill>
        <p:spPr/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B0EE8B2-6F97-50D0-2CA3-AD4C928FAF48}"/>
              </a:ext>
            </a:extLst>
          </p:cNvPr>
          <p:cNvSpPr txBox="1"/>
          <p:nvPr/>
        </p:nvSpPr>
        <p:spPr>
          <a:xfrm>
            <a:off x="-1" y="8658200"/>
            <a:ext cx="243824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SV" sz="900">
                <a:hlinkClick r:id="rId7" tooltip="https://www.tuinstitutoonline.com/cursos/bbdd/basebasico1_v19es/02tablas.php"/>
              </a:rPr>
              <a:t>Esta foto</a:t>
            </a:r>
            <a:r>
              <a:rPr lang="es-SV" sz="900"/>
              <a:t> de Autor desconocido está bajo licencia </a:t>
            </a:r>
            <a:r>
              <a:rPr lang="es-SV" sz="900">
                <a:hlinkClick r:id="rId8" tooltip="https://creativecommons.org/licenses/by-nc-sa/3.0/"/>
              </a:rPr>
              <a:t>CC BY-SA-NC</a:t>
            </a:r>
            <a:endParaRPr lang="es-SV" sz="900"/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8CAFC3EE-DCF2-F1CD-AB29-610CDB8CAAC1}"/>
              </a:ext>
            </a:extLst>
          </p:cNvPr>
          <p:cNvSpPr txBox="1"/>
          <p:nvPr/>
        </p:nvSpPr>
        <p:spPr>
          <a:xfrm>
            <a:off x="885950" y="9418925"/>
            <a:ext cx="21890432" cy="156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600" b="1" dirty="0" err="1">
                <a:latin typeface="Avenir Next LT Pro"/>
              </a:rPr>
              <a:t>Modelo</a:t>
            </a:r>
            <a:r>
              <a:rPr lang="en-US" sz="9600" b="1" dirty="0">
                <a:latin typeface="Avenir Next LT Pro"/>
              </a:rPr>
              <a:t> Dimensional</a:t>
            </a:r>
            <a:endParaRPr lang="id-ID" sz="9600" dirty="0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223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ACAFC-F582-072E-57A4-79D0FFBC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230E44B7-AA45-0C52-7915-F9037C5AB17D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Modelo Dimensional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BCDC522-465F-9BC0-D62A-0AE007F170AD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51EB4554-5145-C1D7-C270-7B3FB0FDE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67AF53EB-09B1-4AD5-0894-3BCF7DE5C389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FFF870B9-642D-D160-92E2-32EF5BEC6F93}"/>
              </a:ext>
            </a:extLst>
          </p:cNvPr>
          <p:cNvSpPr txBox="1"/>
          <p:nvPr/>
        </p:nvSpPr>
        <p:spPr>
          <a:xfrm>
            <a:off x="2022724" y="4735503"/>
            <a:ext cx="1232872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4000" dirty="0"/>
              <a:t>El modelo dimensional es una </a:t>
            </a:r>
            <a:r>
              <a:rPr lang="es-MX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metodología de organización de datos diseñada para optimizar el análisis y la generación de informes.</a:t>
            </a:r>
            <a:r>
              <a:rPr lang="es-MX" sz="4000" dirty="0"/>
              <a:t> Popularizado por Ralph Kimball, este enfoque prioriza la simplicidad y la accesibilidad, permitiendo a los usuarios explorar la información de manera intuitiva y eficiente.</a:t>
            </a:r>
          </a:p>
        </p:txBody>
      </p:sp>
    </p:spTree>
    <p:extLst>
      <p:ext uri="{BB962C8B-B14F-4D97-AF65-F5344CB8AC3E}">
        <p14:creationId xmlns:p14="http://schemas.microsoft.com/office/powerpoint/2010/main" val="278242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C2CC-6719-91F6-370B-36EBC5C7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7F8D0513-9F2C-4B34-F3D9-2CB4132A0197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Componentes Clave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74FB2F3-56CA-7A1B-CC4E-59A48110F07D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C74696AC-DC36-7AD6-F200-2A34EC9FE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3ABE8173-976F-B8D7-08FE-DA6CCFF2F0F8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A8E5AD18-28C3-8CCB-65CB-E0C5C47EB331}"/>
              </a:ext>
            </a:extLst>
          </p:cNvPr>
          <p:cNvSpPr txBox="1"/>
          <p:nvPr/>
        </p:nvSpPr>
        <p:spPr>
          <a:xfrm>
            <a:off x="2022724" y="4409728"/>
            <a:ext cx="1232872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39700" indent="0">
              <a:buNone/>
            </a:pPr>
            <a:r>
              <a:rPr lang="es-MX" sz="4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Tablas de Hechos</a:t>
            </a:r>
            <a:br>
              <a:rPr lang="es-MX" sz="4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s-MX" sz="4000" dirty="0"/>
              <a:t>Almacenan datos cuantitativos o métricas fundamentales para el análisis, como ventas, ingresos o volúmenes de transacciones. Estas tablas contienen </a:t>
            </a:r>
            <a:r>
              <a:rPr lang="es-MX" sz="4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claves externas </a:t>
            </a:r>
            <a:r>
              <a:rPr lang="es-MX" sz="4000" dirty="0"/>
              <a:t>que las vinculan con las tablas de dimensiones, permitiendo el análisis detallado de la información.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B116BC-F6F8-1208-CAE3-60886FB95EBD}"/>
              </a:ext>
            </a:extLst>
          </p:cNvPr>
          <p:cNvSpPr txBox="1"/>
          <p:nvPr/>
        </p:nvSpPr>
        <p:spPr>
          <a:xfrm>
            <a:off x="1925642" y="8620457"/>
            <a:ext cx="12425804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139700" indent="0">
              <a:buNone/>
              <a:defRPr sz="4000" b="1" i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s-MX" dirty="0"/>
              <a:t>Tablas de Dimensiones</a:t>
            </a:r>
            <a:br>
              <a:rPr lang="es-MX" dirty="0"/>
            </a:br>
            <a:r>
              <a:rPr lang="es-MX" b="0" i="0" dirty="0">
                <a:solidFill>
                  <a:schemeClr val="tx1"/>
                </a:solidFill>
              </a:rPr>
              <a:t>Proveen contexto a los hechos, definiendo categorías como </a:t>
            </a:r>
            <a:r>
              <a:rPr lang="es-MX" i="0" dirty="0"/>
              <a:t>tiempo, producto, cliente y ubicación.</a:t>
            </a:r>
            <a:r>
              <a:rPr lang="es-MX" i="0" dirty="0">
                <a:solidFill>
                  <a:schemeClr val="tx1"/>
                </a:solidFill>
              </a:rPr>
              <a:t> </a:t>
            </a:r>
            <a:r>
              <a:rPr lang="es-MX" b="0" i="0" dirty="0">
                <a:solidFill>
                  <a:schemeClr val="tx1"/>
                </a:solidFill>
              </a:rPr>
              <a:t>Contienen descripciones y atributos que facilitan el análisis desde diversas perspectivas, mejorando la interpretación de los datos y la toma de decisiones.</a:t>
            </a:r>
            <a:endParaRPr lang="es-SV" b="0" i="0" dirty="0">
              <a:solidFill>
                <a:schemeClr val="tx1"/>
              </a:solidFill>
            </a:endParaRPr>
          </a:p>
        </p:txBody>
      </p:sp>
      <p:pic>
        <p:nvPicPr>
          <p:cNvPr id="1029" name="Picture 5" descr="Esquema en estrella - Wikipedia, la enciclopedia libre">
            <a:extLst>
              <a:ext uri="{FF2B5EF4-FFF2-40B4-BE49-F238E27FC236}">
                <a16:creationId xmlns:a16="http://schemas.microsoft.com/office/drawing/2014/main" id="{916DF6A6-4EC7-5B2B-3AB9-11F813C1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542" y="4659118"/>
            <a:ext cx="8604044" cy="707252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34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4088-291E-35C2-6761-BFEB3C9D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522272A-2DEC-102A-DA18-CD89519B20A2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Esquemas comunes: Estrella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67ECE03-79F3-5E27-153E-80F1ADDEEF00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A6BE70DE-DE0D-0545-3B90-E762F04D1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FAFF93CF-8BA6-5329-E5A7-988FB88136CF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A3BEFE4D-F9D0-88B1-A2DA-31E9C1470637}"/>
              </a:ext>
            </a:extLst>
          </p:cNvPr>
          <p:cNvSpPr txBox="1"/>
          <p:nvPr/>
        </p:nvSpPr>
        <p:spPr>
          <a:xfrm>
            <a:off x="2022724" y="4409728"/>
            <a:ext cx="12328722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4000" dirty="0"/>
              <a:t>El </a:t>
            </a:r>
            <a:r>
              <a:rPr lang="es-MX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Modelo Estrella</a:t>
            </a:r>
            <a:r>
              <a:rPr lang="es-MX" sz="4000" dirty="0"/>
              <a:t> es una estructura de datos utilizada en </a:t>
            </a:r>
            <a:r>
              <a:rPr lang="es-MX" sz="4000" b="1" dirty="0"/>
              <a:t>Data </a:t>
            </a:r>
            <a:r>
              <a:rPr lang="es-MX" sz="4000" b="1" dirty="0" err="1"/>
              <a:t>Warehouses</a:t>
            </a:r>
            <a:r>
              <a:rPr lang="es-MX" sz="4000" dirty="0"/>
              <a:t> para optimizar el análisis y la generación de informes. Se caracteriza por una </a:t>
            </a:r>
            <a:r>
              <a:rPr lang="es-MX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tabla central de hechos</a:t>
            </a:r>
            <a:r>
              <a:rPr lang="es-MX" sz="4000" dirty="0"/>
              <a:t> conectada a </a:t>
            </a:r>
            <a:r>
              <a:rPr lang="es-MX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múltiples tablas de dimensiones</a:t>
            </a:r>
            <a:r>
              <a:rPr lang="es-MX" sz="4000" dirty="0"/>
              <a:t>, formando una estructura visual similar a una estrella.</a:t>
            </a:r>
          </a:p>
        </p:txBody>
      </p:sp>
      <p:pic>
        <p:nvPicPr>
          <p:cNvPr id="1029" name="Picture 5" descr="Esquema en estrella - Wikipedia, la enciclopedia libre">
            <a:extLst>
              <a:ext uri="{FF2B5EF4-FFF2-40B4-BE49-F238E27FC236}">
                <a16:creationId xmlns:a16="http://schemas.microsoft.com/office/drawing/2014/main" id="{6D93B39D-C8FE-9F53-35D5-663288714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5542" y="4659118"/>
            <a:ext cx="8604044" cy="707252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4328E8B-5EDC-D01C-C4AE-8F2D772A3B66}"/>
              </a:ext>
            </a:extLst>
          </p:cNvPr>
          <p:cNvSpPr txBox="1"/>
          <p:nvPr/>
        </p:nvSpPr>
        <p:spPr>
          <a:xfrm>
            <a:off x="1925642" y="8336061"/>
            <a:ext cx="12192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✅ </a:t>
            </a:r>
            <a:r>
              <a:rPr lang="es-MX" sz="4000" b="1" dirty="0"/>
              <a:t>Rendimiento optimizado</a:t>
            </a:r>
            <a:r>
              <a:rPr lang="es-MX" sz="4000" dirty="0"/>
              <a:t> para consultas analíticas.</a:t>
            </a:r>
            <a:br>
              <a:rPr lang="es-MX" sz="4000" dirty="0"/>
            </a:br>
            <a:r>
              <a:rPr lang="es-MX" sz="4000" dirty="0"/>
              <a:t>✅ </a:t>
            </a:r>
            <a:r>
              <a:rPr lang="es-MX" sz="4000" b="1" dirty="0"/>
              <a:t>Estructura intuitiva</a:t>
            </a:r>
            <a:r>
              <a:rPr lang="es-MX" sz="4000" dirty="0"/>
              <a:t> y fácil de entender para usuarios de negocio.</a:t>
            </a:r>
            <a:br>
              <a:rPr lang="es-MX" sz="4000" dirty="0"/>
            </a:br>
            <a:r>
              <a:rPr lang="es-MX" sz="4000" dirty="0"/>
              <a:t>✅ </a:t>
            </a:r>
            <a:r>
              <a:rPr lang="es-MX" sz="4000" b="1" dirty="0"/>
              <a:t>Menos complejidad</a:t>
            </a:r>
            <a:r>
              <a:rPr lang="es-MX" sz="4000" dirty="0"/>
              <a:t> en las relaciones, reduciendo la cantidad de </a:t>
            </a:r>
            <a:r>
              <a:rPr lang="es-MX" sz="4000" dirty="0" err="1"/>
              <a:t>joins</a:t>
            </a:r>
            <a:r>
              <a:rPr lang="es-MX" sz="4000" dirty="0"/>
              <a:t> en consultas SQL.</a:t>
            </a:r>
          </a:p>
        </p:txBody>
      </p:sp>
    </p:spTree>
    <p:extLst>
      <p:ext uri="{BB962C8B-B14F-4D97-AF65-F5344CB8AC3E}">
        <p14:creationId xmlns:p14="http://schemas.microsoft.com/office/powerpoint/2010/main" val="364862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664D-7C10-194E-3236-DA79B356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F0EAF134-36EF-AB66-F5F5-3E5A852E1628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Esquemas comunes – Estrella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44DDA61-1B5A-2309-028B-589A08D48C15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A4DD3223-A58C-58FC-9727-E1B33A480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3838624-683E-F245-B2D4-B72C98AF9598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AF34C278-7F20-8388-A9A5-D1D3AE6E7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446" y="3905672"/>
            <a:ext cx="12601400" cy="9000999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77123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517B6-D8A4-2C2B-41B0-AFC88E0C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6F423E7A-4814-E8A8-8CA2-5CFE6A41A619}"/>
              </a:ext>
            </a:extLst>
          </p:cNvPr>
          <p:cNvSpPr txBox="1"/>
          <p:nvPr/>
        </p:nvSpPr>
        <p:spPr>
          <a:xfrm>
            <a:off x="1925642" y="2339555"/>
            <a:ext cx="19266563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Modelo Copo de Nieve – Organización de Datos Normalizada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914286D-C56F-669B-2B45-FFC827AFF838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A961D4C7-A125-8774-7EF8-D04E24753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D4D9F33C-EA72-3DB2-87D1-3D1D84361B44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2">
            <a:extLst>
              <a:ext uri="{FF2B5EF4-FFF2-40B4-BE49-F238E27FC236}">
                <a16:creationId xmlns:a16="http://schemas.microsoft.com/office/drawing/2014/main" id="{B1EA9043-5637-C0A7-72BE-440F7D7425B0}"/>
              </a:ext>
            </a:extLst>
          </p:cNvPr>
          <p:cNvSpPr txBox="1"/>
          <p:nvPr/>
        </p:nvSpPr>
        <p:spPr>
          <a:xfrm>
            <a:off x="2022724" y="5018152"/>
            <a:ext cx="12328722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4000" dirty="0"/>
              <a:t>El Modelo Copo de Nieve es una variante del Modelo Estrella, utilizada en Data </a:t>
            </a:r>
            <a:r>
              <a:rPr lang="es-MX" sz="4000" dirty="0" err="1"/>
              <a:t>Warehouses</a:t>
            </a:r>
            <a:r>
              <a:rPr lang="es-MX" sz="4000" dirty="0"/>
              <a:t> para mejorar la eficiencia del almacenamiento y reducir la redundancia de datos. Se caracteriza por una tabla central de hechos conectada a tablas de dimensiones normalizadas, lo que genera una estructura más detallada y ramificada.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6A019A-DB72-E398-5164-83D4AD111FB6}"/>
              </a:ext>
            </a:extLst>
          </p:cNvPr>
          <p:cNvSpPr txBox="1"/>
          <p:nvPr/>
        </p:nvSpPr>
        <p:spPr>
          <a:xfrm>
            <a:off x="2015430" y="9232517"/>
            <a:ext cx="12192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✅ Menor redundancia de datos, gracias a la normalización de las dimensiones.</a:t>
            </a:r>
          </a:p>
          <a:p>
            <a:r>
              <a:rPr lang="es-MX" sz="4000" dirty="0"/>
              <a:t>✅ Mayor integridad y consistencia, evitando duplicaciones innecesarias.</a:t>
            </a:r>
          </a:p>
          <a:p>
            <a:r>
              <a:rPr lang="es-MX" sz="4000" dirty="0"/>
              <a:t>✅ Optimización del almacenamiento, reduciendo el espacio requerido en el Data </a:t>
            </a:r>
            <a:r>
              <a:rPr lang="es-MX" sz="4000" dirty="0" err="1"/>
              <a:t>Warehouse</a:t>
            </a:r>
            <a:r>
              <a:rPr lang="es-MX" sz="4000" dirty="0"/>
              <a:t>.</a:t>
            </a:r>
          </a:p>
        </p:txBody>
      </p:sp>
      <p:pic>
        <p:nvPicPr>
          <p:cNvPr id="5122" name="Picture 2" descr="Modelos estrella y copo de nieve | KeepCoding Bootcamps">
            <a:extLst>
              <a:ext uri="{FF2B5EF4-FFF2-40B4-BE49-F238E27FC236}">
                <a16:creationId xmlns:a16="http://schemas.microsoft.com/office/drawing/2014/main" id="{0D158078-B9CD-97E2-B30F-D8C9C973E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5502" y="4625752"/>
            <a:ext cx="8479336" cy="688722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74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9BBF-7335-C0B3-BA1C-88D96813B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EABFE354-4696-BD03-593D-50A64A091D62}"/>
              </a:ext>
            </a:extLst>
          </p:cNvPr>
          <p:cNvSpPr txBox="1"/>
          <p:nvPr/>
        </p:nvSpPr>
        <p:spPr>
          <a:xfrm>
            <a:off x="1925642" y="2339555"/>
            <a:ext cx="1926656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Esquemas comunes – Copo de Nieve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80A60D0-87FE-7AEC-80E6-592CA9D56A47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49B677E9-24EB-FC3F-68EE-5DF6506BD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AADAF175-8D65-4A6A-74BE-BD1B9A27AEB3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 descr="Una captura de pantalla de un celular con texto e imágenes&#10;&#10;El contenido generado por IA puede ser incorrecto.">
            <a:extLst>
              <a:ext uri="{FF2B5EF4-FFF2-40B4-BE49-F238E27FC236}">
                <a16:creationId xmlns:a16="http://schemas.microsoft.com/office/drawing/2014/main" id="{CBA16817-EBCE-D404-9F2F-53C0483F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80"/>
          <a:stretch/>
        </p:blipFill>
        <p:spPr>
          <a:xfrm>
            <a:off x="4310207" y="4063755"/>
            <a:ext cx="15761997" cy="8783981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411683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2F92-291D-D399-DD01-6F6CB19A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56EE13E4-959F-BF3A-995A-BB110020C56A}"/>
              </a:ext>
            </a:extLst>
          </p:cNvPr>
          <p:cNvSpPr txBox="1"/>
          <p:nvPr/>
        </p:nvSpPr>
        <p:spPr>
          <a:xfrm>
            <a:off x="1925642" y="2339555"/>
            <a:ext cx="21066764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accent1"/>
                </a:solidFill>
                <a:latin typeface="Avenir Next LT Pro Demi"/>
              </a:defRPr>
            </a:lvl1pPr>
          </a:lstStyle>
          <a:p>
            <a:r>
              <a:rPr lang="es-MX" dirty="0"/>
              <a:t>¿Cuándo usar el Modelo Estrella vs. Copo de Nieve?</a:t>
            </a:r>
            <a:endParaRPr lang="id-ID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34703D5-DAED-FC03-A522-2155710CC34C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pic>
          <p:nvPicPr>
            <p:cNvPr id="8" name="Graphic 5">
              <a:extLst>
                <a:ext uri="{FF2B5EF4-FFF2-40B4-BE49-F238E27FC236}">
                  <a16:creationId xmlns:a16="http://schemas.microsoft.com/office/drawing/2014/main" id="{CF647C2B-D976-1A02-9763-83FA9D72A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80C77B40-34C9-836B-A3E7-8F3A76AACFE8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6BA1ED0-D16A-CC5E-B83A-F8C1148238D2}"/>
              </a:ext>
            </a:extLst>
          </p:cNvPr>
          <p:cNvSpPr txBox="1"/>
          <p:nvPr/>
        </p:nvSpPr>
        <p:spPr>
          <a:xfrm>
            <a:off x="1925642" y="5578688"/>
            <a:ext cx="96895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Modelo Estrella</a:t>
            </a:r>
          </a:p>
          <a:p>
            <a:r>
              <a:rPr lang="es-MX" sz="4000" dirty="0"/>
              <a:t>✅ Ideal para consultas rápidas y análisis de negocio</a:t>
            </a:r>
          </a:p>
          <a:p>
            <a:endParaRPr lang="es-MX" sz="4000" dirty="0"/>
          </a:p>
          <a:p>
            <a:r>
              <a:rPr lang="es-MX" sz="4000" dirty="0"/>
              <a:t>✅ Estructura simple y fácil de entender</a:t>
            </a:r>
          </a:p>
          <a:p>
            <a:endParaRPr lang="es-MX" sz="4000" dirty="0"/>
          </a:p>
          <a:p>
            <a:r>
              <a:rPr lang="es-MX" sz="4000" dirty="0"/>
              <a:t>✅ Menos </a:t>
            </a:r>
            <a:r>
              <a:rPr lang="es-MX" sz="4000" dirty="0" err="1"/>
              <a:t>joins</a:t>
            </a:r>
            <a:r>
              <a:rPr lang="es-MX" sz="4000" dirty="0"/>
              <a:t>, lo que mejora el rendimiento en consultas</a:t>
            </a:r>
          </a:p>
          <a:p>
            <a:endParaRPr lang="es-MX" sz="4000" dirty="0"/>
          </a:p>
          <a:p>
            <a:r>
              <a:rPr lang="es-MX" sz="4000" dirty="0"/>
              <a:t>✅ Recomendado para entornos donde la velocidad de respuesta es clave</a:t>
            </a:r>
            <a:endParaRPr lang="es-SV" sz="4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B0F5C1-F548-EEE3-7DAE-9E088C91556D}"/>
              </a:ext>
            </a:extLst>
          </p:cNvPr>
          <p:cNvSpPr txBox="1"/>
          <p:nvPr/>
        </p:nvSpPr>
        <p:spPr>
          <a:xfrm>
            <a:off x="12582826" y="5578688"/>
            <a:ext cx="96895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dirty="0"/>
              <a:t>Modelo Copo de Nieve</a:t>
            </a:r>
          </a:p>
          <a:p>
            <a:r>
              <a:rPr lang="es-MX" sz="4000" dirty="0"/>
              <a:t>✅ Optimizado para almacenamiento eficiente y reducción de redundancia</a:t>
            </a:r>
          </a:p>
          <a:p>
            <a:endParaRPr lang="es-MX" sz="4000" dirty="0"/>
          </a:p>
          <a:p>
            <a:r>
              <a:rPr lang="es-MX" sz="4000" dirty="0"/>
              <a:t>✅ Mayor normalización, lo que mejora la integridad de los datos</a:t>
            </a:r>
          </a:p>
          <a:p>
            <a:endParaRPr lang="es-MX" sz="4000" dirty="0"/>
          </a:p>
          <a:p>
            <a:r>
              <a:rPr lang="es-MX" sz="4000" dirty="0"/>
              <a:t>✅ Adecuado para bases de datos con estructuras complejas y relaciones jerárquicas</a:t>
            </a:r>
          </a:p>
          <a:p>
            <a:endParaRPr lang="es-MX" sz="4000" dirty="0"/>
          </a:p>
          <a:p>
            <a:r>
              <a:rPr lang="es-MX" sz="4000" dirty="0"/>
              <a:t>✅ Útil cuando se requiere un alto nivel de detalle en el análisis</a:t>
            </a:r>
          </a:p>
        </p:txBody>
      </p:sp>
    </p:spTree>
    <p:extLst>
      <p:ext uri="{BB962C8B-B14F-4D97-AF65-F5344CB8AC3E}">
        <p14:creationId xmlns:p14="http://schemas.microsoft.com/office/powerpoint/2010/main" val="196967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1A2BC-C3E7-A8DD-33FB-7C957F23E6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BA576-B666-6312-0533-2C7062087490}"/>
              </a:ext>
            </a:extLst>
          </p:cNvPr>
          <p:cNvSpPr txBox="1"/>
          <p:nvPr/>
        </p:nvSpPr>
        <p:spPr>
          <a:xfrm>
            <a:off x="1933404" y="3886594"/>
            <a:ext cx="16740584" cy="37702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3900" b="1">
                <a:latin typeface="Avenir Next LT Pro"/>
                <a:ea typeface="Inter Tight" pitchFamily="2" charset="0"/>
                <a:cs typeface="Inter Tight" pitchFamily="2" charset="0"/>
              </a:rPr>
              <a:t>Thank You!</a:t>
            </a:r>
            <a:endParaRPr lang="id-ID" sz="23900" b="1">
              <a:latin typeface="Avenir Next LT Pro"/>
              <a:ea typeface="Inter Tight" pitchFamily="2" charset="0"/>
              <a:cs typeface="Inter Tigh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604BD-1F30-E674-E9CD-83FE16416CB3}"/>
              </a:ext>
            </a:extLst>
          </p:cNvPr>
          <p:cNvSpPr txBox="1"/>
          <p:nvPr/>
        </p:nvSpPr>
        <p:spPr>
          <a:xfrm>
            <a:off x="1030288" y="10999154"/>
            <a:ext cx="64803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venir Next LT Pro"/>
              </a:rPr>
              <a:t>Visit our website or contact us </a:t>
            </a:r>
          </a:p>
          <a:p>
            <a:r>
              <a:rPr lang="en-US" sz="2400">
                <a:latin typeface="Avenir Next LT Pro"/>
              </a:rPr>
              <a:t>for more information:</a:t>
            </a:r>
            <a:endParaRPr lang="id-ID" sz="2400">
              <a:latin typeface="Avenir Next LT Pro"/>
            </a:endParaRPr>
          </a:p>
        </p:txBody>
      </p:sp>
      <p:pic>
        <p:nvPicPr>
          <p:cNvPr id="12" name="Graphic 11" descr="World with solid fill">
            <a:extLst>
              <a:ext uri="{FF2B5EF4-FFF2-40B4-BE49-F238E27FC236}">
                <a16:creationId xmlns:a16="http://schemas.microsoft.com/office/drawing/2014/main" id="{7FF6D470-527D-BE28-D65F-FC41EA750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0287" y="11973139"/>
            <a:ext cx="715425" cy="715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D34CCD-23A5-8F09-E69E-6E5666984328}"/>
              </a:ext>
            </a:extLst>
          </p:cNvPr>
          <p:cNvSpPr txBox="1"/>
          <p:nvPr/>
        </p:nvSpPr>
        <p:spPr>
          <a:xfrm>
            <a:off x="1745712" y="12069240"/>
            <a:ext cx="576497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latin typeface="Avenir Next LT Pro"/>
              </a:rPr>
              <a:t> www.</a:t>
            </a:r>
            <a:endParaRPr lang="id-ID" sz="2800" b="1" dirty="0">
              <a:latin typeface="Avenir Next LT Pr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F9428-3077-2D98-5E1D-6A8062923F7D}"/>
              </a:ext>
            </a:extLst>
          </p:cNvPr>
          <p:cNvSpPr txBox="1"/>
          <p:nvPr/>
        </p:nvSpPr>
        <p:spPr>
          <a:xfrm>
            <a:off x="17310644" y="11414652"/>
            <a:ext cx="6185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2800">
                <a:latin typeface="Avenir Next LT Pro"/>
              </a:rPr>
              <a:t>Excepteur sint occaecat cupidatat non proident, sunt in culpa qui officia deserunt mollit id est laborum.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E95010E-D79C-5E9D-DFAD-1A57A896C2F0}"/>
              </a:ext>
            </a:extLst>
          </p:cNvPr>
          <p:cNvGrpSpPr/>
          <p:nvPr/>
        </p:nvGrpSpPr>
        <p:grpSpPr>
          <a:xfrm>
            <a:off x="1928711" y="541607"/>
            <a:ext cx="20528765" cy="564914"/>
            <a:chOff x="1928711" y="541607"/>
            <a:chExt cx="20528765" cy="564914"/>
          </a:xfrm>
        </p:grpSpPr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AA89A00B-F26B-D410-2AFD-420C0E815216}"/>
                </a:ext>
              </a:extLst>
            </p:cNvPr>
            <p:cNvCxnSpPr/>
            <p:nvPr/>
          </p:nvCxnSpPr>
          <p:spPr>
            <a:xfrm flipV="1">
              <a:off x="1931594" y="541607"/>
              <a:ext cx="20525882" cy="14067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aphic 5">
              <a:extLst>
                <a:ext uri="{FF2B5EF4-FFF2-40B4-BE49-F238E27FC236}">
                  <a16:creationId xmlns:a16="http://schemas.microsoft.com/office/drawing/2014/main" id="{0B2F5B29-0380-0D9C-850F-FB06BAB5B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8711" y="805596"/>
              <a:ext cx="1509446" cy="300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3116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ch.">
      <a:dk1>
        <a:srgbClr val="0A0A0A"/>
      </a:dk1>
      <a:lt1>
        <a:srgbClr val="FDFDFB"/>
      </a:lt1>
      <a:dk2>
        <a:srgbClr val="0A0A0A"/>
      </a:dk2>
      <a:lt2>
        <a:srgbClr val="FDFDFB"/>
      </a:lt2>
      <a:accent1>
        <a:srgbClr val="8236FB"/>
      </a:accent1>
      <a:accent2>
        <a:srgbClr val="D6FF01"/>
      </a:accent2>
      <a:accent3>
        <a:srgbClr val="100843"/>
      </a:accent3>
      <a:accent4>
        <a:srgbClr val="0A0A0A"/>
      </a:accent4>
      <a:accent5>
        <a:srgbClr val="808080"/>
      </a:accent5>
      <a:accent6>
        <a:srgbClr val="FFFFFF"/>
      </a:accent6>
      <a:hlink>
        <a:srgbClr val="D6FF01"/>
      </a:hlink>
      <a:folHlink>
        <a:srgbClr val="8236FB"/>
      </a:folHlink>
    </a:clrScheme>
    <a:fontScheme name="Inter Tight">
      <a:majorFont>
        <a:latin typeface="Inter Tight"/>
        <a:ea typeface=""/>
        <a:cs typeface=""/>
      </a:majorFont>
      <a:minorFont>
        <a:latin typeface="Inter T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2082</TotalTime>
  <Words>1810</Words>
  <Application>Microsoft Office PowerPoint</Application>
  <PresentationFormat>Personalizado</PresentationFormat>
  <Paragraphs>165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-apple-system</vt:lpstr>
      <vt:lpstr>Arial</vt:lpstr>
      <vt:lpstr>Avenir Next LT Pro</vt:lpstr>
      <vt:lpstr>Calibri</vt:lpstr>
      <vt:lpstr>Inter Tight Light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nurilfikriyah</dc:creator>
  <cp:lastModifiedBy>Carlos Dubon</cp:lastModifiedBy>
  <cp:revision>458</cp:revision>
  <dcterms:created xsi:type="dcterms:W3CDTF">2024-07-15T07:11:27Z</dcterms:created>
  <dcterms:modified xsi:type="dcterms:W3CDTF">2025-09-06T00:36:22Z</dcterms:modified>
</cp:coreProperties>
</file>