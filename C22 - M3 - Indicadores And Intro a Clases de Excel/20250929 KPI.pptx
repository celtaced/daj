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2" r:id="rId3"/>
    <p:sldId id="308" r:id="rId4"/>
    <p:sldId id="321" r:id="rId5"/>
    <p:sldId id="318" r:id="rId6"/>
    <p:sldId id="319" r:id="rId7"/>
    <p:sldId id="320" r:id="rId8"/>
    <p:sldId id="307" r:id="rId9"/>
  </p:sldIdLst>
  <p:sldSz cx="12192000" cy="6858000"/>
  <p:notesSz cx="12192000" cy="6858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74" y="3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Dubon" userId="472307b91947d71a" providerId="LiveId" clId="{1DB17CE4-7DF5-4EA9-B0FE-389C8377C4CE}"/>
    <pc:docChg chg="delSld">
      <pc:chgData name="Carlos Dubon" userId="472307b91947d71a" providerId="LiveId" clId="{1DB17CE4-7DF5-4EA9-B0FE-389C8377C4CE}" dt="2025-09-30T06:09:52.015" v="0" actId="47"/>
      <pc:docMkLst>
        <pc:docMk/>
      </pc:docMkLst>
      <pc:sldChg chg="del">
        <pc:chgData name="Carlos Dubon" userId="472307b91947d71a" providerId="LiveId" clId="{1DB17CE4-7DF5-4EA9-B0FE-389C8377C4CE}" dt="2025-09-30T06:09:52.015" v="0" actId="47"/>
        <pc:sldMkLst>
          <pc:docMk/>
          <pc:sldMk cId="2993694834" sldId="31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BE4F43-D795-40B5-BF3D-23FDEC3E2BC2}" type="doc">
      <dgm:prSet loTypeId="urn:microsoft.com/office/officeart/2008/layout/VerticalCurvedList" loCatId="list" qsTypeId="urn:microsoft.com/office/officeart/2005/8/quickstyle/simple1" qsCatId="simple" csTypeId="urn:microsoft.com/office/officeart/2005/8/colors/colorful4" csCatId="colorful" phldr="1"/>
      <dgm:spPr/>
    </dgm:pt>
    <dgm:pt modelId="{7DA39385-EF23-435F-B6DA-44517CD12B6A}">
      <dgm:prSet phldrT="[Texto]"/>
      <dgm:spPr/>
      <dgm:t>
        <a:bodyPr/>
        <a:lstStyle/>
        <a:p>
          <a:r>
            <a:rPr lang="es-MX" b="1" dirty="0"/>
            <a:t>Servicio al cliente:</a:t>
          </a:r>
          <a:r>
            <a:rPr lang="es-MX" dirty="0"/>
            <a:t> Donde se medirá la satisfacción del cliente y qué tan bueno es el desempeño de quien los atiende.</a:t>
          </a:r>
          <a:endParaRPr lang="es-SV" dirty="0"/>
        </a:p>
      </dgm:t>
    </dgm:pt>
    <dgm:pt modelId="{62529C06-8EB0-4709-8036-EDF66541F6FF}" type="parTrans" cxnId="{0464AB53-ACA8-4925-B1D7-F20A1EE78EBA}">
      <dgm:prSet/>
      <dgm:spPr/>
      <dgm:t>
        <a:bodyPr/>
        <a:lstStyle/>
        <a:p>
          <a:endParaRPr lang="es-SV"/>
        </a:p>
      </dgm:t>
    </dgm:pt>
    <dgm:pt modelId="{BFCE30E8-6B19-4C94-AA0F-669FE06AD988}" type="sibTrans" cxnId="{0464AB53-ACA8-4925-B1D7-F20A1EE78EBA}">
      <dgm:prSet/>
      <dgm:spPr/>
      <dgm:t>
        <a:bodyPr/>
        <a:lstStyle/>
        <a:p>
          <a:endParaRPr lang="es-SV"/>
        </a:p>
      </dgm:t>
    </dgm:pt>
    <dgm:pt modelId="{C278A84E-7951-48DB-A4AA-90D47A9BF0DD}">
      <dgm:prSet phldrT="[Texto]"/>
      <dgm:spPr/>
      <dgm:t>
        <a:bodyPr/>
        <a:lstStyle/>
        <a:p>
          <a:pPr>
            <a:buFont typeface="Arial" panose="020B0604020202020204" pitchFamily="34" charset="0"/>
            <a:buChar char="•"/>
          </a:pPr>
          <a:r>
            <a:rPr lang="es-MX" b="0" i="0" dirty="0"/>
            <a:t>Financiero: Para entender dónde está parada la empresa financieramente hablando.</a:t>
          </a:r>
          <a:endParaRPr lang="es-SV" dirty="0"/>
        </a:p>
      </dgm:t>
    </dgm:pt>
    <dgm:pt modelId="{A5FB1AA4-4E15-409F-A39C-EA59C73AC394}" type="parTrans" cxnId="{BD736D1F-FC49-46C2-BCE6-6EC4BBBF06C2}">
      <dgm:prSet/>
      <dgm:spPr/>
      <dgm:t>
        <a:bodyPr/>
        <a:lstStyle/>
        <a:p>
          <a:endParaRPr lang="es-SV"/>
        </a:p>
      </dgm:t>
    </dgm:pt>
    <dgm:pt modelId="{A8BB5EF8-D5FB-418C-9AF2-9A5619F38FE2}" type="sibTrans" cxnId="{BD736D1F-FC49-46C2-BCE6-6EC4BBBF06C2}">
      <dgm:prSet/>
      <dgm:spPr/>
      <dgm:t>
        <a:bodyPr/>
        <a:lstStyle/>
        <a:p>
          <a:endParaRPr lang="es-SV"/>
        </a:p>
      </dgm:t>
    </dgm:pt>
    <dgm:pt modelId="{1C6F484B-6747-48F8-9EF0-4331433C6B5D}">
      <dgm:prSet phldrT="[Texto]"/>
      <dgm:spPr/>
      <dgm:t>
        <a:bodyPr/>
        <a:lstStyle/>
        <a:p>
          <a:pPr>
            <a:buFont typeface="Arial" panose="020B0604020202020204" pitchFamily="34" charset="0"/>
            <a:buChar char="•"/>
          </a:pPr>
          <a:r>
            <a:rPr lang="es-MX" b="0" i="0" dirty="0"/>
            <a:t>Operaciones: Se podrá saber qué tan productivo es el proceso para realizar la actividad de la empresa.</a:t>
          </a:r>
          <a:endParaRPr lang="es-SV" dirty="0"/>
        </a:p>
      </dgm:t>
    </dgm:pt>
    <dgm:pt modelId="{E72F9F51-2BAB-42F0-A906-3610CC96BAAB}" type="parTrans" cxnId="{CD5C5D3D-3454-4A73-96A2-7198436F22A2}">
      <dgm:prSet/>
      <dgm:spPr/>
      <dgm:t>
        <a:bodyPr/>
        <a:lstStyle/>
        <a:p>
          <a:endParaRPr lang="es-SV"/>
        </a:p>
      </dgm:t>
    </dgm:pt>
    <dgm:pt modelId="{4092F479-C4F7-421F-B3A1-6E76EBE76889}" type="sibTrans" cxnId="{CD5C5D3D-3454-4A73-96A2-7198436F22A2}">
      <dgm:prSet/>
      <dgm:spPr/>
      <dgm:t>
        <a:bodyPr/>
        <a:lstStyle/>
        <a:p>
          <a:endParaRPr lang="es-SV"/>
        </a:p>
      </dgm:t>
    </dgm:pt>
    <dgm:pt modelId="{DB8DA478-8ADE-4AD9-B03B-D0C030312FD7}">
      <dgm:prSet phldrT="[Texto]"/>
      <dgm:spPr/>
      <dgm:t>
        <a:bodyPr/>
        <a:lstStyle/>
        <a:p>
          <a:pPr>
            <a:buFont typeface="Arial" panose="020B0604020202020204" pitchFamily="34" charset="0"/>
            <a:buChar char="•"/>
          </a:pPr>
          <a:r>
            <a:rPr lang="es-MX" b="0" i="0" dirty="0"/>
            <a:t>Desempeño del personal: Para medir la productividad y eficiencia individual de cada persona dentro de los procesos.</a:t>
          </a:r>
          <a:endParaRPr lang="es-SV" dirty="0"/>
        </a:p>
      </dgm:t>
    </dgm:pt>
    <dgm:pt modelId="{1F55B186-51E0-478E-9258-5937A43576CA}" type="parTrans" cxnId="{0EA2AC44-796C-443A-A3A4-3C13886520A9}">
      <dgm:prSet/>
      <dgm:spPr/>
      <dgm:t>
        <a:bodyPr/>
        <a:lstStyle/>
        <a:p>
          <a:endParaRPr lang="es-SV"/>
        </a:p>
      </dgm:t>
    </dgm:pt>
    <dgm:pt modelId="{13320D02-AF42-4814-987B-8ECB1F7B5817}" type="sibTrans" cxnId="{0EA2AC44-796C-443A-A3A4-3C13886520A9}">
      <dgm:prSet/>
      <dgm:spPr/>
      <dgm:t>
        <a:bodyPr/>
        <a:lstStyle/>
        <a:p>
          <a:endParaRPr lang="es-SV"/>
        </a:p>
      </dgm:t>
    </dgm:pt>
    <dgm:pt modelId="{CAC3D236-787D-4871-9FCA-F979343983B1}">
      <dgm:prSet phldrT="[Texto]"/>
      <dgm:spPr/>
      <dgm:t>
        <a:bodyPr/>
        <a:lstStyle/>
        <a:p>
          <a:pPr>
            <a:buFont typeface="Arial" panose="020B0604020202020204" pitchFamily="34" charset="0"/>
            <a:buChar char="•"/>
          </a:pPr>
          <a:r>
            <a:rPr lang="es-MX" b="0" i="0"/>
            <a:t>Mercadeo: Ayudará a saber cómo se está vendiendo el producto o servicio de la empresa y qué tan efectiva es la campaña de mercadeo.</a:t>
          </a:r>
          <a:endParaRPr lang="es-SV" dirty="0"/>
        </a:p>
      </dgm:t>
    </dgm:pt>
    <dgm:pt modelId="{5A0141A7-3425-43CD-83C0-8A4181047271}" type="parTrans" cxnId="{98C85DD7-D11C-4785-BCEB-3226BE399F61}">
      <dgm:prSet/>
      <dgm:spPr/>
      <dgm:t>
        <a:bodyPr/>
        <a:lstStyle/>
        <a:p>
          <a:endParaRPr lang="es-SV"/>
        </a:p>
      </dgm:t>
    </dgm:pt>
    <dgm:pt modelId="{D9BE94D4-E00F-4ACB-B7AE-457B7B27CCC9}" type="sibTrans" cxnId="{98C85DD7-D11C-4785-BCEB-3226BE399F61}">
      <dgm:prSet/>
      <dgm:spPr/>
      <dgm:t>
        <a:bodyPr/>
        <a:lstStyle/>
        <a:p>
          <a:endParaRPr lang="es-SV"/>
        </a:p>
      </dgm:t>
    </dgm:pt>
    <dgm:pt modelId="{B9FA78FE-1C74-4689-A003-C0EC825A3390}" type="pres">
      <dgm:prSet presAssocID="{B1BE4F43-D795-40B5-BF3D-23FDEC3E2BC2}" presName="Name0" presStyleCnt="0">
        <dgm:presLayoutVars>
          <dgm:chMax val="7"/>
          <dgm:chPref val="7"/>
          <dgm:dir/>
        </dgm:presLayoutVars>
      </dgm:prSet>
      <dgm:spPr/>
    </dgm:pt>
    <dgm:pt modelId="{8DCD8804-7F12-4434-8DCD-51E4DB2B169F}" type="pres">
      <dgm:prSet presAssocID="{B1BE4F43-D795-40B5-BF3D-23FDEC3E2BC2}" presName="Name1" presStyleCnt="0"/>
      <dgm:spPr/>
    </dgm:pt>
    <dgm:pt modelId="{D5DC3238-9898-4BBA-8ECB-D43E66CFAA8B}" type="pres">
      <dgm:prSet presAssocID="{B1BE4F43-D795-40B5-BF3D-23FDEC3E2BC2}" presName="cycle" presStyleCnt="0"/>
      <dgm:spPr/>
    </dgm:pt>
    <dgm:pt modelId="{EEA09652-8872-4D06-AC63-FEB64901DDEA}" type="pres">
      <dgm:prSet presAssocID="{B1BE4F43-D795-40B5-BF3D-23FDEC3E2BC2}" presName="srcNode" presStyleLbl="node1" presStyleIdx="0" presStyleCnt="5"/>
      <dgm:spPr/>
    </dgm:pt>
    <dgm:pt modelId="{F00697DF-3C50-4978-8AB7-FBC6F1F33E66}" type="pres">
      <dgm:prSet presAssocID="{B1BE4F43-D795-40B5-BF3D-23FDEC3E2BC2}" presName="conn" presStyleLbl="parChTrans1D2" presStyleIdx="0" presStyleCnt="1"/>
      <dgm:spPr/>
    </dgm:pt>
    <dgm:pt modelId="{E07D7E9E-E3FE-4615-BD26-A93BC97489EA}" type="pres">
      <dgm:prSet presAssocID="{B1BE4F43-D795-40B5-BF3D-23FDEC3E2BC2}" presName="extraNode" presStyleLbl="node1" presStyleIdx="0" presStyleCnt="5"/>
      <dgm:spPr/>
    </dgm:pt>
    <dgm:pt modelId="{E171D04F-3AAE-4AC2-A9F0-28151FACE545}" type="pres">
      <dgm:prSet presAssocID="{B1BE4F43-D795-40B5-BF3D-23FDEC3E2BC2}" presName="dstNode" presStyleLbl="node1" presStyleIdx="0" presStyleCnt="5"/>
      <dgm:spPr/>
    </dgm:pt>
    <dgm:pt modelId="{8E806A21-D1A5-4F09-9794-02E7038B6604}" type="pres">
      <dgm:prSet presAssocID="{7DA39385-EF23-435F-B6DA-44517CD12B6A}" presName="text_1" presStyleLbl="node1" presStyleIdx="0" presStyleCnt="5">
        <dgm:presLayoutVars>
          <dgm:bulletEnabled val="1"/>
        </dgm:presLayoutVars>
      </dgm:prSet>
      <dgm:spPr/>
    </dgm:pt>
    <dgm:pt modelId="{2B17594E-BB5D-4706-9EA2-BF0F0F89E437}" type="pres">
      <dgm:prSet presAssocID="{7DA39385-EF23-435F-B6DA-44517CD12B6A}" presName="accent_1" presStyleCnt="0"/>
      <dgm:spPr/>
    </dgm:pt>
    <dgm:pt modelId="{98DB4688-E5B2-41B3-9352-E7CFEEFA37D7}" type="pres">
      <dgm:prSet presAssocID="{7DA39385-EF23-435F-B6DA-44517CD12B6A}" presName="accentRepeatNode" presStyleLbl="solidFgAcc1" presStyleIdx="0" presStyleCnt="5"/>
      <dgm:spPr/>
    </dgm:pt>
    <dgm:pt modelId="{E82435BD-8736-4844-AEDC-46ABB24B72D6}" type="pres">
      <dgm:prSet presAssocID="{C278A84E-7951-48DB-A4AA-90D47A9BF0DD}" presName="text_2" presStyleLbl="node1" presStyleIdx="1" presStyleCnt="5">
        <dgm:presLayoutVars>
          <dgm:bulletEnabled val="1"/>
        </dgm:presLayoutVars>
      </dgm:prSet>
      <dgm:spPr/>
    </dgm:pt>
    <dgm:pt modelId="{38E3725B-A036-480F-9C91-D3E50FFBADAE}" type="pres">
      <dgm:prSet presAssocID="{C278A84E-7951-48DB-A4AA-90D47A9BF0DD}" presName="accent_2" presStyleCnt="0"/>
      <dgm:spPr/>
    </dgm:pt>
    <dgm:pt modelId="{62BF818E-D363-487D-9E1E-E8C14C798710}" type="pres">
      <dgm:prSet presAssocID="{C278A84E-7951-48DB-A4AA-90D47A9BF0DD}" presName="accentRepeatNode" presStyleLbl="solidFgAcc1" presStyleIdx="1" presStyleCnt="5"/>
      <dgm:spPr/>
    </dgm:pt>
    <dgm:pt modelId="{32E0D037-A6D0-459A-9618-9CDAC65F95FC}" type="pres">
      <dgm:prSet presAssocID="{1C6F484B-6747-48F8-9EF0-4331433C6B5D}" presName="text_3" presStyleLbl="node1" presStyleIdx="2" presStyleCnt="5">
        <dgm:presLayoutVars>
          <dgm:bulletEnabled val="1"/>
        </dgm:presLayoutVars>
      </dgm:prSet>
      <dgm:spPr/>
    </dgm:pt>
    <dgm:pt modelId="{43E3B54A-0D86-4952-956B-1FD28E11C56F}" type="pres">
      <dgm:prSet presAssocID="{1C6F484B-6747-48F8-9EF0-4331433C6B5D}" presName="accent_3" presStyleCnt="0"/>
      <dgm:spPr/>
    </dgm:pt>
    <dgm:pt modelId="{2665218C-327B-4A55-BD0C-FC4DDE9FA4C9}" type="pres">
      <dgm:prSet presAssocID="{1C6F484B-6747-48F8-9EF0-4331433C6B5D}" presName="accentRepeatNode" presStyleLbl="solidFgAcc1" presStyleIdx="2" presStyleCnt="5"/>
      <dgm:spPr/>
    </dgm:pt>
    <dgm:pt modelId="{B758288E-A5C4-4004-AF0B-E884F81D74FA}" type="pres">
      <dgm:prSet presAssocID="{DB8DA478-8ADE-4AD9-B03B-D0C030312FD7}" presName="text_4" presStyleLbl="node1" presStyleIdx="3" presStyleCnt="5">
        <dgm:presLayoutVars>
          <dgm:bulletEnabled val="1"/>
        </dgm:presLayoutVars>
      </dgm:prSet>
      <dgm:spPr/>
    </dgm:pt>
    <dgm:pt modelId="{E8358ED0-1325-4793-85D0-413FE5637014}" type="pres">
      <dgm:prSet presAssocID="{DB8DA478-8ADE-4AD9-B03B-D0C030312FD7}" presName="accent_4" presStyleCnt="0"/>
      <dgm:spPr/>
    </dgm:pt>
    <dgm:pt modelId="{C51EBE15-FB89-47C0-AE84-8E85AE51321A}" type="pres">
      <dgm:prSet presAssocID="{DB8DA478-8ADE-4AD9-B03B-D0C030312FD7}" presName="accentRepeatNode" presStyleLbl="solidFgAcc1" presStyleIdx="3" presStyleCnt="5"/>
      <dgm:spPr/>
    </dgm:pt>
    <dgm:pt modelId="{C49E9CA0-BC3A-431D-8D88-54C10B7D9DAD}" type="pres">
      <dgm:prSet presAssocID="{CAC3D236-787D-4871-9FCA-F979343983B1}" presName="text_5" presStyleLbl="node1" presStyleIdx="4" presStyleCnt="5">
        <dgm:presLayoutVars>
          <dgm:bulletEnabled val="1"/>
        </dgm:presLayoutVars>
      </dgm:prSet>
      <dgm:spPr/>
    </dgm:pt>
    <dgm:pt modelId="{DA003B53-D33C-48FA-9B2B-0C6DCCEA2885}" type="pres">
      <dgm:prSet presAssocID="{CAC3D236-787D-4871-9FCA-F979343983B1}" presName="accent_5" presStyleCnt="0"/>
      <dgm:spPr/>
    </dgm:pt>
    <dgm:pt modelId="{9E8CBD99-5ABD-4A10-9CA2-61064F8A4BBF}" type="pres">
      <dgm:prSet presAssocID="{CAC3D236-787D-4871-9FCA-F979343983B1}" presName="accentRepeatNode" presStyleLbl="solidFgAcc1" presStyleIdx="4" presStyleCnt="5"/>
      <dgm:spPr/>
    </dgm:pt>
  </dgm:ptLst>
  <dgm:cxnLst>
    <dgm:cxn modelId="{05D9CB0D-25E5-4A12-B677-F75C6D11E9D5}" type="presOf" srcId="{BFCE30E8-6B19-4C94-AA0F-669FE06AD988}" destId="{F00697DF-3C50-4978-8AB7-FBC6F1F33E66}" srcOrd="0" destOrd="0" presId="urn:microsoft.com/office/officeart/2008/layout/VerticalCurvedList"/>
    <dgm:cxn modelId="{BD736D1F-FC49-46C2-BCE6-6EC4BBBF06C2}" srcId="{B1BE4F43-D795-40B5-BF3D-23FDEC3E2BC2}" destId="{C278A84E-7951-48DB-A4AA-90D47A9BF0DD}" srcOrd="1" destOrd="0" parTransId="{A5FB1AA4-4E15-409F-A39C-EA59C73AC394}" sibTransId="{A8BB5EF8-D5FB-418C-9AF2-9A5619F38FE2}"/>
    <dgm:cxn modelId="{F4184B22-17A5-4E42-8A48-B21A04602983}" type="presOf" srcId="{CAC3D236-787D-4871-9FCA-F979343983B1}" destId="{C49E9CA0-BC3A-431D-8D88-54C10B7D9DAD}" srcOrd="0" destOrd="0" presId="urn:microsoft.com/office/officeart/2008/layout/VerticalCurvedList"/>
    <dgm:cxn modelId="{CD5C5D3D-3454-4A73-96A2-7198436F22A2}" srcId="{B1BE4F43-D795-40B5-BF3D-23FDEC3E2BC2}" destId="{1C6F484B-6747-48F8-9EF0-4331433C6B5D}" srcOrd="2" destOrd="0" parTransId="{E72F9F51-2BAB-42F0-A906-3610CC96BAAB}" sibTransId="{4092F479-C4F7-421F-B3A1-6E76EBE76889}"/>
    <dgm:cxn modelId="{0EA2AC44-796C-443A-A3A4-3C13886520A9}" srcId="{B1BE4F43-D795-40B5-BF3D-23FDEC3E2BC2}" destId="{DB8DA478-8ADE-4AD9-B03B-D0C030312FD7}" srcOrd="3" destOrd="0" parTransId="{1F55B186-51E0-478E-9258-5937A43576CA}" sibTransId="{13320D02-AF42-4814-987B-8ECB1F7B5817}"/>
    <dgm:cxn modelId="{0464AB53-ACA8-4925-B1D7-F20A1EE78EBA}" srcId="{B1BE4F43-D795-40B5-BF3D-23FDEC3E2BC2}" destId="{7DA39385-EF23-435F-B6DA-44517CD12B6A}" srcOrd="0" destOrd="0" parTransId="{62529C06-8EB0-4709-8036-EDF66541F6FF}" sibTransId="{BFCE30E8-6B19-4C94-AA0F-669FE06AD988}"/>
    <dgm:cxn modelId="{8D962D58-4157-44F2-B2AD-4C56314A2950}" type="presOf" srcId="{B1BE4F43-D795-40B5-BF3D-23FDEC3E2BC2}" destId="{B9FA78FE-1C74-4689-A003-C0EC825A3390}" srcOrd="0" destOrd="0" presId="urn:microsoft.com/office/officeart/2008/layout/VerticalCurvedList"/>
    <dgm:cxn modelId="{277269A7-DD83-4854-A4D0-6BF9B9B0BF45}" type="presOf" srcId="{C278A84E-7951-48DB-A4AA-90D47A9BF0DD}" destId="{E82435BD-8736-4844-AEDC-46ABB24B72D6}" srcOrd="0" destOrd="0" presId="urn:microsoft.com/office/officeart/2008/layout/VerticalCurvedList"/>
    <dgm:cxn modelId="{848D18BF-B9C9-4FDD-8D59-1283A899A72A}" type="presOf" srcId="{7DA39385-EF23-435F-B6DA-44517CD12B6A}" destId="{8E806A21-D1A5-4F09-9794-02E7038B6604}" srcOrd="0" destOrd="0" presId="urn:microsoft.com/office/officeart/2008/layout/VerticalCurvedList"/>
    <dgm:cxn modelId="{66F385D1-25A5-4D21-9EC0-67FB9D9F226C}" type="presOf" srcId="{DB8DA478-8ADE-4AD9-B03B-D0C030312FD7}" destId="{B758288E-A5C4-4004-AF0B-E884F81D74FA}" srcOrd="0" destOrd="0" presId="urn:microsoft.com/office/officeart/2008/layout/VerticalCurvedList"/>
    <dgm:cxn modelId="{2B0481D2-F099-4E5B-AAE5-86D9DAAFF6B1}" type="presOf" srcId="{1C6F484B-6747-48F8-9EF0-4331433C6B5D}" destId="{32E0D037-A6D0-459A-9618-9CDAC65F95FC}" srcOrd="0" destOrd="0" presId="urn:microsoft.com/office/officeart/2008/layout/VerticalCurvedList"/>
    <dgm:cxn modelId="{98C85DD7-D11C-4785-BCEB-3226BE399F61}" srcId="{B1BE4F43-D795-40B5-BF3D-23FDEC3E2BC2}" destId="{CAC3D236-787D-4871-9FCA-F979343983B1}" srcOrd="4" destOrd="0" parTransId="{5A0141A7-3425-43CD-83C0-8A4181047271}" sibTransId="{D9BE94D4-E00F-4ACB-B7AE-457B7B27CCC9}"/>
    <dgm:cxn modelId="{1106218C-67E9-4B1E-983F-E7433FDC3AF5}" type="presParOf" srcId="{B9FA78FE-1C74-4689-A003-C0EC825A3390}" destId="{8DCD8804-7F12-4434-8DCD-51E4DB2B169F}" srcOrd="0" destOrd="0" presId="urn:microsoft.com/office/officeart/2008/layout/VerticalCurvedList"/>
    <dgm:cxn modelId="{767C16E7-1434-42AF-893F-D0F1164E741B}" type="presParOf" srcId="{8DCD8804-7F12-4434-8DCD-51E4DB2B169F}" destId="{D5DC3238-9898-4BBA-8ECB-D43E66CFAA8B}" srcOrd="0" destOrd="0" presId="urn:microsoft.com/office/officeart/2008/layout/VerticalCurvedList"/>
    <dgm:cxn modelId="{B42B7DA6-D1A1-4815-9373-42757F745163}" type="presParOf" srcId="{D5DC3238-9898-4BBA-8ECB-D43E66CFAA8B}" destId="{EEA09652-8872-4D06-AC63-FEB64901DDEA}" srcOrd="0" destOrd="0" presId="urn:microsoft.com/office/officeart/2008/layout/VerticalCurvedList"/>
    <dgm:cxn modelId="{91D30EF3-E7F2-4977-B623-D3CA975DC9C3}" type="presParOf" srcId="{D5DC3238-9898-4BBA-8ECB-D43E66CFAA8B}" destId="{F00697DF-3C50-4978-8AB7-FBC6F1F33E66}" srcOrd="1" destOrd="0" presId="urn:microsoft.com/office/officeart/2008/layout/VerticalCurvedList"/>
    <dgm:cxn modelId="{C6431DAC-892B-4724-8F67-E93A7B1E82BA}" type="presParOf" srcId="{D5DC3238-9898-4BBA-8ECB-D43E66CFAA8B}" destId="{E07D7E9E-E3FE-4615-BD26-A93BC97489EA}" srcOrd="2" destOrd="0" presId="urn:microsoft.com/office/officeart/2008/layout/VerticalCurvedList"/>
    <dgm:cxn modelId="{64AF5193-6C2F-4281-B6D9-33DD6BC2D8F2}" type="presParOf" srcId="{D5DC3238-9898-4BBA-8ECB-D43E66CFAA8B}" destId="{E171D04F-3AAE-4AC2-A9F0-28151FACE545}" srcOrd="3" destOrd="0" presId="urn:microsoft.com/office/officeart/2008/layout/VerticalCurvedList"/>
    <dgm:cxn modelId="{CB28FCBB-483E-4B69-BC08-9AF647662F9F}" type="presParOf" srcId="{8DCD8804-7F12-4434-8DCD-51E4DB2B169F}" destId="{8E806A21-D1A5-4F09-9794-02E7038B6604}" srcOrd="1" destOrd="0" presId="urn:microsoft.com/office/officeart/2008/layout/VerticalCurvedList"/>
    <dgm:cxn modelId="{CD1C212C-6DA8-4B71-AA4F-325C3663D700}" type="presParOf" srcId="{8DCD8804-7F12-4434-8DCD-51E4DB2B169F}" destId="{2B17594E-BB5D-4706-9EA2-BF0F0F89E437}" srcOrd="2" destOrd="0" presId="urn:microsoft.com/office/officeart/2008/layout/VerticalCurvedList"/>
    <dgm:cxn modelId="{3145F938-4E88-4DE5-A88D-2A4FFCA35776}" type="presParOf" srcId="{2B17594E-BB5D-4706-9EA2-BF0F0F89E437}" destId="{98DB4688-E5B2-41B3-9352-E7CFEEFA37D7}" srcOrd="0" destOrd="0" presId="urn:microsoft.com/office/officeart/2008/layout/VerticalCurvedList"/>
    <dgm:cxn modelId="{F1052D00-30B1-4CD4-87BA-CC4B118716C6}" type="presParOf" srcId="{8DCD8804-7F12-4434-8DCD-51E4DB2B169F}" destId="{E82435BD-8736-4844-AEDC-46ABB24B72D6}" srcOrd="3" destOrd="0" presId="urn:microsoft.com/office/officeart/2008/layout/VerticalCurvedList"/>
    <dgm:cxn modelId="{3D342E5D-3C6B-4DB6-BF3D-CB2B412D35BE}" type="presParOf" srcId="{8DCD8804-7F12-4434-8DCD-51E4DB2B169F}" destId="{38E3725B-A036-480F-9C91-D3E50FFBADAE}" srcOrd="4" destOrd="0" presId="urn:microsoft.com/office/officeart/2008/layout/VerticalCurvedList"/>
    <dgm:cxn modelId="{3FC1EB83-C52D-426D-A8E1-D95D3D9DBB6B}" type="presParOf" srcId="{38E3725B-A036-480F-9C91-D3E50FFBADAE}" destId="{62BF818E-D363-487D-9E1E-E8C14C798710}" srcOrd="0" destOrd="0" presId="urn:microsoft.com/office/officeart/2008/layout/VerticalCurvedList"/>
    <dgm:cxn modelId="{46ABC3C6-A676-4452-8A50-8E28501D7528}" type="presParOf" srcId="{8DCD8804-7F12-4434-8DCD-51E4DB2B169F}" destId="{32E0D037-A6D0-459A-9618-9CDAC65F95FC}" srcOrd="5" destOrd="0" presId="urn:microsoft.com/office/officeart/2008/layout/VerticalCurvedList"/>
    <dgm:cxn modelId="{2C1E949E-CAB7-4A5E-9A75-5B243E1AB11A}" type="presParOf" srcId="{8DCD8804-7F12-4434-8DCD-51E4DB2B169F}" destId="{43E3B54A-0D86-4952-956B-1FD28E11C56F}" srcOrd="6" destOrd="0" presId="urn:microsoft.com/office/officeart/2008/layout/VerticalCurvedList"/>
    <dgm:cxn modelId="{85292A69-2DC9-4832-8AB9-4504FBB246B0}" type="presParOf" srcId="{43E3B54A-0D86-4952-956B-1FD28E11C56F}" destId="{2665218C-327B-4A55-BD0C-FC4DDE9FA4C9}" srcOrd="0" destOrd="0" presId="urn:microsoft.com/office/officeart/2008/layout/VerticalCurvedList"/>
    <dgm:cxn modelId="{714CA198-7933-4EB6-B54A-9C9F45A9C616}" type="presParOf" srcId="{8DCD8804-7F12-4434-8DCD-51E4DB2B169F}" destId="{B758288E-A5C4-4004-AF0B-E884F81D74FA}" srcOrd="7" destOrd="0" presId="urn:microsoft.com/office/officeart/2008/layout/VerticalCurvedList"/>
    <dgm:cxn modelId="{B2810996-374E-4F9E-84C0-1732E1B0CDEF}" type="presParOf" srcId="{8DCD8804-7F12-4434-8DCD-51E4DB2B169F}" destId="{E8358ED0-1325-4793-85D0-413FE5637014}" srcOrd="8" destOrd="0" presId="urn:microsoft.com/office/officeart/2008/layout/VerticalCurvedList"/>
    <dgm:cxn modelId="{9E9EC744-4AB8-46F4-B1B7-B6D67022C449}" type="presParOf" srcId="{E8358ED0-1325-4793-85D0-413FE5637014}" destId="{C51EBE15-FB89-47C0-AE84-8E85AE51321A}" srcOrd="0" destOrd="0" presId="urn:microsoft.com/office/officeart/2008/layout/VerticalCurvedList"/>
    <dgm:cxn modelId="{651B81B3-21A6-4F31-8A30-27E06BFC6861}" type="presParOf" srcId="{8DCD8804-7F12-4434-8DCD-51E4DB2B169F}" destId="{C49E9CA0-BC3A-431D-8D88-54C10B7D9DAD}" srcOrd="9" destOrd="0" presId="urn:microsoft.com/office/officeart/2008/layout/VerticalCurvedList"/>
    <dgm:cxn modelId="{C195CC41-90DB-41C5-99C0-EBE159BD3253}" type="presParOf" srcId="{8DCD8804-7F12-4434-8DCD-51E4DB2B169F}" destId="{DA003B53-D33C-48FA-9B2B-0C6DCCEA2885}" srcOrd="10" destOrd="0" presId="urn:microsoft.com/office/officeart/2008/layout/VerticalCurvedList"/>
    <dgm:cxn modelId="{79E1903F-F202-434D-9A24-DD193BCF4101}" type="presParOf" srcId="{DA003B53-D33C-48FA-9B2B-0C6DCCEA2885}" destId="{9E8CBD99-5ABD-4A10-9CA2-61064F8A4BB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BE4F43-D795-40B5-BF3D-23FDEC3E2BC2}" type="doc">
      <dgm:prSet loTypeId="urn:microsoft.com/office/officeart/2005/8/layout/vList5" loCatId="list" qsTypeId="urn:microsoft.com/office/officeart/2005/8/quickstyle/simple1" qsCatId="simple" csTypeId="urn:microsoft.com/office/officeart/2005/8/colors/colorful4" csCatId="colorful" phldr="1"/>
      <dgm:spPr/>
    </dgm:pt>
    <dgm:pt modelId="{7DA39385-EF23-435F-B6DA-44517CD12B6A}">
      <dgm:prSet phldrT="[Texto]"/>
      <dgm:spPr/>
      <dgm:t>
        <a:bodyPr/>
        <a:lstStyle/>
        <a:p>
          <a:r>
            <a:rPr lang="es-SV" b="0" i="0" dirty="0"/>
            <a:t>Definir objetivos.</a:t>
          </a:r>
          <a:endParaRPr lang="es-SV" dirty="0"/>
        </a:p>
      </dgm:t>
    </dgm:pt>
    <dgm:pt modelId="{62529C06-8EB0-4709-8036-EDF66541F6FF}" type="parTrans" cxnId="{0464AB53-ACA8-4925-B1D7-F20A1EE78EBA}">
      <dgm:prSet/>
      <dgm:spPr/>
      <dgm:t>
        <a:bodyPr/>
        <a:lstStyle/>
        <a:p>
          <a:endParaRPr lang="es-SV"/>
        </a:p>
      </dgm:t>
    </dgm:pt>
    <dgm:pt modelId="{BFCE30E8-6B19-4C94-AA0F-669FE06AD988}" type="sibTrans" cxnId="{0464AB53-ACA8-4925-B1D7-F20A1EE78EBA}">
      <dgm:prSet/>
      <dgm:spPr/>
      <dgm:t>
        <a:bodyPr/>
        <a:lstStyle/>
        <a:p>
          <a:endParaRPr lang="es-SV"/>
        </a:p>
      </dgm:t>
    </dgm:pt>
    <dgm:pt modelId="{C278A84E-7951-48DB-A4AA-90D47A9BF0DD}">
      <dgm:prSet phldrT="[Texto]"/>
      <dgm:spPr/>
      <dgm:t>
        <a:bodyPr/>
        <a:lstStyle/>
        <a:p>
          <a:pPr>
            <a:buFont typeface="Arial" panose="020B0604020202020204" pitchFamily="34" charset="0"/>
            <a:buChar char="•"/>
          </a:pPr>
          <a:r>
            <a:rPr lang="es-MX" b="0" i="0" dirty="0"/>
            <a:t>Fijar el proceso a seguir.</a:t>
          </a:r>
          <a:endParaRPr lang="es-SV" dirty="0"/>
        </a:p>
      </dgm:t>
    </dgm:pt>
    <dgm:pt modelId="{A5FB1AA4-4E15-409F-A39C-EA59C73AC394}" type="parTrans" cxnId="{BD736D1F-FC49-46C2-BCE6-6EC4BBBF06C2}">
      <dgm:prSet/>
      <dgm:spPr/>
      <dgm:t>
        <a:bodyPr/>
        <a:lstStyle/>
        <a:p>
          <a:endParaRPr lang="es-SV"/>
        </a:p>
      </dgm:t>
    </dgm:pt>
    <dgm:pt modelId="{A8BB5EF8-D5FB-418C-9AF2-9A5619F38FE2}" type="sibTrans" cxnId="{BD736D1F-FC49-46C2-BCE6-6EC4BBBF06C2}">
      <dgm:prSet/>
      <dgm:spPr/>
      <dgm:t>
        <a:bodyPr/>
        <a:lstStyle/>
        <a:p>
          <a:endParaRPr lang="es-SV"/>
        </a:p>
      </dgm:t>
    </dgm:pt>
    <dgm:pt modelId="{1C6F484B-6747-48F8-9EF0-4331433C6B5D}">
      <dgm:prSet phldrT="[Texto]"/>
      <dgm:spPr/>
      <dgm:t>
        <a:bodyPr/>
        <a:lstStyle/>
        <a:p>
          <a:pPr>
            <a:buFont typeface="Arial" panose="020B0604020202020204" pitchFamily="34" charset="0"/>
            <a:buChar char="•"/>
          </a:pPr>
          <a:r>
            <a:rPr lang="es-SV" b="0" i="0" dirty="0"/>
            <a:t>Introducir mecanismos de seguimiento.</a:t>
          </a:r>
          <a:endParaRPr lang="es-SV" dirty="0"/>
        </a:p>
      </dgm:t>
    </dgm:pt>
    <dgm:pt modelId="{E72F9F51-2BAB-42F0-A906-3610CC96BAAB}" type="parTrans" cxnId="{CD5C5D3D-3454-4A73-96A2-7198436F22A2}">
      <dgm:prSet/>
      <dgm:spPr/>
      <dgm:t>
        <a:bodyPr/>
        <a:lstStyle/>
        <a:p>
          <a:endParaRPr lang="es-SV"/>
        </a:p>
      </dgm:t>
    </dgm:pt>
    <dgm:pt modelId="{4092F479-C4F7-421F-B3A1-6E76EBE76889}" type="sibTrans" cxnId="{CD5C5D3D-3454-4A73-96A2-7198436F22A2}">
      <dgm:prSet/>
      <dgm:spPr/>
      <dgm:t>
        <a:bodyPr/>
        <a:lstStyle/>
        <a:p>
          <a:endParaRPr lang="es-SV"/>
        </a:p>
      </dgm:t>
    </dgm:pt>
    <dgm:pt modelId="{DB8DA478-8ADE-4AD9-B03B-D0C030312FD7}">
      <dgm:prSet phldrT="[Texto]"/>
      <dgm:spPr/>
      <dgm:t>
        <a:bodyPr/>
        <a:lstStyle/>
        <a:p>
          <a:pPr>
            <a:buFont typeface="Arial" panose="020B0604020202020204" pitchFamily="34" charset="0"/>
            <a:buChar char="•"/>
          </a:pPr>
          <a:r>
            <a:rPr lang="es-SV" b="0" i="0" dirty="0"/>
            <a:t>Evaluaciones</a:t>
          </a:r>
          <a:endParaRPr lang="es-SV" dirty="0"/>
        </a:p>
      </dgm:t>
    </dgm:pt>
    <dgm:pt modelId="{1F55B186-51E0-478E-9258-5937A43576CA}" type="parTrans" cxnId="{0EA2AC44-796C-443A-A3A4-3C13886520A9}">
      <dgm:prSet/>
      <dgm:spPr/>
      <dgm:t>
        <a:bodyPr/>
        <a:lstStyle/>
        <a:p>
          <a:endParaRPr lang="es-SV"/>
        </a:p>
      </dgm:t>
    </dgm:pt>
    <dgm:pt modelId="{13320D02-AF42-4814-987B-8ECB1F7B5817}" type="sibTrans" cxnId="{0EA2AC44-796C-443A-A3A4-3C13886520A9}">
      <dgm:prSet/>
      <dgm:spPr/>
      <dgm:t>
        <a:bodyPr/>
        <a:lstStyle/>
        <a:p>
          <a:endParaRPr lang="es-SV"/>
        </a:p>
      </dgm:t>
    </dgm:pt>
    <dgm:pt modelId="{DB7EE662-5505-49B1-BE1A-57CC0CD88B8B}">
      <dgm:prSet phldrT="[Texto]"/>
      <dgm:spPr/>
      <dgm:t>
        <a:bodyPr/>
        <a:lstStyle/>
        <a:p>
          <a:pPr>
            <a:buFont typeface="+mj-lt"/>
            <a:buAutoNum type="arabicPeriod"/>
          </a:pPr>
          <a:r>
            <a:rPr lang="es-MX" b="0" i="0"/>
            <a:t>Precisar las metas a alcanzar debe ser el primer paso a tomar. Objetivos generales y específicos por departamento. A su vez, los indicadores se desarrollaran a partir de las metas específicos, teniendo en cuenta que entre más información se tenga, mejor planteados estarán y más acciones podrán cumplir.</a:t>
          </a:r>
          <a:endParaRPr lang="es-SV" dirty="0"/>
        </a:p>
      </dgm:t>
    </dgm:pt>
    <dgm:pt modelId="{618E1FA3-193C-4C44-B6AA-13136A8CBABB}" type="parTrans" cxnId="{9D846556-204C-494C-B39D-AEB12924DD39}">
      <dgm:prSet/>
      <dgm:spPr/>
      <dgm:t>
        <a:bodyPr/>
        <a:lstStyle/>
        <a:p>
          <a:endParaRPr lang="es-SV"/>
        </a:p>
      </dgm:t>
    </dgm:pt>
    <dgm:pt modelId="{A2CF7077-0927-40C8-8F94-EA2C69B168F4}" type="sibTrans" cxnId="{9D846556-204C-494C-B39D-AEB12924DD39}">
      <dgm:prSet/>
      <dgm:spPr/>
      <dgm:t>
        <a:bodyPr/>
        <a:lstStyle/>
        <a:p>
          <a:endParaRPr lang="es-SV"/>
        </a:p>
      </dgm:t>
    </dgm:pt>
    <dgm:pt modelId="{F517B8BE-BA22-4A55-AE89-26FB59E4051F}">
      <dgm:prSet phldrT="[Texto]"/>
      <dgm:spPr/>
      <dgm:t>
        <a:bodyPr/>
        <a:lstStyle/>
        <a:p>
          <a:r>
            <a:rPr lang="es-MX" b="0" i="0"/>
            <a:t>Debes realizar el proceso para que el KPI se cumpla, por ejemplo, si será un indicador destinado a la parte financiera de la empresa, debes tener claro, dónde se almacenará la información, que items se tomarán en cuenta para la medición y designar encargados.</a:t>
          </a:r>
          <a:endParaRPr lang="es-SV" dirty="0"/>
        </a:p>
      </dgm:t>
    </dgm:pt>
    <dgm:pt modelId="{3480E97A-D7FB-4BC4-9A7C-78B4C28FE946}" type="parTrans" cxnId="{3486D1FD-B6CE-4721-961A-AB22A4287DA4}">
      <dgm:prSet/>
      <dgm:spPr/>
      <dgm:t>
        <a:bodyPr/>
        <a:lstStyle/>
        <a:p>
          <a:endParaRPr lang="es-SV"/>
        </a:p>
      </dgm:t>
    </dgm:pt>
    <dgm:pt modelId="{1BE14106-541A-4CE4-8785-6951A61FF46D}" type="sibTrans" cxnId="{3486D1FD-B6CE-4721-961A-AB22A4287DA4}">
      <dgm:prSet/>
      <dgm:spPr/>
      <dgm:t>
        <a:bodyPr/>
        <a:lstStyle/>
        <a:p>
          <a:endParaRPr lang="es-SV"/>
        </a:p>
      </dgm:t>
    </dgm:pt>
    <dgm:pt modelId="{E7EE26E6-9662-4EF3-ABEB-472A5FB3E4B6}">
      <dgm:prSet phldrT="[Texto]"/>
      <dgm:spPr/>
      <dgm:t>
        <a:bodyPr/>
        <a:lstStyle/>
        <a:p>
          <a:r>
            <a:rPr lang="es-MX" b="0" i="0" dirty="0"/>
            <a:t>Para saber si en realidad se está trabajando en el cumplimiento de los </a:t>
          </a:r>
          <a:r>
            <a:rPr lang="es-MX" b="0" i="0" dirty="0" err="1"/>
            <a:t>KPI’s</a:t>
          </a:r>
          <a:r>
            <a:rPr lang="es-MX" b="0" i="0" dirty="0"/>
            <a:t>, deberás introducir procesos para darle seguimiento a las acciones realizadas por un periodo de tiempo. Una manera efectiva de dar estos seguimientos es a partir de reuniones semanales o quincenales, que pueden ser programadas a principio de la implementación del indicador.</a:t>
          </a:r>
          <a:endParaRPr lang="es-SV" dirty="0"/>
        </a:p>
      </dgm:t>
    </dgm:pt>
    <dgm:pt modelId="{203F6E4C-D67B-40FD-8080-69F1B0413C53}" type="parTrans" cxnId="{130A1CF5-608D-4003-A830-EAE6A3246753}">
      <dgm:prSet/>
      <dgm:spPr/>
      <dgm:t>
        <a:bodyPr/>
        <a:lstStyle/>
        <a:p>
          <a:endParaRPr lang="es-SV"/>
        </a:p>
      </dgm:t>
    </dgm:pt>
    <dgm:pt modelId="{95EE297E-671A-4ACE-9534-604D238B4E39}" type="sibTrans" cxnId="{130A1CF5-608D-4003-A830-EAE6A3246753}">
      <dgm:prSet/>
      <dgm:spPr/>
      <dgm:t>
        <a:bodyPr/>
        <a:lstStyle/>
        <a:p>
          <a:endParaRPr lang="es-SV"/>
        </a:p>
      </dgm:t>
    </dgm:pt>
    <dgm:pt modelId="{A63630DC-6E9B-4116-822E-574E2F31C56F}">
      <dgm:prSet phldrT="[Texto]"/>
      <dgm:spPr/>
      <dgm:t>
        <a:bodyPr/>
        <a:lstStyle/>
        <a:p>
          <a:r>
            <a:rPr lang="es-MX" b="0" i="0" dirty="0"/>
            <a:t>Verificar el cumplimiento de objetivos y cómo se cumplieron. Estas evaluaciones deben ver no sólo si se alcanzaron los objetivos, sino cómo fueron cumplidos, es decir, qué métodos se usaron para conseguirlos. Las evaluaciones pueden ser realizadas periódicamente, de mes en mes.</a:t>
          </a:r>
          <a:endParaRPr lang="es-SV" dirty="0"/>
        </a:p>
      </dgm:t>
    </dgm:pt>
    <dgm:pt modelId="{D6460301-8E39-4CE4-8634-6A6FA8A8FB21}" type="parTrans" cxnId="{F7003BC6-92E3-4E8D-A1CA-A31D0EE40057}">
      <dgm:prSet/>
      <dgm:spPr/>
      <dgm:t>
        <a:bodyPr/>
        <a:lstStyle/>
        <a:p>
          <a:endParaRPr lang="es-SV"/>
        </a:p>
      </dgm:t>
    </dgm:pt>
    <dgm:pt modelId="{EE5B3536-3D73-4B01-8C2F-491EA6F9320D}" type="sibTrans" cxnId="{F7003BC6-92E3-4E8D-A1CA-A31D0EE40057}">
      <dgm:prSet/>
      <dgm:spPr/>
      <dgm:t>
        <a:bodyPr/>
        <a:lstStyle/>
        <a:p>
          <a:endParaRPr lang="es-SV"/>
        </a:p>
      </dgm:t>
    </dgm:pt>
    <dgm:pt modelId="{A58A4B81-AB65-4507-AD9A-6FD5E2B8105F}" type="pres">
      <dgm:prSet presAssocID="{B1BE4F43-D795-40B5-BF3D-23FDEC3E2BC2}" presName="Name0" presStyleCnt="0">
        <dgm:presLayoutVars>
          <dgm:dir/>
          <dgm:animLvl val="lvl"/>
          <dgm:resizeHandles val="exact"/>
        </dgm:presLayoutVars>
      </dgm:prSet>
      <dgm:spPr/>
    </dgm:pt>
    <dgm:pt modelId="{908E1D6A-73CC-4BC9-A63D-9981A9280E38}" type="pres">
      <dgm:prSet presAssocID="{7DA39385-EF23-435F-B6DA-44517CD12B6A}" presName="linNode" presStyleCnt="0"/>
      <dgm:spPr/>
    </dgm:pt>
    <dgm:pt modelId="{46AD2B71-9504-4FE4-B13B-592098F9E926}" type="pres">
      <dgm:prSet presAssocID="{7DA39385-EF23-435F-B6DA-44517CD12B6A}" presName="parentText" presStyleLbl="node1" presStyleIdx="0" presStyleCnt="4" custLinFactNeighborY="-208">
        <dgm:presLayoutVars>
          <dgm:chMax val="1"/>
          <dgm:bulletEnabled val="1"/>
        </dgm:presLayoutVars>
      </dgm:prSet>
      <dgm:spPr/>
    </dgm:pt>
    <dgm:pt modelId="{56F6E9B4-1FFF-45A3-80D7-90347C589B6C}" type="pres">
      <dgm:prSet presAssocID="{7DA39385-EF23-435F-B6DA-44517CD12B6A}" presName="descendantText" presStyleLbl="alignAccFollowNode1" presStyleIdx="0" presStyleCnt="4">
        <dgm:presLayoutVars>
          <dgm:bulletEnabled val="1"/>
        </dgm:presLayoutVars>
      </dgm:prSet>
      <dgm:spPr/>
    </dgm:pt>
    <dgm:pt modelId="{FAC2C717-2658-4DD7-8166-85DC12CB241B}" type="pres">
      <dgm:prSet presAssocID="{BFCE30E8-6B19-4C94-AA0F-669FE06AD988}" presName="sp" presStyleCnt="0"/>
      <dgm:spPr/>
    </dgm:pt>
    <dgm:pt modelId="{6DBE9033-CE57-4058-B8BC-88FB3B4EF9CD}" type="pres">
      <dgm:prSet presAssocID="{C278A84E-7951-48DB-A4AA-90D47A9BF0DD}" presName="linNode" presStyleCnt="0"/>
      <dgm:spPr/>
    </dgm:pt>
    <dgm:pt modelId="{015F2EC7-4647-4ADC-B4AF-2D8928098C68}" type="pres">
      <dgm:prSet presAssocID="{C278A84E-7951-48DB-A4AA-90D47A9BF0DD}" presName="parentText" presStyleLbl="node1" presStyleIdx="1" presStyleCnt="4">
        <dgm:presLayoutVars>
          <dgm:chMax val="1"/>
          <dgm:bulletEnabled val="1"/>
        </dgm:presLayoutVars>
      </dgm:prSet>
      <dgm:spPr/>
    </dgm:pt>
    <dgm:pt modelId="{AEF90AE1-758F-4496-BC4C-22388E4EA3BD}" type="pres">
      <dgm:prSet presAssocID="{C278A84E-7951-48DB-A4AA-90D47A9BF0DD}" presName="descendantText" presStyleLbl="alignAccFollowNode1" presStyleIdx="1" presStyleCnt="4">
        <dgm:presLayoutVars>
          <dgm:bulletEnabled val="1"/>
        </dgm:presLayoutVars>
      </dgm:prSet>
      <dgm:spPr/>
    </dgm:pt>
    <dgm:pt modelId="{22E34D96-BAF4-4811-A811-D39CF0DE98C6}" type="pres">
      <dgm:prSet presAssocID="{A8BB5EF8-D5FB-418C-9AF2-9A5619F38FE2}" presName="sp" presStyleCnt="0"/>
      <dgm:spPr/>
    </dgm:pt>
    <dgm:pt modelId="{72C68F9F-6694-4822-B7AB-CB04332F3387}" type="pres">
      <dgm:prSet presAssocID="{1C6F484B-6747-48F8-9EF0-4331433C6B5D}" presName="linNode" presStyleCnt="0"/>
      <dgm:spPr/>
    </dgm:pt>
    <dgm:pt modelId="{04D14C71-C322-4444-991B-32031F4EA8DE}" type="pres">
      <dgm:prSet presAssocID="{1C6F484B-6747-48F8-9EF0-4331433C6B5D}" presName="parentText" presStyleLbl="node1" presStyleIdx="2" presStyleCnt="4">
        <dgm:presLayoutVars>
          <dgm:chMax val="1"/>
          <dgm:bulletEnabled val="1"/>
        </dgm:presLayoutVars>
      </dgm:prSet>
      <dgm:spPr/>
    </dgm:pt>
    <dgm:pt modelId="{B2BE6E59-A990-4C7F-98D9-55CE0F3C40EE}" type="pres">
      <dgm:prSet presAssocID="{1C6F484B-6747-48F8-9EF0-4331433C6B5D}" presName="descendantText" presStyleLbl="alignAccFollowNode1" presStyleIdx="2" presStyleCnt="4">
        <dgm:presLayoutVars>
          <dgm:bulletEnabled val="1"/>
        </dgm:presLayoutVars>
      </dgm:prSet>
      <dgm:spPr/>
    </dgm:pt>
    <dgm:pt modelId="{2CD086C5-C07F-4016-B507-9DF6FAEFED47}" type="pres">
      <dgm:prSet presAssocID="{4092F479-C4F7-421F-B3A1-6E76EBE76889}" presName="sp" presStyleCnt="0"/>
      <dgm:spPr/>
    </dgm:pt>
    <dgm:pt modelId="{F9E36F9D-DD1D-4F7F-8DF5-869B5234244F}" type="pres">
      <dgm:prSet presAssocID="{DB8DA478-8ADE-4AD9-B03B-D0C030312FD7}" presName="linNode" presStyleCnt="0"/>
      <dgm:spPr/>
    </dgm:pt>
    <dgm:pt modelId="{219BC0F6-A158-478D-A79C-B118BA617527}" type="pres">
      <dgm:prSet presAssocID="{DB8DA478-8ADE-4AD9-B03B-D0C030312FD7}" presName="parentText" presStyleLbl="node1" presStyleIdx="3" presStyleCnt="4">
        <dgm:presLayoutVars>
          <dgm:chMax val="1"/>
          <dgm:bulletEnabled val="1"/>
        </dgm:presLayoutVars>
      </dgm:prSet>
      <dgm:spPr/>
    </dgm:pt>
    <dgm:pt modelId="{9C3AEE39-8447-41FA-BEE8-425D716A0612}" type="pres">
      <dgm:prSet presAssocID="{DB8DA478-8ADE-4AD9-B03B-D0C030312FD7}" presName="descendantText" presStyleLbl="alignAccFollowNode1" presStyleIdx="3" presStyleCnt="4">
        <dgm:presLayoutVars>
          <dgm:bulletEnabled val="1"/>
        </dgm:presLayoutVars>
      </dgm:prSet>
      <dgm:spPr/>
    </dgm:pt>
  </dgm:ptLst>
  <dgm:cxnLst>
    <dgm:cxn modelId="{04A84502-CED3-4EA6-89D7-E236E3DAB6C5}" type="presOf" srcId="{1C6F484B-6747-48F8-9EF0-4331433C6B5D}" destId="{04D14C71-C322-4444-991B-32031F4EA8DE}" srcOrd="0" destOrd="0" presId="urn:microsoft.com/office/officeart/2005/8/layout/vList5"/>
    <dgm:cxn modelId="{BD736D1F-FC49-46C2-BCE6-6EC4BBBF06C2}" srcId="{B1BE4F43-D795-40B5-BF3D-23FDEC3E2BC2}" destId="{C278A84E-7951-48DB-A4AA-90D47A9BF0DD}" srcOrd="1" destOrd="0" parTransId="{A5FB1AA4-4E15-409F-A39C-EA59C73AC394}" sibTransId="{A8BB5EF8-D5FB-418C-9AF2-9A5619F38FE2}"/>
    <dgm:cxn modelId="{CD5C5D3D-3454-4A73-96A2-7198436F22A2}" srcId="{B1BE4F43-D795-40B5-BF3D-23FDEC3E2BC2}" destId="{1C6F484B-6747-48F8-9EF0-4331433C6B5D}" srcOrd="2" destOrd="0" parTransId="{E72F9F51-2BAB-42F0-A906-3610CC96BAAB}" sibTransId="{4092F479-C4F7-421F-B3A1-6E76EBE76889}"/>
    <dgm:cxn modelId="{C3C03E5F-C3AB-431E-8EE7-7726519D7788}" type="presOf" srcId="{F517B8BE-BA22-4A55-AE89-26FB59E4051F}" destId="{AEF90AE1-758F-4496-BC4C-22388E4EA3BD}" srcOrd="0" destOrd="0" presId="urn:microsoft.com/office/officeart/2005/8/layout/vList5"/>
    <dgm:cxn modelId="{0EA2AC44-796C-443A-A3A4-3C13886520A9}" srcId="{B1BE4F43-D795-40B5-BF3D-23FDEC3E2BC2}" destId="{DB8DA478-8ADE-4AD9-B03B-D0C030312FD7}" srcOrd="3" destOrd="0" parTransId="{1F55B186-51E0-478E-9258-5937A43576CA}" sibTransId="{13320D02-AF42-4814-987B-8ECB1F7B5817}"/>
    <dgm:cxn modelId="{C12FDD4C-AE49-4F5D-AFB0-8843ECE30882}" type="presOf" srcId="{A63630DC-6E9B-4116-822E-574E2F31C56F}" destId="{9C3AEE39-8447-41FA-BEE8-425D716A0612}" srcOrd="0" destOrd="0" presId="urn:microsoft.com/office/officeart/2005/8/layout/vList5"/>
    <dgm:cxn modelId="{0464AB53-ACA8-4925-B1D7-F20A1EE78EBA}" srcId="{B1BE4F43-D795-40B5-BF3D-23FDEC3E2BC2}" destId="{7DA39385-EF23-435F-B6DA-44517CD12B6A}" srcOrd="0" destOrd="0" parTransId="{62529C06-8EB0-4709-8036-EDF66541F6FF}" sibTransId="{BFCE30E8-6B19-4C94-AA0F-669FE06AD988}"/>
    <dgm:cxn modelId="{9D846556-204C-494C-B39D-AEB12924DD39}" srcId="{7DA39385-EF23-435F-B6DA-44517CD12B6A}" destId="{DB7EE662-5505-49B1-BE1A-57CC0CD88B8B}" srcOrd="0" destOrd="0" parTransId="{618E1FA3-193C-4C44-B6AA-13136A8CBABB}" sibTransId="{A2CF7077-0927-40C8-8F94-EA2C69B168F4}"/>
    <dgm:cxn modelId="{9A882489-DB05-45B0-AC03-6EB043A47438}" type="presOf" srcId="{B1BE4F43-D795-40B5-BF3D-23FDEC3E2BC2}" destId="{A58A4B81-AB65-4507-AD9A-6FD5E2B8105F}" srcOrd="0" destOrd="0" presId="urn:microsoft.com/office/officeart/2005/8/layout/vList5"/>
    <dgm:cxn modelId="{BD4FC0A2-4CD0-419D-ADE2-2440C3EED3CF}" type="presOf" srcId="{C278A84E-7951-48DB-A4AA-90D47A9BF0DD}" destId="{015F2EC7-4647-4ADC-B4AF-2D8928098C68}" srcOrd="0" destOrd="0" presId="urn:microsoft.com/office/officeart/2005/8/layout/vList5"/>
    <dgm:cxn modelId="{2C2C25BF-8916-4DD3-91AF-736CC88008EA}" type="presOf" srcId="{E7EE26E6-9662-4EF3-ABEB-472A5FB3E4B6}" destId="{B2BE6E59-A990-4C7F-98D9-55CE0F3C40EE}" srcOrd="0" destOrd="0" presId="urn:microsoft.com/office/officeart/2005/8/layout/vList5"/>
    <dgm:cxn modelId="{F7003BC6-92E3-4E8D-A1CA-A31D0EE40057}" srcId="{DB8DA478-8ADE-4AD9-B03B-D0C030312FD7}" destId="{A63630DC-6E9B-4116-822E-574E2F31C56F}" srcOrd="0" destOrd="0" parTransId="{D6460301-8E39-4CE4-8634-6A6FA8A8FB21}" sibTransId="{EE5B3536-3D73-4B01-8C2F-491EA6F9320D}"/>
    <dgm:cxn modelId="{E6992DCF-12AF-431E-B301-776EF611B85F}" type="presOf" srcId="{7DA39385-EF23-435F-B6DA-44517CD12B6A}" destId="{46AD2B71-9504-4FE4-B13B-592098F9E926}" srcOrd="0" destOrd="0" presId="urn:microsoft.com/office/officeart/2005/8/layout/vList5"/>
    <dgm:cxn modelId="{E97586D3-888A-47D4-80FB-CC12E8B4F48C}" type="presOf" srcId="{DB8DA478-8ADE-4AD9-B03B-D0C030312FD7}" destId="{219BC0F6-A158-478D-A79C-B118BA617527}" srcOrd="0" destOrd="0" presId="urn:microsoft.com/office/officeart/2005/8/layout/vList5"/>
    <dgm:cxn modelId="{7BDAD3D4-2D37-4B23-81B9-7626465BA264}" type="presOf" srcId="{DB7EE662-5505-49B1-BE1A-57CC0CD88B8B}" destId="{56F6E9B4-1FFF-45A3-80D7-90347C589B6C}" srcOrd="0" destOrd="0" presId="urn:microsoft.com/office/officeart/2005/8/layout/vList5"/>
    <dgm:cxn modelId="{130A1CF5-608D-4003-A830-EAE6A3246753}" srcId="{1C6F484B-6747-48F8-9EF0-4331433C6B5D}" destId="{E7EE26E6-9662-4EF3-ABEB-472A5FB3E4B6}" srcOrd="0" destOrd="0" parTransId="{203F6E4C-D67B-40FD-8080-69F1B0413C53}" sibTransId="{95EE297E-671A-4ACE-9534-604D238B4E39}"/>
    <dgm:cxn modelId="{3486D1FD-B6CE-4721-961A-AB22A4287DA4}" srcId="{C278A84E-7951-48DB-A4AA-90D47A9BF0DD}" destId="{F517B8BE-BA22-4A55-AE89-26FB59E4051F}" srcOrd="0" destOrd="0" parTransId="{3480E97A-D7FB-4BC4-9A7C-78B4C28FE946}" sibTransId="{1BE14106-541A-4CE4-8785-6951A61FF46D}"/>
    <dgm:cxn modelId="{16E59D33-F6C4-4801-8051-CFD29A340826}" type="presParOf" srcId="{A58A4B81-AB65-4507-AD9A-6FD5E2B8105F}" destId="{908E1D6A-73CC-4BC9-A63D-9981A9280E38}" srcOrd="0" destOrd="0" presId="urn:microsoft.com/office/officeart/2005/8/layout/vList5"/>
    <dgm:cxn modelId="{FBC6F0AF-4671-46A5-828E-8A0A3B103B22}" type="presParOf" srcId="{908E1D6A-73CC-4BC9-A63D-9981A9280E38}" destId="{46AD2B71-9504-4FE4-B13B-592098F9E926}" srcOrd="0" destOrd="0" presId="urn:microsoft.com/office/officeart/2005/8/layout/vList5"/>
    <dgm:cxn modelId="{3B3602EA-1AF3-4ED3-866A-345961329F4A}" type="presParOf" srcId="{908E1D6A-73CC-4BC9-A63D-9981A9280E38}" destId="{56F6E9B4-1FFF-45A3-80D7-90347C589B6C}" srcOrd="1" destOrd="0" presId="urn:microsoft.com/office/officeart/2005/8/layout/vList5"/>
    <dgm:cxn modelId="{5BFDB473-54B1-4EF2-A661-DEB2D592DFAC}" type="presParOf" srcId="{A58A4B81-AB65-4507-AD9A-6FD5E2B8105F}" destId="{FAC2C717-2658-4DD7-8166-85DC12CB241B}" srcOrd="1" destOrd="0" presId="urn:microsoft.com/office/officeart/2005/8/layout/vList5"/>
    <dgm:cxn modelId="{37EE268B-9358-4628-B32A-B9008B9F29B5}" type="presParOf" srcId="{A58A4B81-AB65-4507-AD9A-6FD5E2B8105F}" destId="{6DBE9033-CE57-4058-B8BC-88FB3B4EF9CD}" srcOrd="2" destOrd="0" presId="urn:microsoft.com/office/officeart/2005/8/layout/vList5"/>
    <dgm:cxn modelId="{C359A457-0795-4E18-AB61-55E8A9C2D368}" type="presParOf" srcId="{6DBE9033-CE57-4058-B8BC-88FB3B4EF9CD}" destId="{015F2EC7-4647-4ADC-B4AF-2D8928098C68}" srcOrd="0" destOrd="0" presId="urn:microsoft.com/office/officeart/2005/8/layout/vList5"/>
    <dgm:cxn modelId="{F2873566-319C-4393-8CE0-715B39D3FC66}" type="presParOf" srcId="{6DBE9033-CE57-4058-B8BC-88FB3B4EF9CD}" destId="{AEF90AE1-758F-4496-BC4C-22388E4EA3BD}" srcOrd="1" destOrd="0" presId="urn:microsoft.com/office/officeart/2005/8/layout/vList5"/>
    <dgm:cxn modelId="{064AA38D-CABF-40DB-A8A9-88F151889968}" type="presParOf" srcId="{A58A4B81-AB65-4507-AD9A-6FD5E2B8105F}" destId="{22E34D96-BAF4-4811-A811-D39CF0DE98C6}" srcOrd="3" destOrd="0" presId="urn:microsoft.com/office/officeart/2005/8/layout/vList5"/>
    <dgm:cxn modelId="{20C24FE2-C916-4350-B4E5-D96D8B212704}" type="presParOf" srcId="{A58A4B81-AB65-4507-AD9A-6FD5E2B8105F}" destId="{72C68F9F-6694-4822-B7AB-CB04332F3387}" srcOrd="4" destOrd="0" presId="urn:microsoft.com/office/officeart/2005/8/layout/vList5"/>
    <dgm:cxn modelId="{6D934FB5-5C1B-468D-A71C-F274741A8D50}" type="presParOf" srcId="{72C68F9F-6694-4822-B7AB-CB04332F3387}" destId="{04D14C71-C322-4444-991B-32031F4EA8DE}" srcOrd="0" destOrd="0" presId="urn:microsoft.com/office/officeart/2005/8/layout/vList5"/>
    <dgm:cxn modelId="{46254D6C-4780-4D6F-AB0B-93C96219E838}" type="presParOf" srcId="{72C68F9F-6694-4822-B7AB-CB04332F3387}" destId="{B2BE6E59-A990-4C7F-98D9-55CE0F3C40EE}" srcOrd="1" destOrd="0" presId="urn:microsoft.com/office/officeart/2005/8/layout/vList5"/>
    <dgm:cxn modelId="{B42FC392-D8F9-469F-9849-84E2A0506EB6}" type="presParOf" srcId="{A58A4B81-AB65-4507-AD9A-6FD5E2B8105F}" destId="{2CD086C5-C07F-4016-B507-9DF6FAEFED47}" srcOrd="5" destOrd="0" presId="urn:microsoft.com/office/officeart/2005/8/layout/vList5"/>
    <dgm:cxn modelId="{058FBB55-7B59-4F6E-9885-5E7A2A500A5D}" type="presParOf" srcId="{A58A4B81-AB65-4507-AD9A-6FD5E2B8105F}" destId="{F9E36F9D-DD1D-4F7F-8DF5-869B5234244F}" srcOrd="6" destOrd="0" presId="urn:microsoft.com/office/officeart/2005/8/layout/vList5"/>
    <dgm:cxn modelId="{51A1D6DD-A51F-4E30-821B-5086B1EB22D1}" type="presParOf" srcId="{F9E36F9D-DD1D-4F7F-8DF5-869B5234244F}" destId="{219BC0F6-A158-478D-A79C-B118BA617527}" srcOrd="0" destOrd="0" presId="urn:microsoft.com/office/officeart/2005/8/layout/vList5"/>
    <dgm:cxn modelId="{669E869E-F986-4E10-A8AE-CD1A933E392C}" type="presParOf" srcId="{F9E36F9D-DD1D-4F7F-8DF5-869B5234244F}" destId="{9C3AEE39-8447-41FA-BEE8-425D716A061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697DF-3C50-4978-8AB7-FBC6F1F33E66}">
      <dsp:nvSpPr>
        <dsp:cNvPr id="0" name=""/>
        <dsp:cNvSpPr/>
      </dsp:nvSpPr>
      <dsp:spPr>
        <a:xfrm>
          <a:off x="-5600134" y="-857316"/>
          <a:ext cx="6667632" cy="6667632"/>
        </a:xfrm>
        <a:prstGeom prst="blockArc">
          <a:avLst>
            <a:gd name="adj1" fmla="val 18900000"/>
            <a:gd name="adj2" fmla="val 2700000"/>
            <a:gd name="adj3" fmla="val 324"/>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806A21-D1A5-4F09-9794-02E7038B6604}">
      <dsp:nvSpPr>
        <dsp:cNvPr id="0" name=""/>
        <dsp:cNvSpPr/>
      </dsp:nvSpPr>
      <dsp:spPr>
        <a:xfrm>
          <a:off x="466687" y="309463"/>
          <a:ext cx="9903485" cy="61932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588" tIns="45720" rIns="45720" bIns="45720" numCol="1" spcCol="1270" anchor="ctr" anchorCtr="0">
          <a:noAutofit/>
        </a:bodyPr>
        <a:lstStyle/>
        <a:p>
          <a:pPr marL="0" lvl="0" indent="0" algn="l" defTabSz="800100">
            <a:lnSpc>
              <a:spcPct val="90000"/>
            </a:lnSpc>
            <a:spcBef>
              <a:spcPct val="0"/>
            </a:spcBef>
            <a:spcAft>
              <a:spcPct val="35000"/>
            </a:spcAft>
            <a:buNone/>
          </a:pPr>
          <a:r>
            <a:rPr lang="es-MX" sz="1800" b="1" kern="1200" dirty="0"/>
            <a:t>Servicio al cliente:</a:t>
          </a:r>
          <a:r>
            <a:rPr lang="es-MX" sz="1800" kern="1200" dirty="0"/>
            <a:t> Donde se medirá la satisfacción del cliente y qué tan bueno es el desempeño de quien los atiende.</a:t>
          </a:r>
          <a:endParaRPr lang="es-SV" sz="1800" kern="1200" dirty="0"/>
        </a:p>
      </dsp:txBody>
      <dsp:txXfrm>
        <a:off x="466687" y="309463"/>
        <a:ext cx="9903485" cy="619323"/>
      </dsp:txXfrm>
    </dsp:sp>
    <dsp:sp modelId="{98DB4688-E5B2-41B3-9352-E7CFEEFA37D7}">
      <dsp:nvSpPr>
        <dsp:cNvPr id="0" name=""/>
        <dsp:cNvSpPr/>
      </dsp:nvSpPr>
      <dsp:spPr>
        <a:xfrm>
          <a:off x="79610" y="232048"/>
          <a:ext cx="774153" cy="774153"/>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2435BD-8736-4844-AEDC-46ABB24B72D6}">
      <dsp:nvSpPr>
        <dsp:cNvPr id="0" name=""/>
        <dsp:cNvSpPr/>
      </dsp:nvSpPr>
      <dsp:spPr>
        <a:xfrm>
          <a:off x="910476" y="1238150"/>
          <a:ext cx="9459696" cy="619323"/>
        </a:xfrm>
        <a:prstGeom prst="rect">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58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s-MX" sz="1800" b="0" i="0" kern="1200" dirty="0"/>
            <a:t>Financiero: Para entender dónde está parada la empresa financieramente hablando.</a:t>
          </a:r>
          <a:endParaRPr lang="es-SV" sz="1800" kern="1200" dirty="0"/>
        </a:p>
      </dsp:txBody>
      <dsp:txXfrm>
        <a:off x="910476" y="1238150"/>
        <a:ext cx="9459696" cy="619323"/>
      </dsp:txXfrm>
    </dsp:sp>
    <dsp:sp modelId="{62BF818E-D363-487D-9E1E-E8C14C798710}">
      <dsp:nvSpPr>
        <dsp:cNvPr id="0" name=""/>
        <dsp:cNvSpPr/>
      </dsp:nvSpPr>
      <dsp:spPr>
        <a:xfrm>
          <a:off x="523399" y="1160735"/>
          <a:ext cx="774153" cy="774153"/>
        </a:xfrm>
        <a:prstGeom prst="ellipse">
          <a:avLst/>
        </a:prstGeom>
        <a:solidFill>
          <a:schemeClr val="lt1">
            <a:hueOff val="0"/>
            <a:satOff val="0"/>
            <a:lumOff val="0"/>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dsp:style>
    </dsp:sp>
    <dsp:sp modelId="{32E0D037-A6D0-459A-9618-9CDAC65F95FC}">
      <dsp:nvSpPr>
        <dsp:cNvPr id="0" name=""/>
        <dsp:cNvSpPr/>
      </dsp:nvSpPr>
      <dsp:spPr>
        <a:xfrm>
          <a:off x="1046683" y="2166838"/>
          <a:ext cx="9323489" cy="619323"/>
        </a:xfrm>
        <a:prstGeom prst="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58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s-MX" sz="1800" b="0" i="0" kern="1200" dirty="0"/>
            <a:t>Operaciones: Se podrá saber qué tan productivo es el proceso para realizar la actividad de la empresa.</a:t>
          </a:r>
          <a:endParaRPr lang="es-SV" sz="1800" kern="1200" dirty="0"/>
        </a:p>
      </dsp:txBody>
      <dsp:txXfrm>
        <a:off x="1046683" y="2166838"/>
        <a:ext cx="9323489" cy="619323"/>
      </dsp:txXfrm>
    </dsp:sp>
    <dsp:sp modelId="{2665218C-327B-4A55-BD0C-FC4DDE9FA4C9}">
      <dsp:nvSpPr>
        <dsp:cNvPr id="0" name=""/>
        <dsp:cNvSpPr/>
      </dsp:nvSpPr>
      <dsp:spPr>
        <a:xfrm>
          <a:off x="659606" y="2089423"/>
          <a:ext cx="774153" cy="774153"/>
        </a:xfrm>
        <a:prstGeom prst="ellipse">
          <a:avLst/>
        </a:prstGeom>
        <a:solidFill>
          <a:schemeClr val="lt1">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sp>
    <dsp:sp modelId="{B758288E-A5C4-4004-AF0B-E884F81D74FA}">
      <dsp:nvSpPr>
        <dsp:cNvPr id="0" name=""/>
        <dsp:cNvSpPr/>
      </dsp:nvSpPr>
      <dsp:spPr>
        <a:xfrm>
          <a:off x="910476" y="3095525"/>
          <a:ext cx="9459696" cy="619323"/>
        </a:xfrm>
        <a:prstGeom prst="rect">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58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s-MX" sz="1800" b="0" i="0" kern="1200" dirty="0"/>
            <a:t>Desempeño del personal: Para medir la productividad y eficiencia individual de cada persona dentro de los procesos.</a:t>
          </a:r>
          <a:endParaRPr lang="es-SV" sz="1800" kern="1200" dirty="0"/>
        </a:p>
      </dsp:txBody>
      <dsp:txXfrm>
        <a:off x="910476" y="3095525"/>
        <a:ext cx="9459696" cy="619323"/>
      </dsp:txXfrm>
    </dsp:sp>
    <dsp:sp modelId="{C51EBE15-FB89-47C0-AE84-8E85AE51321A}">
      <dsp:nvSpPr>
        <dsp:cNvPr id="0" name=""/>
        <dsp:cNvSpPr/>
      </dsp:nvSpPr>
      <dsp:spPr>
        <a:xfrm>
          <a:off x="523399" y="3018110"/>
          <a:ext cx="774153" cy="774153"/>
        </a:xfrm>
        <a:prstGeom prst="ellipse">
          <a:avLst/>
        </a:prstGeom>
        <a:solidFill>
          <a:schemeClr val="lt1">
            <a:hueOff val="0"/>
            <a:satOff val="0"/>
            <a:lumOff val="0"/>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dsp:style>
    </dsp:sp>
    <dsp:sp modelId="{C49E9CA0-BC3A-431D-8D88-54C10B7D9DAD}">
      <dsp:nvSpPr>
        <dsp:cNvPr id="0" name=""/>
        <dsp:cNvSpPr/>
      </dsp:nvSpPr>
      <dsp:spPr>
        <a:xfrm>
          <a:off x="466687" y="4024213"/>
          <a:ext cx="9903485" cy="619323"/>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58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s-MX" sz="1800" b="0" i="0" kern="1200"/>
            <a:t>Mercadeo: Ayudará a saber cómo se está vendiendo el producto o servicio de la empresa y qué tan efectiva es la campaña de mercadeo.</a:t>
          </a:r>
          <a:endParaRPr lang="es-SV" sz="1800" kern="1200" dirty="0"/>
        </a:p>
      </dsp:txBody>
      <dsp:txXfrm>
        <a:off x="466687" y="4024213"/>
        <a:ext cx="9903485" cy="619323"/>
      </dsp:txXfrm>
    </dsp:sp>
    <dsp:sp modelId="{9E8CBD99-5ABD-4A10-9CA2-61064F8A4BBF}">
      <dsp:nvSpPr>
        <dsp:cNvPr id="0" name=""/>
        <dsp:cNvSpPr/>
      </dsp:nvSpPr>
      <dsp:spPr>
        <a:xfrm>
          <a:off x="79610" y="3946798"/>
          <a:ext cx="774153" cy="774153"/>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F6E9B4-1FFF-45A3-80D7-90347C589B6C}">
      <dsp:nvSpPr>
        <dsp:cNvPr id="0" name=""/>
        <dsp:cNvSpPr/>
      </dsp:nvSpPr>
      <dsp:spPr>
        <a:xfrm rot="5400000">
          <a:off x="6621872" y="-2741979"/>
          <a:ext cx="953839" cy="6681216"/>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Font typeface="+mj-lt"/>
            <a:buAutoNum type="arabicPeriod"/>
          </a:pPr>
          <a:r>
            <a:rPr lang="es-MX" sz="1300" b="0" i="0" kern="1200"/>
            <a:t>Precisar las metas a alcanzar debe ser el primer paso a tomar. Objetivos generales y específicos por departamento. A su vez, los indicadores se desarrollaran a partir de las metas específicos, teniendo en cuenta que entre más información se tenga, mejor planteados estarán y más acciones podrán cumplir.</a:t>
          </a:r>
          <a:endParaRPr lang="es-SV" sz="1300" kern="1200" dirty="0"/>
        </a:p>
      </dsp:txBody>
      <dsp:txXfrm rot="-5400000">
        <a:off x="3758184" y="168272"/>
        <a:ext cx="6634653" cy="860713"/>
      </dsp:txXfrm>
    </dsp:sp>
    <dsp:sp modelId="{46AD2B71-9504-4FE4-B13B-592098F9E926}">
      <dsp:nvSpPr>
        <dsp:cNvPr id="0" name=""/>
        <dsp:cNvSpPr/>
      </dsp:nvSpPr>
      <dsp:spPr>
        <a:xfrm>
          <a:off x="0" y="0"/>
          <a:ext cx="3758184" cy="119229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s-SV" sz="2800" b="0" i="0" kern="1200" dirty="0"/>
            <a:t>Definir objetivos.</a:t>
          </a:r>
          <a:endParaRPr lang="es-SV" sz="2800" kern="1200" dirty="0"/>
        </a:p>
      </dsp:txBody>
      <dsp:txXfrm>
        <a:off x="58203" y="58203"/>
        <a:ext cx="3641778" cy="1075893"/>
      </dsp:txXfrm>
    </dsp:sp>
    <dsp:sp modelId="{AEF90AE1-758F-4496-BC4C-22388E4EA3BD}">
      <dsp:nvSpPr>
        <dsp:cNvPr id="0" name=""/>
        <dsp:cNvSpPr/>
      </dsp:nvSpPr>
      <dsp:spPr>
        <a:xfrm rot="5400000">
          <a:off x="6621872" y="-1490065"/>
          <a:ext cx="953839" cy="6681216"/>
        </a:xfrm>
        <a:prstGeom prst="round2SameRect">
          <a:avLst/>
        </a:prstGeom>
        <a:solidFill>
          <a:schemeClr val="accent4">
            <a:tint val="40000"/>
            <a:alpha val="90000"/>
            <a:hueOff val="-1315237"/>
            <a:satOff val="7386"/>
            <a:lumOff val="469"/>
            <a:alphaOff val="0"/>
          </a:schemeClr>
        </a:solidFill>
        <a:ln w="25400" cap="flat" cmpd="sng" algn="ctr">
          <a:solidFill>
            <a:schemeClr val="accent4">
              <a:tint val="40000"/>
              <a:alpha val="90000"/>
              <a:hueOff val="-1315237"/>
              <a:satOff val="7386"/>
              <a:lumOff val="4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s-MX" sz="1300" b="0" i="0" kern="1200"/>
            <a:t>Debes realizar el proceso para que el KPI se cumpla, por ejemplo, si será un indicador destinado a la parte financiera de la empresa, debes tener claro, dónde se almacenará la información, que items se tomarán en cuenta para la medición y designar encargados.</a:t>
          </a:r>
          <a:endParaRPr lang="es-SV" sz="1300" kern="1200" dirty="0"/>
        </a:p>
      </dsp:txBody>
      <dsp:txXfrm rot="-5400000">
        <a:off x="3758184" y="1420186"/>
        <a:ext cx="6634653" cy="860713"/>
      </dsp:txXfrm>
    </dsp:sp>
    <dsp:sp modelId="{015F2EC7-4647-4ADC-B4AF-2D8928098C68}">
      <dsp:nvSpPr>
        <dsp:cNvPr id="0" name=""/>
        <dsp:cNvSpPr/>
      </dsp:nvSpPr>
      <dsp:spPr>
        <a:xfrm>
          <a:off x="0" y="1254393"/>
          <a:ext cx="3758184" cy="1192299"/>
        </a:xfrm>
        <a:prstGeom prst="round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Font typeface="Arial" panose="020B0604020202020204" pitchFamily="34" charset="0"/>
            <a:buNone/>
          </a:pPr>
          <a:r>
            <a:rPr lang="es-MX" sz="2800" b="0" i="0" kern="1200" dirty="0"/>
            <a:t>Fijar el proceso a seguir.</a:t>
          </a:r>
          <a:endParaRPr lang="es-SV" sz="2800" kern="1200" dirty="0"/>
        </a:p>
      </dsp:txBody>
      <dsp:txXfrm>
        <a:off x="58203" y="1312596"/>
        <a:ext cx="3641778" cy="1075893"/>
      </dsp:txXfrm>
    </dsp:sp>
    <dsp:sp modelId="{B2BE6E59-A990-4C7F-98D9-55CE0F3C40EE}">
      <dsp:nvSpPr>
        <dsp:cNvPr id="0" name=""/>
        <dsp:cNvSpPr/>
      </dsp:nvSpPr>
      <dsp:spPr>
        <a:xfrm rot="5400000">
          <a:off x="6621872" y="-238150"/>
          <a:ext cx="953839" cy="6681216"/>
        </a:xfrm>
        <a:prstGeom prst="round2SameRect">
          <a:avLst/>
        </a:prstGeom>
        <a:solidFill>
          <a:schemeClr val="accent4">
            <a:tint val="40000"/>
            <a:alpha val="90000"/>
            <a:hueOff val="-2630473"/>
            <a:satOff val="14771"/>
            <a:lumOff val="939"/>
            <a:alphaOff val="0"/>
          </a:schemeClr>
        </a:solidFill>
        <a:ln w="25400" cap="flat" cmpd="sng" algn="ctr">
          <a:solidFill>
            <a:schemeClr val="accent4">
              <a:tint val="40000"/>
              <a:alpha val="90000"/>
              <a:hueOff val="-2630473"/>
              <a:satOff val="14771"/>
              <a:lumOff val="9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s-MX" sz="1300" b="0" i="0" kern="1200" dirty="0"/>
            <a:t>Para saber si en realidad se está trabajando en el cumplimiento de los </a:t>
          </a:r>
          <a:r>
            <a:rPr lang="es-MX" sz="1300" b="0" i="0" kern="1200" dirty="0" err="1"/>
            <a:t>KPI’s</a:t>
          </a:r>
          <a:r>
            <a:rPr lang="es-MX" sz="1300" b="0" i="0" kern="1200" dirty="0"/>
            <a:t>, deberás introducir procesos para darle seguimiento a las acciones realizadas por un periodo de tiempo. Una manera efectiva de dar estos seguimientos es a partir de reuniones semanales o quincenales, que pueden ser programadas a principio de la implementación del indicador.</a:t>
          </a:r>
          <a:endParaRPr lang="es-SV" sz="1300" kern="1200" dirty="0"/>
        </a:p>
      </dsp:txBody>
      <dsp:txXfrm rot="-5400000">
        <a:off x="3758184" y="2672101"/>
        <a:ext cx="6634653" cy="860713"/>
      </dsp:txXfrm>
    </dsp:sp>
    <dsp:sp modelId="{04D14C71-C322-4444-991B-32031F4EA8DE}">
      <dsp:nvSpPr>
        <dsp:cNvPr id="0" name=""/>
        <dsp:cNvSpPr/>
      </dsp:nvSpPr>
      <dsp:spPr>
        <a:xfrm>
          <a:off x="0" y="2506307"/>
          <a:ext cx="3758184" cy="1192299"/>
        </a:xfrm>
        <a:prstGeom prst="round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Font typeface="Arial" panose="020B0604020202020204" pitchFamily="34" charset="0"/>
            <a:buNone/>
          </a:pPr>
          <a:r>
            <a:rPr lang="es-SV" sz="2800" b="0" i="0" kern="1200" dirty="0"/>
            <a:t>Introducir mecanismos de seguimiento.</a:t>
          </a:r>
          <a:endParaRPr lang="es-SV" sz="2800" kern="1200" dirty="0"/>
        </a:p>
      </dsp:txBody>
      <dsp:txXfrm>
        <a:off x="58203" y="2564510"/>
        <a:ext cx="3641778" cy="1075893"/>
      </dsp:txXfrm>
    </dsp:sp>
    <dsp:sp modelId="{9C3AEE39-8447-41FA-BEE8-425D716A0612}">
      <dsp:nvSpPr>
        <dsp:cNvPr id="0" name=""/>
        <dsp:cNvSpPr/>
      </dsp:nvSpPr>
      <dsp:spPr>
        <a:xfrm rot="5400000">
          <a:off x="6621872" y="1013763"/>
          <a:ext cx="953839" cy="6681216"/>
        </a:xfrm>
        <a:prstGeom prst="round2SameRect">
          <a:avLst/>
        </a:prstGeom>
        <a:solidFill>
          <a:schemeClr val="accent4">
            <a:tint val="40000"/>
            <a:alpha val="90000"/>
            <a:hueOff val="-3945710"/>
            <a:satOff val="22157"/>
            <a:lumOff val="1408"/>
            <a:alphaOff val="0"/>
          </a:schemeClr>
        </a:solidFill>
        <a:ln w="25400" cap="flat" cmpd="sng" algn="ctr">
          <a:solidFill>
            <a:schemeClr val="accent4">
              <a:tint val="40000"/>
              <a:alpha val="90000"/>
              <a:hueOff val="-3945710"/>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s-MX" sz="1300" b="0" i="0" kern="1200" dirty="0"/>
            <a:t>Verificar el cumplimiento de objetivos y cómo se cumplieron. Estas evaluaciones deben ver no sólo si se alcanzaron los objetivos, sino cómo fueron cumplidos, es decir, qué métodos se usaron para conseguirlos. Las evaluaciones pueden ser realizadas periódicamente, de mes en mes.</a:t>
          </a:r>
          <a:endParaRPr lang="es-SV" sz="1300" kern="1200" dirty="0"/>
        </a:p>
      </dsp:txBody>
      <dsp:txXfrm rot="-5400000">
        <a:off x="3758184" y="3924015"/>
        <a:ext cx="6634653" cy="860713"/>
      </dsp:txXfrm>
    </dsp:sp>
    <dsp:sp modelId="{219BC0F6-A158-478D-A79C-B118BA617527}">
      <dsp:nvSpPr>
        <dsp:cNvPr id="0" name=""/>
        <dsp:cNvSpPr/>
      </dsp:nvSpPr>
      <dsp:spPr>
        <a:xfrm>
          <a:off x="0" y="3758221"/>
          <a:ext cx="3758184" cy="1192299"/>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Font typeface="Arial" panose="020B0604020202020204" pitchFamily="34" charset="0"/>
            <a:buNone/>
          </a:pPr>
          <a:r>
            <a:rPr lang="es-SV" sz="2800" b="0" i="0" kern="1200" dirty="0"/>
            <a:t>Evaluaciones</a:t>
          </a:r>
          <a:endParaRPr lang="es-SV" sz="2800" kern="1200" dirty="0"/>
        </a:p>
      </dsp:txBody>
      <dsp:txXfrm>
        <a:off x="58203" y="3816424"/>
        <a:ext cx="3641778" cy="1075893"/>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3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0552" y="0"/>
            <a:ext cx="6251448" cy="6857997"/>
          </a:xfrm>
          <a:prstGeom prst="rect">
            <a:avLst/>
          </a:prstGeom>
          <a:blipFill>
            <a:blip r:embed="rId2" cstate="print"/>
            <a:stretch>
              <a:fillRect/>
            </a:stretch>
          </a:blipFill>
        </p:spPr>
        <p:txBody>
          <a:bodyPr wrap="square" lIns="0" tIns="0" rIns="0" bIns="0" rtlCol="0">
            <a:spAutoFit/>
          </a:bodyPr>
          <a:lstStyle/>
          <a:p>
            <a:endParaRPr/>
          </a:p>
        </p:txBody>
      </p:sp>
      <p:sp>
        <p:nvSpPr>
          <p:cNvPr id="17" name="bk object 17"/>
          <p:cNvSpPr/>
          <p:nvPr/>
        </p:nvSpPr>
        <p:spPr>
          <a:xfrm>
            <a:off x="467868" y="408431"/>
            <a:ext cx="2468880" cy="795527"/>
          </a:xfrm>
          <a:prstGeom prst="rect">
            <a:avLst/>
          </a:prstGeom>
          <a:blipFill>
            <a:blip r:embed="rId3" cstate="print"/>
            <a:stretch>
              <a:fillRect/>
            </a:stretch>
          </a:blipFill>
        </p:spPr>
        <p:txBody>
          <a:bodyPr wrap="square" lIns="0" tIns="0" rIns="0" bIns="0" rtlCol="0">
            <a:spAutoFit/>
          </a:bodyPr>
          <a:lstStyle/>
          <a:p>
            <a:endParaRPr/>
          </a:p>
        </p:txBody>
      </p:sp>
      <p:sp>
        <p:nvSpPr>
          <p:cNvPr id="18" name="bk object 18"/>
          <p:cNvSpPr/>
          <p:nvPr/>
        </p:nvSpPr>
        <p:spPr>
          <a:xfrm>
            <a:off x="1479803" y="164592"/>
            <a:ext cx="1650492" cy="1260347"/>
          </a:xfrm>
          <a:custGeom>
            <a:avLst/>
            <a:gdLst/>
            <a:ahLst/>
            <a:cxnLst/>
            <a:rect l="l" t="t" r="r" b="b"/>
            <a:pathLst>
              <a:path w="1650492" h="1260347">
                <a:moveTo>
                  <a:pt x="0" y="1260347"/>
                </a:moveTo>
                <a:lnTo>
                  <a:pt x="1650492" y="1260347"/>
                </a:lnTo>
                <a:lnTo>
                  <a:pt x="1650492" y="0"/>
                </a:lnTo>
                <a:lnTo>
                  <a:pt x="0" y="0"/>
                </a:lnTo>
                <a:lnTo>
                  <a:pt x="0" y="1260347"/>
                </a:lnTo>
                <a:close/>
              </a:path>
            </a:pathLst>
          </a:custGeom>
          <a:solidFill>
            <a:srgbClr val="FFFFFF"/>
          </a:solidFill>
        </p:spPr>
        <p:txBody>
          <a:bodyPr wrap="square" lIns="0" tIns="0" rIns="0" bIns="0" rtlCol="0">
            <a:spAutoFit/>
          </a:bodyPr>
          <a:lstStyle/>
          <a:p>
            <a:endParaRPr/>
          </a:p>
        </p:txBody>
      </p:sp>
      <p:sp>
        <p:nvSpPr>
          <p:cNvPr id="2" name="Holder 2"/>
          <p:cNvSpPr>
            <a:spLocks noGrp="1"/>
          </p:cNvSpPr>
          <p:nvPr>
            <p:ph type="title"/>
          </p:nvPr>
        </p:nvSpPr>
        <p:spPr/>
        <p:txBody>
          <a:bodyPr lIns="0" tIns="0" rIns="0" bIns="0"/>
          <a:lstStyle>
            <a:lvl1pPr>
              <a:defRPr sz="3100">
                <a:solidFill>
                  <a:srgbClr val="412564"/>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700">
                <a:solidFill>
                  <a:srgbClr val="412564"/>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0552" y="0"/>
            <a:ext cx="6251448" cy="6857997"/>
          </a:xfrm>
          <a:prstGeom prst="rect">
            <a:avLst/>
          </a:prstGeom>
          <a:blipFill>
            <a:blip r:embed="rId2" cstate="print"/>
            <a:stretch>
              <a:fillRect/>
            </a:stretch>
          </a:blipFill>
        </p:spPr>
        <p:txBody>
          <a:bodyPr wrap="square" lIns="0" tIns="0" rIns="0" bIns="0" rtlCol="0">
            <a:spAutoFit/>
          </a:bodyPr>
          <a:lstStyle/>
          <a:p>
            <a:endParaRPr/>
          </a:p>
        </p:txBody>
      </p:sp>
      <p:sp>
        <p:nvSpPr>
          <p:cNvPr id="17" name="bk object 17"/>
          <p:cNvSpPr/>
          <p:nvPr/>
        </p:nvSpPr>
        <p:spPr>
          <a:xfrm>
            <a:off x="467868" y="408431"/>
            <a:ext cx="2468880" cy="795527"/>
          </a:xfrm>
          <a:prstGeom prst="rect">
            <a:avLst/>
          </a:prstGeom>
          <a:blipFill>
            <a:blip r:embed="rId3" cstate="print"/>
            <a:stretch>
              <a:fillRect/>
            </a:stretch>
          </a:blipFill>
        </p:spPr>
        <p:txBody>
          <a:bodyPr wrap="square" lIns="0" tIns="0" rIns="0" bIns="0" rtlCol="0">
            <a:spAutoFit/>
          </a:bodyPr>
          <a:lstStyle/>
          <a:p>
            <a:endParaRPr/>
          </a:p>
        </p:txBody>
      </p:sp>
      <p:sp>
        <p:nvSpPr>
          <p:cNvPr id="18" name="bk object 18"/>
          <p:cNvSpPr/>
          <p:nvPr/>
        </p:nvSpPr>
        <p:spPr>
          <a:xfrm>
            <a:off x="1479803" y="129539"/>
            <a:ext cx="1650492" cy="1260347"/>
          </a:xfrm>
          <a:custGeom>
            <a:avLst/>
            <a:gdLst/>
            <a:ahLst/>
            <a:cxnLst/>
            <a:rect l="l" t="t" r="r" b="b"/>
            <a:pathLst>
              <a:path w="1650492" h="1260347">
                <a:moveTo>
                  <a:pt x="0" y="1260347"/>
                </a:moveTo>
                <a:lnTo>
                  <a:pt x="1650492" y="1260347"/>
                </a:lnTo>
                <a:lnTo>
                  <a:pt x="1650492" y="0"/>
                </a:lnTo>
                <a:lnTo>
                  <a:pt x="0" y="0"/>
                </a:lnTo>
                <a:lnTo>
                  <a:pt x="0" y="1260347"/>
                </a:lnTo>
                <a:close/>
              </a:path>
            </a:pathLst>
          </a:custGeom>
          <a:solidFill>
            <a:srgbClr val="FFFFFF"/>
          </a:solidFill>
        </p:spPr>
        <p:txBody>
          <a:bodyPr wrap="square" lIns="0" tIns="0" rIns="0" bIns="0" rtlCol="0">
            <a:spAutoFit/>
          </a:bodyPr>
          <a:lstStyle/>
          <a:p>
            <a:endParaRPr/>
          </a:p>
        </p:txBody>
      </p:sp>
      <p:sp>
        <p:nvSpPr>
          <p:cNvPr id="19" name="bk object 19"/>
          <p:cNvSpPr/>
          <p:nvPr/>
        </p:nvSpPr>
        <p:spPr>
          <a:xfrm>
            <a:off x="254508" y="1536191"/>
            <a:ext cx="1781556" cy="637032"/>
          </a:xfrm>
          <a:custGeom>
            <a:avLst/>
            <a:gdLst/>
            <a:ahLst/>
            <a:cxnLst/>
            <a:rect l="l" t="t" r="r" b="b"/>
            <a:pathLst>
              <a:path w="1781556" h="637032">
                <a:moveTo>
                  <a:pt x="1675384" y="0"/>
                </a:moveTo>
                <a:lnTo>
                  <a:pt x="94103" y="677"/>
                </a:lnTo>
                <a:lnTo>
                  <a:pt x="54006" y="13669"/>
                </a:lnTo>
                <a:lnTo>
                  <a:pt x="22749" y="40474"/>
                </a:lnTo>
                <a:lnTo>
                  <a:pt x="3904" y="77530"/>
                </a:lnTo>
                <a:lnTo>
                  <a:pt x="0" y="106172"/>
                </a:lnTo>
                <a:lnTo>
                  <a:pt x="678" y="542935"/>
                </a:lnTo>
                <a:lnTo>
                  <a:pt x="13678" y="583042"/>
                </a:lnTo>
                <a:lnTo>
                  <a:pt x="40490" y="614293"/>
                </a:lnTo>
                <a:lnTo>
                  <a:pt x="77543" y="633130"/>
                </a:lnTo>
                <a:lnTo>
                  <a:pt x="106172" y="637032"/>
                </a:lnTo>
                <a:lnTo>
                  <a:pt x="1687459" y="636354"/>
                </a:lnTo>
                <a:lnTo>
                  <a:pt x="1727566" y="623362"/>
                </a:lnTo>
                <a:lnTo>
                  <a:pt x="1758817" y="596557"/>
                </a:lnTo>
                <a:lnTo>
                  <a:pt x="1777654" y="559501"/>
                </a:lnTo>
                <a:lnTo>
                  <a:pt x="1781556" y="530860"/>
                </a:lnTo>
                <a:lnTo>
                  <a:pt x="1780878" y="94096"/>
                </a:lnTo>
                <a:lnTo>
                  <a:pt x="1767886" y="53989"/>
                </a:lnTo>
                <a:lnTo>
                  <a:pt x="1741081" y="22738"/>
                </a:lnTo>
                <a:lnTo>
                  <a:pt x="1704025" y="3901"/>
                </a:lnTo>
                <a:lnTo>
                  <a:pt x="1675384" y="0"/>
                </a:lnTo>
                <a:close/>
              </a:path>
            </a:pathLst>
          </a:custGeom>
          <a:solidFill>
            <a:srgbClr val="CE4A2B"/>
          </a:solidFill>
        </p:spPr>
        <p:txBody>
          <a:bodyPr wrap="square" lIns="0" tIns="0" rIns="0" bIns="0" rtlCol="0">
            <a:spAutoFit/>
          </a:bodyPr>
          <a:lstStyle/>
          <a:p>
            <a:endParaRPr/>
          </a:p>
        </p:txBody>
      </p:sp>
      <p:sp>
        <p:nvSpPr>
          <p:cNvPr id="20" name="bk object 20"/>
          <p:cNvSpPr/>
          <p:nvPr/>
        </p:nvSpPr>
        <p:spPr>
          <a:xfrm>
            <a:off x="254508" y="1536191"/>
            <a:ext cx="1781556" cy="637032"/>
          </a:xfrm>
          <a:custGeom>
            <a:avLst/>
            <a:gdLst/>
            <a:ahLst/>
            <a:cxnLst/>
            <a:rect l="l" t="t" r="r" b="b"/>
            <a:pathLst>
              <a:path w="1781556" h="637032">
                <a:moveTo>
                  <a:pt x="0" y="106172"/>
                </a:moveTo>
                <a:lnTo>
                  <a:pt x="8586" y="64259"/>
                </a:lnTo>
                <a:lnTo>
                  <a:pt x="31966" y="30224"/>
                </a:lnTo>
                <a:lnTo>
                  <a:pt x="66566" y="7628"/>
                </a:lnTo>
                <a:lnTo>
                  <a:pt x="1675384" y="0"/>
                </a:lnTo>
                <a:lnTo>
                  <a:pt x="1690010" y="997"/>
                </a:lnTo>
                <a:lnTo>
                  <a:pt x="1729692" y="14904"/>
                </a:lnTo>
                <a:lnTo>
                  <a:pt x="1760310" y="42412"/>
                </a:lnTo>
                <a:lnTo>
                  <a:pt x="1778301" y="79963"/>
                </a:lnTo>
                <a:lnTo>
                  <a:pt x="1781556" y="530860"/>
                </a:lnTo>
                <a:lnTo>
                  <a:pt x="1780558" y="545486"/>
                </a:lnTo>
                <a:lnTo>
                  <a:pt x="1766651" y="585168"/>
                </a:lnTo>
                <a:lnTo>
                  <a:pt x="1739143" y="615786"/>
                </a:lnTo>
                <a:lnTo>
                  <a:pt x="1701592" y="633777"/>
                </a:lnTo>
                <a:lnTo>
                  <a:pt x="106172" y="637032"/>
                </a:lnTo>
                <a:lnTo>
                  <a:pt x="91553" y="636034"/>
                </a:lnTo>
                <a:lnTo>
                  <a:pt x="51880" y="622127"/>
                </a:lnTo>
                <a:lnTo>
                  <a:pt x="21257" y="594619"/>
                </a:lnTo>
                <a:lnTo>
                  <a:pt x="3256" y="557068"/>
                </a:lnTo>
                <a:lnTo>
                  <a:pt x="0" y="106172"/>
                </a:lnTo>
                <a:close/>
              </a:path>
            </a:pathLst>
          </a:custGeom>
          <a:ln w="12700">
            <a:solidFill>
              <a:srgbClr val="551A0C"/>
            </a:solidFill>
          </a:ln>
        </p:spPr>
        <p:txBody>
          <a:bodyPr wrap="square" lIns="0" tIns="0" rIns="0" bIns="0" rtlCol="0">
            <a:spAutoFit/>
          </a:bodyPr>
          <a:lstStyle/>
          <a:p>
            <a:endParaRPr/>
          </a:p>
        </p:txBody>
      </p:sp>
      <p:sp>
        <p:nvSpPr>
          <p:cNvPr id="2" name="Holder 2"/>
          <p:cNvSpPr>
            <a:spLocks noGrp="1"/>
          </p:cNvSpPr>
          <p:nvPr>
            <p:ph type="title"/>
          </p:nvPr>
        </p:nvSpPr>
        <p:spPr/>
        <p:txBody>
          <a:bodyPr lIns="0" tIns="0" rIns="0" bIns="0"/>
          <a:lstStyle>
            <a:lvl1pPr>
              <a:defRPr sz="3100">
                <a:solidFill>
                  <a:srgbClr val="412564"/>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79"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1999" cy="6857997"/>
          </a:xfrm>
          <a:prstGeom prst="rect">
            <a:avLst/>
          </a:prstGeom>
          <a:blipFill>
            <a:blip r:embed="rId2" cstate="print"/>
            <a:stretch>
              <a:fillRect/>
            </a:stretch>
          </a:blipFill>
        </p:spPr>
        <p:txBody>
          <a:bodyPr wrap="square" lIns="0" tIns="0" rIns="0" bIns="0" rtlCol="0">
            <a:spAutoFit/>
          </a:bodyPr>
          <a:lstStyle/>
          <a:p>
            <a:endParaRPr/>
          </a:p>
        </p:txBody>
      </p:sp>
      <p:sp>
        <p:nvSpPr>
          <p:cNvPr id="17" name="bk object 17"/>
          <p:cNvSpPr/>
          <p:nvPr/>
        </p:nvSpPr>
        <p:spPr>
          <a:xfrm>
            <a:off x="3910584" y="2763011"/>
            <a:ext cx="1392936" cy="987551"/>
          </a:xfrm>
          <a:prstGeom prst="rect">
            <a:avLst/>
          </a:prstGeom>
          <a:blipFill>
            <a:blip r:embed="rId3" cstate="print"/>
            <a:stretch>
              <a:fillRect/>
            </a:stretch>
          </a:blipFill>
        </p:spPr>
        <p:txBody>
          <a:bodyPr wrap="square" lIns="0" tIns="0" rIns="0" bIns="0" rtlCol="0">
            <a:spAutoFit/>
          </a:bodyPr>
          <a:lstStyle/>
          <a:p>
            <a:endParaRPr/>
          </a:p>
        </p:txBody>
      </p:sp>
      <p:sp>
        <p:nvSpPr>
          <p:cNvPr id="18" name="bk object 18"/>
          <p:cNvSpPr/>
          <p:nvPr/>
        </p:nvSpPr>
        <p:spPr>
          <a:xfrm>
            <a:off x="5433059" y="2699004"/>
            <a:ext cx="0" cy="1184910"/>
          </a:xfrm>
          <a:custGeom>
            <a:avLst/>
            <a:gdLst/>
            <a:ahLst/>
            <a:cxnLst/>
            <a:rect l="l" t="t" r="r" b="b"/>
            <a:pathLst>
              <a:path h="1184910">
                <a:moveTo>
                  <a:pt x="0" y="0"/>
                </a:moveTo>
                <a:lnTo>
                  <a:pt x="0" y="1184910"/>
                </a:lnTo>
              </a:path>
            </a:pathLst>
          </a:custGeom>
          <a:ln w="9525">
            <a:solidFill>
              <a:srgbClr val="412764"/>
            </a:solidFill>
          </a:ln>
        </p:spPr>
        <p:txBody>
          <a:bodyPr wrap="square" lIns="0" tIns="0" rIns="0" bIns="0" rtlCol="0">
            <a:spAutoFit/>
          </a:bodyPr>
          <a:lstStyle/>
          <a:p>
            <a:endParaRPr/>
          </a:p>
        </p:txBody>
      </p:sp>
      <p:sp>
        <p:nvSpPr>
          <p:cNvPr id="2" name="Holder 2"/>
          <p:cNvSpPr>
            <a:spLocks noGrp="1"/>
          </p:cNvSpPr>
          <p:nvPr>
            <p:ph type="title"/>
          </p:nvPr>
        </p:nvSpPr>
        <p:spPr/>
        <p:txBody>
          <a:bodyPr lIns="0" tIns="0" rIns="0" bIns="0"/>
          <a:lstStyle>
            <a:lvl1pPr>
              <a:defRPr sz="3100">
                <a:solidFill>
                  <a:srgbClr val="412564"/>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9/30/2025</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‹Nº›</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819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0552" y="0"/>
            <a:ext cx="6251448" cy="6857997"/>
          </a:xfrm>
          <a:prstGeom prst="rect">
            <a:avLst/>
          </a:prstGeom>
          <a:blipFill>
            <a:blip r:embed="rId8" cstate="print"/>
            <a:stretch>
              <a:fillRect/>
            </a:stretch>
          </a:blipFill>
        </p:spPr>
        <p:txBody>
          <a:bodyPr wrap="square" lIns="0" tIns="0" rIns="0" bIns="0" rtlCol="0">
            <a:spAutoFit/>
          </a:bodyPr>
          <a:lstStyle/>
          <a:p>
            <a:endParaRPr/>
          </a:p>
        </p:txBody>
      </p:sp>
      <p:sp>
        <p:nvSpPr>
          <p:cNvPr id="17" name="bk object 17"/>
          <p:cNvSpPr/>
          <p:nvPr/>
        </p:nvSpPr>
        <p:spPr>
          <a:xfrm>
            <a:off x="467868" y="408431"/>
            <a:ext cx="2468880" cy="795527"/>
          </a:xfrm>
          <a:prstGeom prst="rect">
            <a:avLst/>
          </a:prstGeom>
          <a:blipFill>
            <a:blip r:embed="rId9" cstate="print"/>
            <a:stretch>
              <a:fillRect/>
            </a:stretch>
          </a:blipFill>
        </p:spPr>
        <p:txBody>
          <a:bodyPr wrap="square" lIns="0" tIns="0" rIns="0" bIns="0" rtlCol="0">
            <a:spAutoFit/>
          </a:bodyPr>
          <a:lstStyle/>
          <a:p>
            <a:endParaRPr/>
          </a:p>
        </p:txBody>
      </p:sp>
      <p:sp>
        <p:nvSpPr>
          <p:cNvPr id="2" name="Holder 2"/>
          <p:cNvSpPr>
            <a:spLocks noGrp="1"/>
          </p:cNvSpPr>
          <p:nvPr>
            <p:ph type="title"/>
          </p:nvPr>
        </p:nvSpPr>
        <p:spPr>
          <a:xfrm>
            <a:off x="2194051" y="1551853"/>
            <a:ext cx="7803896" cy="2371049"/>
          </a:xfrm>
          <a:prstGeom prst="rect">
            <a:avLst/>
          </a:prstGeom>
        </p:spPr>
        <p:txBody>
          <a:bodyPr wrap="square" lIns="0" tIns="0" rIns="0" bIns="0">
            <a:spAutoFit/>
          </a:bodyPr>
          <a:lstStyle>
            <a:lvl1pPr>
              <a:defRPr sz="3100">
                <a:solidFill>
                  <a:srgbClr val="412564"/>
                </a:solidFill>
                <a:latin typeface="Calibri"/>
                <a:cs typeface="Calibri"/>
              </a:defRPr>
            </a:lvl1pPr>
          </a:lstStyle>
          <a:p>
            <a:endParaRPr/>
          </a:p>
        </p:txBody>
      </p:sp>
      <p:sp>
        <p:nvSpPr>
          <p:cNvPr id="3" name="Holder 3"/>
          <p:cNvSpPr>
            <a:spLocks noGrp="1"/>
          </p:cNvSpPr>
          <p:nvPr>
            <p:ph type="body" idx="1"/>
          </p:nvPr>
        </p:nvSpPr>
        <p:spPr>
          <a:xfrm>
            <a:off x="2194051" y="2915665"/>
            <a:ext cx="7803896" cy="2653411"/>
          </a:xfrm>
          <a:prstGeom prst="rect">
            <a:avLst/>
          </a:prstGeom>
        </p:spPr>
        <p:txBody>
          <a:bodyPr wrap="square" lIns="0" tIns="0" rIns="0" bIns="0">
            <a:spAutoFit/>
          </a:bodyPr>
          <a:lstStyle>
            <a:lvl1pPr>
              <a:defRPr sz="2700">
                <a:solidFill>
                  <a:srgbClr val="412564"/>
                </a:solidFill>
                <a:latin typeface="Calibri"/>
                <a:cs typeface="Calibri"/>
              </a:defRPr>
            </a:lvl1pPr>
          </a:lstStyle>
          <a:p>
            <a:endParaRPr/>
          </a:p>
        </p:txBody>
      </p:sp>
      <p:sp>
        <p:nvSpPr>
          <p:cNvPr id="4" name="Holder 4"/>
          <p:cNvSpPr>
            <a:spLocks noGrp="1"/>
          </p:cNvSpPr>
          <p:nvPr>
            <p:ph type="ftr" sz="quarter" idx="5"/>
          </p:nvPr>
        </p:nvSpPr>
        <p:spPr>
          <a:xfrm>
            <a:off x="4145280" y="6377940"/>
            <a:ext cx="390143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1999" cy="6857997"/>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p:nvPr/>
        </p:nvSpPr>
        <p:spPr>
          <a:xfrm>
            <a:off x="716280" y="926591"/>
            <a:ext cx="7080504" cy="2205228"/>
          </a:xfrm>
          <a:prstGeom prst="rect">
            <a:avLst/>
          </a:prstGeom>
          <a:blipFill>
            <a:blip r:embed="rId3" cstate="print"/>
            <a:stretch>
              <a:fillRect/>
            </a:stretch>
          </a:blipFill>
        </p:spPr>
        <p:txBody>
          <a:bodyPr wrap="square" lIns="0" tIns="0" rIns="0" bIns="0" rtlCol="0">
            <a:spAutoFit/>
          </a:bodyPr>
          <a:lstStyle/>
          <a:p>
            <a:endParaRPr/>
          </a:p>
        </p:txBody>
      </p:sp>
      <p:sp>
        <p:nvSpPr>
          <p:cNvPr id="4" name="object 4"/>
          <p:cNvSpPr txBox="1"/>
          <p:nvPr/>
        </p:nvSpPr>
        <p:spPr>
          <a:xfrm>
            <a:off x="989177" y="3902709"/>
            <a:ext cx="9989820" cy="959302"/>
          </a:xfrm>
          <a:prstGeom prst="rect">
            <a:avLst/>
          </a:prstGeom>
        </p:spPr>
        <p:txBody>
          <a:bodyPr vert="horz" wrap="square" lIns="0" tIns="0" rIns="0" bIns="0" rtlCol="0">
            <a:spAutoFit/>
          </a:bodyPr>
          <a:lstStyle/>
          <a:p>
            <a:pPr marL="12700">
              <a:lnSpc>
                <a:spcPct val="100000"/>
              </a:lnSpc>
            </a:pPr>
            <a:r>
              <a:rPr lang="es-SV" sz="5400" spc="-85" dirty="0">
                <a:solidFill>
                  <a:srgbClr val="FFFFFF"/>
                </a:solidFill>
                <a:latin typeface="Calibri"/>
                <a:cs typeface="Calibri"/>
              </a:rPr>
              <a:t>Indicadores</a:t>
            </a:r>
            <a:endParaRPr sz="5400" dirty="0">
              <a:latin typeface="Calibri"/>
              <a:cs typeface="Calibri"/>
            </a:endParaRPr>
          </a:p>
          <a:p>
            <a:pPr>
              <a:lnSpc>
                <a:spcPts val="950"/>
              </a:lnSpc>
              <a:spcBef>
                <a:spcPts val="25"/>
              </a:spcBef>
            </a:pPr>
            <a:endParaRPr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56B0-553E-93EB-A70B-273B6F035B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6F6574-2111-01EF-35EF-902E6E6BFD57}"/>
              </a:ext>
            </a:extLst>
          </p:cNvPr>
          <p:cNvSpPr/>
          <p:nvPr/>
        </p:nvSpPr>
        <p:spPr>
          <a:xfrm>
            <a:off x="0" y="0"/>
            <a:ext cx="12191999" cy="6857997"/>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a:extLst>
              <a:ext uri="{FF2B5EF4-FFF2-40B4-BE49-F238E27FC236}">
                <a16:creationId xmlns:a16="http://schemas.microsoft.com/office/drawing/2014/main" id="{D72D660A-609C-3EA3-6994-2F6352AC7CDA}"/>
              </a:ext>
            </a:extLst>
          </p:cNvPr>
          <p:cNvSpPr/>
          <p:nvPr/>
        </p:nvSpPr>
        <p:spPr>
          <a:xfrm>
            <a:off x="3910584" y="2763011"/>
            <a:ext cx="1392936" cy="987551"/>
          </a:xfrm>
          <a:prstGeom prst="rect">
            <a:avLst/>
          </a:prstGeom>
          <a:blipFill>
            <a:blip r:embed="rId3" cstate="print"/>
            <a:stretch>
              <a:fillRect/>
            </a:stretch>
          </a:blipFill>
        </p:spPr>
        <p:txBody>
          <a:bodyPr wrap="square" lIns="0" tIns="0" rIns="0" bIns="0" rtlCol="0">
            <a:spAutoFit/>
          </a:bodyPr>
          <a:lstStyle/>
          <a:p>
            <a:endParaRPr/>
          </a:p>
        </p:txBody>
      </p:sp>
      <p:sp>
        <p:nvSpPr>
          <p:cNvPr id="4" name="object 4">
            <a:extLst>
              <a:ext uri="{FF2B5EF4-FFF2-40B4-BE49-F238E27FC236}">
                <a16:creationId xmlns:a16="http://schemas.microsoft.com/office/drawing/2014/main" id="{67D4E592-2F95-7C74-8B60-F4B7D7534487}"/>
              </a:ext>
            </a:extLst>
          </p:cNvPr>
          <p:cNvSpPr/>
          <p:nvPr/>
        </p:nvSpPr>
        <p:spPr>
          <a:xfrm>
            <a:off x="5433059" y="2699004"/>
            <a:ext cx="0" cy="1184910"/>
          </a:xfrm>
          <a:custGeom>
            <a:avLst/>
            <a:gdLst/>
            <a:ahLst/>
            <a:cxnLst/>
            <a:rect l="l" t="t" r="r" b="b"/>
            <a:pathLst>
              <a:path h="1184910">
                <a:moveTo>
                  <a:pt x="0" y="0"/>
                </a:moveTo>
                <a:lnTo>
                  <a:pt x="0" y="1184910"/>
                </a:lnTo>
              </a:path>
            </a:pathLst>
          </a:custGeom>
          <a:ln w="9525">
            <a:solidFill>
              <a:srgbClr val="412764"/>
            </a:solidFill>
          </a:ln>
        </p:spPr>
        <p:txBody>
          <a:bodyPr wrap="square" lIns="0" tIns="0" rIns="0" bIns="0" rtlCol="0">
            <a:spAutoFit/>
          </a:bodyPr>
          <a:lstStyle/>
          <a:p>
            <a:endParaRPr/>
          </a:p>
        </p:txBody>
      </p:sp>
      <p:sp>
        <p:nvSpPr>
          <p:cNvPr id="5" name="object 5">
            <a:extLst>
              <a:ext uri="{FF2B5EF4-FFF2-40B4-BE49-F238E27FC236}">
                <a16:creationId xmlns:a16="http://schemas.microsoft.com/office/drawing/2014/main" id="{E3930AC3-FDBC-F846-1576-D5938B07BFBE}"/>
              </a:ext>
            </a:extLst>
          </p:cNvPr>
          <p:cNvSpPr txBox="1"/>
          <p:nvPr/>
        </p:nvSpPr>
        <p:spPr>
          <a:xfrm>
            <a:off x="5718175" y="2808478"/>
            <a:ext cx="3495928" cy="1000274"/>
          </a:xfrm>
          <a:prstGeom prst="rect">
            <a:avLst/>
          </a:prstGeom>
        </p:spPr>
        <p:txBody>
          <a:bodyPr vert="horz" wrap="square" lIns="0" tIns="0" rIns="0" bIns="0" rtlCol="0">
            <a:spAutoFit/>
          </a:bodyPr>
          <a:lstStyle/>
          <a:p>
            <a:pPr marL="12700" marR="6350">
              <a:lnSpc>
                <a:spcPts val="3890"/>
              </a:lnSpc>
            </a:pPr>
            <a:r>
              <a:rPr lang="es-SV" sz="3600" b="1" dirty="0">
                <a:solidFill>
                  <a:srgbClr val="412564"/>
                </a:solidFill>
                <a:latin typeface="Calibri"/>
                <a:cs typeface="Calibri"/>
              </a:rPr>
              <a:t>Indicadores </a:t>
            </a:r>
            <a:br>
              <a:rPr lang="es-SV" sz="3600" b="1" dirty="0">
                <a:solidFill>
                  <a:srgbClr val="412564"/>
                </a:solidFill>
                <a:latin typeface="Calibri"/>
                <a:cs typeface="Calibri"/>
              </a:rPr>
            </a:br>
            <a:r>
              <a:rPr lang="es-SV" sz="3600" b="1" dirty="0">
                <a:solidFill>
                  <a:srgbClr val="412564"/>
                </a:solidFill>
                <a:latin typeface="Calibri"/>
                <a:cs typeface="Calibri"/>
              </a:rPr>
              <a:t>de Rendimiento</a:t>
            </a:r>
            <a:endParaRPr sz="3600" dirty="0">
              <a:latin typeface="Calibri"/>
              <a:cs typeface="Calibri"/>
            </a:endParaRPr>
          </a:p>
        </p:txBody>
      </p:sp>
    </p:spTree>
    <p:extLst>
      <p:ext uri="{BB962C8B-B14F-4D97-AF65-F5344CB8AC3E}">
        <p14:creationId xmlns:p14="http://schemas.microsoft.com/office/powerpoint/2010/main" val="1032507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C2C285F-61A2-9D8B-48F7-9C4288A42919}"/>
              </a:ext>
            </a:extLst>
          </p:cNvPr>
          <p:cNvSpPr txBox="1">
            <a:spLocks/>
          </p:cNvSpPr>
          <p:nvPr/>
        </p:nvSpPr>
        <p:spPr>
          <a:xfrm>
            <a:off x="1103172" y="457200"/>
            <a:ext cx="9985654" cy="646331"/>
          </a:xfrm>
          <a:prstGeom prst="rect">
            <a:avLst/>
          </a:prstGeom>
        </p:spPr>
        <p:txBody>
          <a:bodyPr vert="horz" wrap="square" lIns="0" tIns="152400" rIns="0" bIns="0" rtlCol="0">
            <a:spAutoFit/>
          </a:bodyPr>
          <a:lstStyle>
            <a:lvl1pPr>
              <a:defRPr>
                <a:latin typeface="+mj-lt"/>
                <a:ea typeface="+mj-ea"/>
                <a:cs typeface="+mj-cs"/>
              </a:defRPr>
            </a:lvl1pPr>
          </a:lstStyle>
          <a:p>
            <a:pPr marL="12700" algn="r"/>
            <a:r>
              <a:rPr lang="es-MX" sz="3200" kern="0" dirty="0">
                <a:solidFill>
                  <a:srgbClr val="7030A0"/>
                </a:solidFill>
              </a:rPr>
              <a:t>¿</a:t>
            </a:r>
            <a:r>
              <a:rPr lang="es-MX" sz="3200" kern="0" dirty="0" err="1">
                <a:solidFill>
                  <a:srgbClr val="7030A0"/>
                </a:solidFill>
              </a:rPr>
              <a:t>KPI’s</a:t>
            </a:r>
            <a:r>
              <a:rPr lang="es-MX" sz="3200" kern="0" dirty="0">
                <a:solidFill>
                  <a:srgbClr val="7030A0"/>
                </a:solidFill>
              </a:rPr>
              <a:t>?</a:t>
            </a:r>
            <a:endParaRPr lang="es-SV" sz="3200" kern="0" dirty="0">
              <a:solidFill>
                <a:srgbClr val="7030A0"/>
              </a:solidFill>
            </a:endParaRPr>
          </a:p>
        </p:txBody>
      </p:sp>
      <p:sp>
        <p:nvSpPr>
          <p:cNvPr id="3" name="CuadroTexto 2">
            <a:extLst>
              <a:ext uri="{FF2B5EF4-FFF2-40B4-BE49-F238E27FC236}">
                <a16:creationId xmlns:a16="http://schemas.microsoft.com/office/drawing/2014/main" id="{3A4DA3F0-0E56-BBD1-172B-56C47357CEF0}"/>
              </a:ext>
            </a:extLst>
          </p:cNvPr>
          <p:cNvSpPr txBox="1"/>
          <p:nvPr/>
        </p:nvSpPr>
        <p:spPr>
          <a:xfrm>
            <a:off x="609600" y="1903274"/>
            <a:ext cx="8077200" cy="1754326"/>
          </a:xfrm>
          <a:prstGeom prst="rect">
            <a:avLst/>
          </a:prstGeom>
          <a:noFill/>
        </p:spPr>
        <p:txBody>
          <a:bodyPr wrap="square">
            <a:spAutoFit/>
          </a:bodyPr>
          <a:lstStyle/>
          <a:p>
            <a:r>
              <a:rPr lang="es-MX" b="1" i="0" dirty="0">
                <a:solidFill>
                  <a:srgbClr val="333333"/>
                </a:solidFill>
                <a:effectLst/>
                <a:latin typeface="Courier New" panose="02070309020205020404" pitchFamily="49" charset="0"/>
                <a:cs typeface="Courier New" panose="02070309020205020404" pitchFamily="49" charset="0"/>
              </a:rPr>
              <a:t>Un indicador clave de rendimiento (KPI: </a:t>
            </a:r>
            <a:r>
              <a:rPr lang="es-MX" b="1" i="0" dirty="0" err="1">
                <a:solidFill>
                  <a:srgbClr val="333333"/>
                </a:solidFill>
                <a:effectLst/>
                <a:latin typeface="Courier New" panose="02070309020205020404" pitchFamily="49" charset="0"/>
                <a:cs typeface="Courier New" panose="02070309020205020404" pitchFamily="49" charset="0"/>
              </a:rPr>
              <a:t>key</a:t>
            </a:r>
            <a:r>
              <a:rPr lang="es-MX" b="1" i="0" dirty="0">
                <a:solidFill>
                  <a:srgbClr val="333333"/>
                </a:solidFill>
                <a:effectLst/>
                <a:latin typeface="Courier New" panose="02070309020205020404" pitchFamily="49" charset="0"/>
                <a:cs typeface="Courier New" panose="02070309020205020404" pitchFamily="49" charset="0"/>
              </a:rPr>
              <a:t> performance </a:t>
            </a:r>
            <a:r>
              <a:rPr lang="es-MX" b="1" i="0" dirty="0" err="1">
                <a:solidFill>
                  <a:srgbClr val="333333"/>
                </a:solidFill>
                <a:effectLst/>
                <a:latin typeface="Courier New" panose="02070309020205020404" pitchFamily="49" charset="0"/>
                <a:cs typeface="Courier New" panose="02070309020205020404" pitchFamily="49" charset="0"/>
              </a:rPr>
              <a:t>indicator</a:t>
            </a:r>
            <a:r>
              <a:rPr lang="es-MX" b="1" i="0" dirty="0">
                <a:solidFill>
                  <a:srgbClr val="333333"/>
                </a:solidFill>
                <a:effectLst/>
                <a:latin typeface="Courier New" panose="02070309020205020404" pitchFamily="49" charset="0"/>
                <a:cs typeface="Courier New" panose="02070309020205020404" pitchFamily="49" charset="0"/>
              </a:rPr>
              <a:t>) es un indicador que utilizan las empresas para supervisar y </a:t>
            </a:r>
            <a:r>
              <a:rPr lang="es-MX" b="1" i="0" dirty="0">
                <a:solidFill>
                  <a:srgbClr val="333333"/>
                </a:solidFill>
                <a:effectLst/>
                <a:highlight>
                  <a:srgbClr val="FFFF00"/>
                </a:highlight>
                <a:latin typeface="Courier New" panose="02070309020205020404" pitchFamily="49" charset="0"/>
                <a:cs typeface="Courier New" panose="02070309020205020404" pitchFamily="49" charset="0"/>
              </a:rPr>
              <a:t>evaluar la eficiencia de sus operaciones </a:t>
            </a:r>
            <a:r>
              <a:rPr lang="es-MX" b="1" i="0" dirty="0">
                <a:solidFill>
                  <a:srgbClr val="333333"/>
                </a:solidFill>
                <a:effectLst/>
                <a:latin typeface="Courier New" panose="02070309020205020404" pitchFamily="49" charset="0"/>
                <a:cs typeface="Courier New" panose="02070309020205020404" pitchFamily="49" charset="0"/>
              </a:rPr>
              <a:t>diarias. En el caso de los indicadores operativos, </a:t>
            </a:r>
            <a:r>
              <a:rPr lang="es-MX" b="1" i="0" u="sng" dirty="0">
                <a:solidFill>
                  <a:srgbClr val="333333"/>
                </a:solidFill>
                <a:effectLst/>
                <a:latin typeface="Courier New" panose="02070309020205020404" pitchFamily="49" charset="0"/>
                <a:cs typeface="Courier New" panose="02070309020205020404" pitchFamily="49" charset="0"/>
              </a:rPr>
              <a:t>estos ayudan a la dirección a identificar qué estrategias operativas son efectivas y cuáles inhiben a la empresa.</a:t>
            </a:r>
            <a:endParaRPr lang="es-SV" b="1" u="sng" dirty="0">
              <a:latin typeface="Courier New" panose="02070309020205020404" pitchFamily="49" charset="0"/>
              <a:cs typeface="Courier New" panose="02070309020205020404" pitchFamily="49" charset="0"/>
            </a:endParaRPr>
          </a:p>
        </p:txBody>
      </p:sp>
      <p:sp>
        <p:nvSpPr>
          <p:cNvPr id="8" name="CuadroTexto 7">
            <a:extLst>
              <a:ext uri="{FF2B5EF4-FFF2-40B4-BE49-F238E27FC236}">
                <a16:creationId xmlns:a16="http://schemas.microsoft.com/office/drawing/2014/main" id="{7D636D5F-61FA-1FE0-17DD-F8D92F5FD4CD}"/>
              </a:ext>
            </a:extLst>
          </p:cNvPr>
          <p:cNvSpPr txBox="1"/>
          <p:nvPr/>
        </p:nvSpPr>
        <p:spPr>
          <a:xfrm>
            <a:off x="5410200" y="4220528"/>
            <a:ext cx="6094476" cy="1477328"/>
          </a:xfrm>
          <a:prstGeom prst="rect">
            <a:avLst/>
          </a:prstGeom>
          <a:noFill/>
        </p:spPr>
        <p:txBody>
          <a:bodyPr wrap="square">
            <a:spAutoFit/>
          </a:bodyPr>
          <a:lstStyle/>
          <a:p>
            <a:pPr algn="r"/>
            <a:r>
              <a:rPr lang="es-MX" dirty="0">
                <a:solidFill>
                  <a:srgbClr val="333333"/>
                </a:solidFill>
                <a:latin typeface="Libre Baskerville" panose="02000000000000000000" pitchFamily="2" charset="0"/>
              </a:rPr>
              <a:t>Las empresas líderes utilizan los </a:t>
            </a:r>
            <a:r>
              <a:rPr lang="es-MX" dirty="0" err="1">
                <a:solidFill>
                  <a:srgbClr val="333333"/>
                </a:solidFill>
                <a:latin typeface="Libre Baskerville" panose="02000000000000000000" pitchFamily="2" charset="0"/>
              </a:rPr>
              <a:t>KPIs</a:t>
            </a:r>
            <a:r>
              <a:rPr lang="es-MX" dirty="0">
                <a:solidFill>
                  <a:srgbClr val="333333"/>
                </a:solidFill>
                <a:latin typeface="Libre Baskerville" panose="02000000000000000000" pitchFamily="2" charset="0"/>
              </a:rPr>
              <a:t> y los </a:t>
            </a:r>
            <a:r>
              <a:rPr lang="es-MX" dirty="0" err="1">
                <a:solidFill>
                  <a:srgbClr val="333333"/>
                </a:solidFill>
                <a:latin typeface="Libre Baskerville" panose="02000000000000000000" pitchFamily="2" charset="0"/>
              </a:rPr>
              <a:t>dashboards</a:t>
            </a:r>
            <a:r>
              <a:rPr lang="es-MX" dirty="0">
                <a:solidFill>
                  <a:srgbClr val="333333"/>
                </a:solidFill>
                <a:latin typeface="Libre Baskerville" panose="02000000000000000000" pitchFamily="2" charset="0"/>
              </a:rPr>
              <a:t> para medir su eficiencia en tiempo real. Esto permite a la dirección tomar rápidamente decisiones informadas y respaldadas </a:t>
            </a:r>
            <a:r>
              <a:rPr lang="es-MX" b="0" i="0" dirty="0">
                <a:solidFill>
                  <a:srgbClr val="333333"/>
                </a:solidFill>
                <a:effectLst/>
                <a:latin typeface="Libre Baskerville" panose="02000000000000000000" pitchFamily="2" charset="0"/>
              </a:rPr>
              <a:t>por datos. </a:t>
            </a:r>
            <a:endParaRPr lang="es-SV" dirty="0"/>
          </a:p>
        </p:txBody>
      </p:sp>
    </p:spTree>
    <p:extLst>
      <p:ext uri="{BB962C8B-B14F-4D97-AF65-F5344CB8AC3E}">
        <p14:creationId xmlns:p14="http://schemas.microsoft.com/office/powerpoint/2010/main" val="366116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fining and Implementing Key Performance Indicators (KPI ...">
            <a:extLst>
              <a:ext uri="{FF2B5EF4-FFF2-40B4-BE49-F238E27FC236}">
                <a16:creationId xmlns:a16="http://schemas.microsoft.com/office/drawing/2014/main" id="{95A197C6-B9DC-E75D-5A6B-CE278685FC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05" b="6088"/>
          <a:stretch/>
        </p:blipFill>
        <p:spPr bwMode="auto">
          <a:xfrm>
            <a:off x="1534226" y="1219200"/>
            <a:ext cx="9123548" cy="5033682"/>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F426EF5E-9D67-21AD-6AD9-CD75334B21F8}"/>
              </a:ext>
            </a:extLst>
          </p:cNvPr>
          <p:cNvSpPr txBox="1">
            <a:spLocks/>
          </p:cNvSpPr>
          <p:nvPr/>
        </p:nvSpPr>
        <p:spPr>
          <a:xfrm>
            <a:off x="1103172" y="457200"/>
            <a:ext cx="9985654" cy="646331"/>
          </a:xfrm>
          <a:prstGeom prst="rect">
            <a:avLst/>
          </a:prstGeom>
        </p:spPr>
        <p:txBody>
          <a:bodyPr vert="horz" wrap="square" lIns="0" tIns="152400" rIns="0" bIns="0" rtlCol="0">
            <a:spAutoFit/>
          </a:bodyPr>
          <a:lstStyle>
            <a:lvl1pPr>
              <a:defRPr>
                <a:latin typeface="+mj-lt"/>
                <a:ea typeface="+mj-ea"/>
                <a:cs typeface="+mj-cs"/>
              </a:defRPr>
            </a:lvl1pPr>
          </a:lstStyle>
          <a:p>
            <a:pPr marL="12700" algn="r"/>
            <a:r>
              <a:rPr lang="es-MX" sz="3200" kern="0" dirty="0">
                <a:solidFill>
                  <a:srgbClr val="7030A0"/>
                </a:solidFill>
              </a:rPr>
              <a:t>Características</a:t>
            </a:r>
            <a:endParaRPr lang="es-SV" sz="3200" kern="0" dirty="0">
              <a:solidFill>
                <a:srgbClr val="7030A0"/>
              </a:solidFill>
            </a:endParaRPr>
          </a:p>
        </p:txBody>
      </p:sp>
    </p:spTree>
    <p:extLst>
      <p:ext uri="{BB962C8B-B14F-4D97-AF65-F5344CB8AC3E}">
        <p14:creationId xmlns:p14="http://schemas.microsoft.com/office/powerpoint/2010/main" val="330180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8B33F-13DC-FB9A-01E1-DDAD623D55EE}"/>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8A1D15AA-0D5C-A1CD-3B04-A452DC6E8C1E}"/>
              </a:ext>
            </a:extLst>
          </p:cNvPr>
          <p:cNvSpPr txBox="1">
            <a:spLocks/>
          </p:cNvSpPr>
          <p:nvPr/>
        </p:nvSpPr>
        <p:spPr>
          <a:xfrm>
            <a:off x="1103172" y="461427"/>
            <a:ext cx="9985654" cy="1138773"/>
          </a:xfrm>
          <a:prstGeom prst="rect">
            <a:avLst/>
          </a:prstGeom>
        </p:spPr>
        <p:txBody>
          <a:bodyPr vert="horz" wrap="square" lIns="0" tIns="152400" rIns="0" bIns="0" rtlCol="0">
            <a:spAutoFit/>
          </a:bodyPr>
          <a:lstStyle>
            <a:lvl1pPr>
              <a:defRPr>
                <a:latin typeface="+mj-lt"/>
                <a:ea typeface="+mj-ea"/>
                <a:cs typeface="+mj-cs"/>
              </a:defRPr>
            </a:lvl1pPr>
          </a:lstStyle>
          <a:p>
            <a:pPr marL="12700" algn="r"/>
            <a:r>
              <a:rPr lang="es-MX" sz="3200" kern="0" dirty="0">
                <a:solidFill>
                  <a:srgbClr val="7030A0"/>
                </a:solidFill>
              </a:rPr>
              <a:t>¿En qué áreas de la empresa debes </a:t>
            </a:r>
            <a:br>
              <a:rPr lang="es-MX" sz="3200" kern="0" dirty="0">
                <a:solidFill>
                  <a:srgbClr val="7030A0"/>
                </a:solidFill>
              </a:rPr>
            </a:br>
            <a:r>
              <a:rPr lang="es-MX" sz="3200" kern="0" dirty="0">
                <a:solidFill>
                  <a:srgbClr val="7030A0"/>
                </a:solidFill>
              </a:rPr>
              <a:t>implementar los indicadores?</a:t>
            </a:r>
          </a:p>
        </p:txBody>
      </p:sp>
      <p:grpSp>
        <p:nvGrpSpPr>
          <p:cNvPr id="15" name="Grupo 14">
            <a:extLst>
              <a:ext uri="{FF2B5EF4-FFF2-40B4-BE49-F238E27FC236}">
                <a16:creationId xmlns:a16="http://schemas.microsoft.com/office/drawing/2014/main" id="{F43AE5F3-AECC-F26E-92FD-84FA0DA9AAC1}"/>
              </a:ext>
            </a:extLst>
          </p:cNvPr>
          <p:cNvGrpSpPr/>
          <p:nvPr/>
        </p:nvGrpSpPr>
        <p:grpSpPr>
          <a:xfrm>
            <a:off x="1371600" y="2514600"/>
            <a:ext cx="9220200" cy="2905675"/>
            <a:chOff x="1371600" y="2514600"/>
            <a:chExt cx="9220200" cy="2905675"/>
          </a:xfrm>
        </p:grpSpPr>
        <p:sp>
          <p:nvSpPr>
            <p:cNvPr id="8" name="CuadroTexto 7">
              <a:extLst>
                <a:ext uri="{FF2B5EF4-FFF2-40B4-BE49-F238E27FC236}">
                  <a16:creationId xmlns:a16="http://schemas.microsoft.com/office/drawing/2014/main" id="{68E6723C-985B-7CE8-669E-DBF9D073A724}"/>
                </a:ext>
              </a:extLst>
            </p:cNvPr>
            <p:cNvSpPr txBox="1"/>
            <p:nvPr/>
          </p:nvSpPr>
          <p:spPr>
            <a:xfrm>
              <a:off x="1524000" y="2514600"/>
              <a:ext cx="7086600" cy="2246769"/>
            </a:xfrm>
            <a:prstGeom prst="rect">
              <a:avLst/>
            </a:prstGeom>
            <a:noFill/>
          </p:spPr>
          <p:txBody>
            <a:bodyPr wrap="square">
              <a:spAutoFit/>
            </a:bodyPr>
            <a:lstStyle/>
            <a:p>
              <a:r>
                <a:rPr lang="es-MX" sz="2800" i="1" dirty="0">
                  <a:latin typeface="Courier New" panose="02070309020205020404" pitchFamily="49" charset="0"/>
                  <a:cs typeface="Courier New" panose="02070309020205020404" pitchFamily="49" charset="0"/>
                </a:rPr>
                <a:t>“Lo que no se puede medir no se puede controlar; lo que no se puede controlar no se puede gestionar; lo que no se puede gestionar no se puede mejorar.”</a:t>
              </a:r>
              <a:endParaRPr lang="es-SV" sz="2800" i="1" dirty="0">
                <a:latin typeface="Courier New" panose="02070309020205020404" pitchFamily="49" charset="0"/>
                <a:cs typeface="Courier New" panose="02070309020205020404" pitchFamily="49" charset="0"/>
              </a:endParaRPr>
            </a:p>
          </p:txBody>
        </p:sp>
        <p:cxnSp>
          <p:nvCxnSpPr>
            <p:cNvPr id="10" name="Conector recto 9">
              <a:extLst>
                <a:ext uri="{FF2B5EF4-FFF2-40B4-BE49-F238E27FC236}">
                  <a16:creationId xmlns:a16="http://schemas.microsoft.com/office/drawing/2014/main" id="{29C91680-8924-1718-0DEC-C9067EA31547}"/>
                </a:ext>
              </a:extLst>
            </p:cNvPr>
            <p:cNvCxnSpPr/>
            <p:nvPr/>
          </p:nvCxnSpPr>
          <p:spPr>
            <a:xfrm>
              <a:off x="1371600" y="4953000"/>
              <a:ext cx="9220200" cy="0"/>
            </a:xfrm>
            <a:prstGeom prst="line">
              <a:avLst/>
            </a:prstGeom>
            <a:ln w="12700"/>
          </p:spPr>
          <p:style>
            <a:lnRef idx="1">
              <a:schemeClr val="dk1"/>
            </a:lnRef>
            <a:fillRef idx="0">
              <a:schemeClr val="dk1"/>
            </a:fillRef>
            <a:effectRef idx="0">
              <a:schemeClr val="dk1"/>
            </a:effectRef>
            <a:fontRef idx="minor">
              <a:schemeClr val="tx1"/>
            </a:fontRef>
          </p:style>
        </p:cxnSp>
        <p:sp>
          <p:nvSpPr>
            <p:cNvPr id="14" name="CuadroTexto 13">
              <a:extLst>
                <a:ext uri="{FF2B5EF4-FFF2-40B4-BE49-F238E27FC236}">
                  <a16:creationId xmlns:a16="http://schemas.microsoft.com/office/drawing/2014/main" id="{3406D1D0-CDA8-5F20-A051-F510FF162A1C}"/>
                </a:ext>
              </a:extLst>
            </p:cNvPr>
            <p:cNvSpPr txBox="1"/>
            <p:nvPr/>
          </p:nvSpPr>
          <p:spPr>
            <a:xfrm>
              <a:off x="5602426" y="5050943"/>
              <a:ext cx="4989374" cy="369332"/>
            </a:xfrm>
            <a:prstGeom prst="rect">
              <a:avLst/>
            </a:prstGeom>
            <a:noFill/>
          </p:spPr>
          <p:txBody>
            <a:bodyPr wrap="square">
              <a:spAutoFit/>
            </a:bodyPr>
            <a:lstStyle/>
            <a:p>
              <a:r>
                <a:rPr lang="es-MX" dirty="0">
                  <a:solidFill>
                    <a:schemeClr val="accent4">
                      <a:lumMod val="75000"/>
                    </a:schemeClr>
                  </a:solidFill>
                </a:rPr>
                <a:t>Peter Drucker, consultor y profesor de negocios.</a:t>
              </a:r>
              <a:endParaRPr lang="es-SV" dirty="0">
                <a:solidFill>
                  <a:schemeClr val="accent4">
                    <a:lumMod val="75000"/>
                  </a:schemeClr>
                </a:solidFill>
              </a:endParaRPr>
            </a:p>
          </p:txBody>
        </p:sp>
      </p:grpSp>
    </p:spTree>
    <p:extLst>
      <p:ext uri="{BB962C8B-B14F-4D97-AF65-F5344CB8AC3E}">
        <p14:creationId xmlns:p14="http://schemas.microsoft.com/office/powerpoint/2010/main" val="376397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D919-7439-195B-4586-53EC7285E8A1}"/>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BB44DD17-E562-BFA6-451C-D3C6D251D334}"/>
              </a:ext>
            </a:extLst>
          </p:cNvPr>
          <p:cNvSpPr txBox="1">
            <a:spLocks/>
          </p:cNvSpPr>
          <p:nvPr/>
        </p:nvSpPr>
        <p:spPr>
          <a:xfrm>
            <a:off x="1103172" y="461427"/>
            <a:ext cx="9985654" cy="1138773"/>
          </a:xfrm>
          <a:prstGeom prst="rect">
            <a:avLst/>
          </a:prstGeom>
        </p:spPr>
        <p:txBody>
          <a:bodyPr vert="horz" wrap="square" lIns="0" tIns="152400" rIns="0" bIns="0" rtlCol="0">
            <a:spAutoFit/>
          </a:bodyPr>
          <a:lstStyle>
            <a:lvl1pPr>
              <a:defRPr>
                <a:latin typeface="+mj-lt"/>
                <a:ea typeface="+mj-ea"/>
                <a:cs typeface="+mj-cs"/>
              </a:defRPr>
            </a:lvl1pPr>
          </a:lstStyle>
          <a:p>
            <a:pPr marL="12700" algn="r"/>
            <a:r>
              <a:rPr lang="es-MX" sz="3200" kern="0" dirty="0">
                <a:solidFill>
                  <a:srgbClr val="7030A0"/>
                </a:solidFill>
              </a:rPr>
              <a:t>¿En qué áreas de la empresa debes </a:t>
            </a:r>
            <a:br>
              <a:rPr lang="es-MX" sz="3200" kern="0" dirty="0">
                <a:solidFill>
                  <a:srgbClr val="7030A0"/>
                </a:solidFill>
              </a:rPr>
            </a:br>
            <a:r>
              <a:rPr lang="es-MX" sz="3200" kern="0" dirty="0">
                <a:solidFill>
                  <a:srgbClr val="7030A0"/>
                </a:solidFill>
              </a:rPr>
              <a:t>implementar los indicadores?</a:t>
            </a:r>
          </a:p>
        </p:txBody>
      </p:sp>
      <p:graphicFrame>
        <p:nvGraphicFramePr>
          <p:cNvPr id="2" name="Diagrama 1">
            <a:extLst>
              <a:ext uri="{FF2B5EF4-FFF2-40B4-BE49-F238E27FC236}">
                <a16:creationId xmlns:a16="http://schemas.microsoft.com/office/drawing/2014/main" id="{5B4D8235-B0E2-CF35-E584-AB2F485E99B0}"/>
              </a:ext>
            </a:extLst>
          </p:cNvPr>
          <p:cNvGraphicFramePr/>
          <p:nvPr/>
        </p:nvGraphicFramePr>
        <p:xfrm>
          <a:off x="609600" y="1600200"/>
          <a:ext cx="10439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467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F00697DF-3C50-4978-8AB7-FBC6F1F33E66}"/>
                                            </p:graphicEl>
                                          </p:spTgt>
                                        </p:tgtEl>
                                        <p:attrNameLst>
                                          <p:attrName>style.visibility</p:attrName>
                                        </p:attrNameLst>
                                      </p:cBhvr>
                                      <p:to>
                                        <p:strVal val="visible"/>
                                      </p:to>
                                    </p:set>
                                    <p:animEffect transition="in" filter="fade">
                                      <p:cBhvr>
                                        <p:cTn id="7" dur="500"/>
                                        <p:tgtEl>
                                          <p:spTgt spid="2">
                                            <p:graphicEl>
                                              <a:dgm id="{F00697DF-3C50-4978-8AB7-FBC6F1F33E6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graphicEl>
                                              <a:dgm id="{98DB4688-E5B2-41B3-9352-E7CFEEFA37D7}"/>
                                            </p:graphicEl>
                                          </p:spTgt>
                                        </p:tgtEl>
                                        <p:attrNameLst>
                                          <p:attrName>style.visibility</p:attrName>
                                        </p:attrNameLst>
                                      </p:cBhvr>
                                      <p:to>
                                        <p:strVal val="visible"/>
                                      </p:to>
                                    </p:set>
                                    <p:animEffect transition="in" filter="fade">
                                      <p:cBhvr>
                                        <p:cTn id="10" dur="500"/>
                                        <p:tgtEl>
                                          <p:spTgt spid="2">
                                            <p:graphicEl>
                                              <a:dgm id="{98DB4688-E5B2-41B3-9352-E7CFEEFA37D7}"/>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graphicEl>
                                              <a:dgm id="{8E806A21-D1A5-4F09-9794-02E7038B6604}"/>
                                            </p:graphicEl>
                                          </p:spTgt>
                                        </p:tgtEl>
                                        <p:attrNameLst>
                                          <p:attrName>style.visibility</p:attrName>
                                        </p:attrNameLst>
                                      </p:cBhvr>
                                      <p:to>
                                        <p:strVal val="visible"/>
                                      </p:to>
                                    </p:set>
                                    <p:animEffect transition="in" filter="fade">
                                      <p:cBhvr>
                                        <p:cTn id="13" dur="500"/>
                                        <p:tgtEl>
                                          <p:spTgt spid="2">
                                            <p:graphicEl>
                                              <a:dgm id="{8E806A21-D1A5-4F09-9794-02E7038B6604}"/>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graphicEl>
                                              <a:dgm id="{62BF818E-D363-487D-9E1E-E8C14C798710}"/>
                                            </p:graphicEl>
                                          </p:spTgt>
                                        </p:tgtEl>
                                        <p:attrNameLst>
                                          <p:attrName>style.visibility</p:attrName>
                                        </p:attrNameLst>
                                      </p:cBhvr>
                                      <p:to>
                                        <p:strVal val="visible"/>
                                      </p:to>
                                    </p:set>
                                    <p:animEffect transition="in" filter="fade">
                                      <p:cBhvr>
                                        <p:cTn id="18" dur="500"/>
                                        <p:tgtEl>
                                          <p:spTgt spid="2">
                                            <p:graphicEl>
                                              <a:dgm id="{62BF818E-D363-487D-9E1E-E8C14C798710}"/>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graphicEl>
                                              <a:dgm id="{E82435BD-8736-4844-AEDC-46ABB24B72D6}"/>
                                            </p:graphicEl>
                                          </p:spTgt>
                                        </p:tgtEl>
                                        <p:attrNameLst>
                                          <p:attrName>style.visibility</p:attrName>
                                        </p:attrNameLst>
                                      </p:cBhvr>
                                      <p:to>
                                        <p:strVal val="visible"/>
                                      </p:to>
                                    </p:set>
                                    <p:animEffect transition="in" filter="fade">
                                      <p:cBhvr>
                                        <p:cTn id="21" dur="500"/>
                                        <p:tgtEl>
                                          <p:spTgt spid="2">
                                            <p:graphicEl>
                                              <a:dgm id="{E82435BD-8736-4844-AEDC-46ABB24B72D6}"/>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graphicEl>
                                              <a:dgm id="{2665218C-327B-4A55-BD0C-FC4DDE9FA4C9}"/>
                                            </p:graphicEl>
                                          </p:spTgt>
                                        </p:tgtEl>
                                        <p:attrNameLst>
                                          <p:attrName>style.visibility</p:attrName>
                                        </p:attrNameLst>
                                      </p:cBhvr>
                                      <p:to>
                                        <p:strVal val="visible"/>
                                      </p:to>
                                    </p:set>
                                    <p:animEffect transition="in" filter="fade">
                                      <p:cBhvr>
                                        <p:cTn id="26" dur="500"/>
                                        <p:tgtEl>
                                          <p:spTgt spid="2">
                                            <p:graphicEl>
                                              <a:dgm id="{2665218C-327B-4A55-BD0C-FC4DDE9FA4C9}"/>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graphicEl>
                                              <a:dgm id="{32E0D037-A6D0-459A-9618-9CDAC65F95FC}"/>
                                            </p:graphicEl>
                                          </p:spTgt>
                                        </p:tgtEl>
                                        <p:attrNameLst>
                                          <p:attrName>style.visibility</p:attrName>
                                        </p:attrNameLst>
                                      </p:cBhvr>
                                      <p:to>
                                        <p:strVal val="visible"/>
                                      </p:to>
                                    </p:set>
                                    <p:animEffect transition="in" filter="fade">
                                      <p:cBhvr>
                                        <p:cTn id="29" dur="500"/>
                                        <p:tgtEl>
                                          <p:spTgt spid="2">
                                            <p:graphicEl>
                                              <a:dgm id="{32E0D037-A6D0-459A-9618-9CDAC65F95FC}"/>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
                                            <p:graphicEl>
                                              <a:dgm id="{C51EBE15-FB89-47C0-AE84-8E85AE51321A}"/>
                                            </p:graphicEl>
                                          </p:spTgt>
                                        </p:tgtEl>
                                        <p:attrNameLst>
                                          <p:attrName>style.visibility</p:attrName>
                                        </p:attrNameLst>
                                      </p:cBhvr>
                                      <p:to>
                                        <p:strVal val="visible"/>
                                      </p:to>
                                    </p:set>
                                    <p:animEffect transition="in" filter="fade">
                                      <p:cBhvr>
                                        <p:cTn id="34" dur="500"/>
                                        <p:tgtEl>
                                          <p:spTgt spid="2">
                                            <p:graphicEl>
                                              <a:dgm id="{C51EBE15-FB89-47C0-AE84-8E85AE51321A}"/>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
                                            <p:graphicEl>
                                              <a:dgm id="{B758288E-A5C4-4004-AF0B-E884F81D74FA}"/>
                                            </p:graphicEl>
                                          </p:spTgt>
                                        </p:tgtEl>
                                        <p:attrNameLst>
                                          <p:attrName>style.visibility</p:attrName>
                                        </p:attrNameLst>
                                      </p:cBhvr>
                                      <p:to>
                                        <p:strVal val="visible"/>
                                      </p:to>
                                    </p:set>
                                    <p:animEffect transition="in" filter="fade">
                                      <p:cBhvr>
                                        <p:cTn id="37" dur="500"/>
                                        <p:tgtEl>
                                          <p:spTgt spid="2">
                                            <p:graphicEl>
                                              <a:dgm id="{B758288E-A5C4-4004-AF0B-E884F81D74FA}"/>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graphicEl>
                                              <a:dgm id="{9E8CBD99-5ABD-4A10-9CA2-61064F8A4BBF}"/>
                                            </p:graphicEl>
                                          </p:spTgt>
                                        </p:tgtEl>
                                        <p:attrNameLst>
                                          <p:attrName>style.visibility</p:attrName>
                                        </p:attrNameLst>
                                      </p:cBhvr>
                                      <p:to>
                                        <p:strVal val="visible"/>
                                      </p:to>
                                    </p:set>
                                    <p:animEffect transition="in" filter="fade">
                                      <p:cBhvr>
                                        <p:cTn id="42" dur="500"/>
                                        <p:tgtEl>
                                          <p:spTgt spid="2">
                                            <p:graphicEl>
                                              <a:dgm id="{9E8CBD99-5ABD-4A10-9CA2-61064F8A4BBF}"/>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
                                            <p:graphicEl>
                                              <a:dgm id="{C49E9CA0-BC3A-431D-8D88-54C10B7D9DAD}"/>
                                            </p:graphicEl>
                                          </p:spTgt>
                                        </p:tgtEl>
                                        <p:attrNameLst>
                                          <p:attrName>style.visibility</p:attrName>
                                        </p:attrNameLst>
                                      </p:cBhvr>
                                      <p:to>
                                        <p:strVal val="visible"/>
                                      </p:to>
                                    </p:set>
                                    <p:animEffect transition="in" filter="fade">
                                      <p:cBhvr>
                                        <p:cTn id="45" dur="500"/>
                                        <p:tgtEl>
                                          <p:spTgt spid="2">
                                            <p:graphicEl>
                                              <a:dgm id="{C49E9CA0-BC3A-431D-8D88-54C10B7D9DA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C2FF9-AB43-BA35-6B4D-32B2114086C8}"/>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D210C1F7-6E8F-E740-EAC3-2665C5A5A0BB}"/>
              </a:ext>
            </a:extLst>
          </p:cNvPr>
          <p:cNvSpPr txBox="1">
            <a:spLocks/>
          </p:cNvSpPr>
          <p:nvPr/>
        </p:nvSpPr>
        <p:spPr>
          <a:xfrm>
            <a:off x="1103172" y="461427"/>
            <a:ext cx="9985654" cy="646331"/>
          </a:xfrm>
          <a:prstGeom prst="rect">
            <a:avLst/>
          </a:prstGeom>
        </p:spPr>
        <p:txBody>
          <a:bodyPr vert="horz" wrap="square" lIns="0" tIns="152400" rIns="0" bIns="0" rtlCol="0">
            <a:spAutoFit/>
          </a:bodyPr>
          <a:lstStyle>
            <a:lvl1pPr>
              <a:defRPr>
                <a:latin typeface="+mj-lt"/>
                <a:ea typeface="+mj-ea"/>
                <a:cs typeface="+mj-cs"/>
              </a:defRPr>
            </a:lvl1pPr>
          </a:lstStyle>
          <a:p>
            <a:pPr marL="12700" algn="r"/>
            <a:r>
              <a:rPr lang="es-MX" sz="3200" kern="0" dirty="0">
                <a:solidFill>
                  <a:srgbClr val="7030A0"/>
                </a:solidFill>
              </a:rPr>
              <a:t>Pasos para definir un indicador de desempeño</a:t>
            </a:r>
          </a:p>
        </p:txBody>
      </p:sp>
      <p:graphicFrame>
        <p:nvGraphicFramePr>
          <p:cNvPr id="2" name="Diagrama 1">
            <a:extLst>
              <a:ext uri="{FF2B5EF4-FFF2-40B4-BE49-F238E27FC236}">
                <a16:creationId xmlns:a16="http://schemas.microsoft.com/office/drawing/2014/main" id="{9BE5F821-74D8-7165-CA08-658A8D329074}"/>
              </a:ext>
            </a:extLst>
          </p:cNvPr>
          <p:cNvGraphicFramePr/>
          <p:nvPr>
            <p:extLst>
              <p:ext uri="{D42A27DB-BD31-4B8C-83A1-F6EECF244321}">
                <p14:modId xmlns:p14="http://schemas.microsoft.com/office/powerpoint/2010/main" val="3953945755"/>
              </p:ext>
            </p:extLst>
          </p:nvPr>
        </p:nvGraphicFramePr>
        <p:xfrm>
          <a:off x="609600" y="1600200"/>
          <a:ext cx="10439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169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46AD2B71-9504-4FE4-B13B-592098F9E926}"/>
                                            </p:graphicEl>
                                          </p:spTgt>
                                        </p:tgtEl>
                                        <p:attrNameLst>
                                          <p:attrName>style.visibility</p:attrName>
                                        </p:attrNameLst>
                                      </p:cBhvr>
                                      <p:to>
                                        <p:strVal val="visible"/>
                                      </p:to>
                                    </p:set>
                                    <p:animEffect transition="in" filter="fade">
                                      <p:cBhvr>
                                        <p:cTn id="7" dur="500"/>
                                        <p:tgtEl>
                                          <p:spTgt spid="2">
                                            <p:graphicEl>
                                              <a:dgm id="{46AD2B71-9504-4FE4-B13B-592098F9E92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56F6E9B4-1FFF-45A3-80D7-90347C589B6C}"/>
                                            </p:graphicEl>
                                          </p:spTgt>
                                        </p:tgtEl>
                                        <p:attrNameLst>
                                          <p:attrName>style.visibility</p:attrName>
                                        </p:attrNameLst>
                                      </p:cBhvr>
                                      <p:to>
                                        <p:strVal val="visible"/>
                                      </p:to>
                                    </p:set>
                                    <p:animEffect transition="in" filter="fade">
                                      <p:cBhvr>
                                        <p:cTn id="12" dur="500"/>
                                        <p:tgtEl>
                                          <p:spTgt spid="2">
                                            <p:graphicEl>
                                              <a:dgm id="{56F6E9B4-1FFF-45A3-80D7-90347C589B6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015F2EC7-4647-4ADC-B4AF-2D8928098C68}"/>
                                            </p:graphicEl>
                                          </p:spTgt>
                                        </p:tgtEl>
                                        <p:attrNameLst>
                                          <p:attrName>style.visibility</p:attrName>
                                        </p:attrNameLst>
                                      </p:cBhvr>
                                      <p:to>
                                        <p:strVal val="visible"/>
                                      </p:to>
                                    </p:set>
                                    <p:animEffect transition="in" filter="fade">
                                      <p:cBhvr>
                                        <p:cTn id="17" dur="500"/>
                                        <p:tgtEl>
                                          <p:spTgt spid="2">
                                            <p:graphicEl>
                                              <a:dgm id="{015F2EC7-4647-4ADC-B4AF-2D8928098C68}"/>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AEF90AE1-758F-4496-BC4C-22388E4EA3BD}"/>
                                            </p:graphicEl>
                                          </p:spTgt>
                                        </p:tgtEl>
                                        <p:attrNameLst>
                                          <p:attrName>style.visibility</p:attrName>
                                        </p:attrNameLst>
                                      </p:cBhvr>
                                      <p:to>
                                        <p:strVal val="visible"/>
                                      </p:to>
                                    </p:set>
                                    <p:animEffect transition="in" filter="fade">
                                      <p:cBhvr>
                                        <p:cTn id="22" dur="500"/>
                                        <p:tgtEl>
                                          <p:spTgt spid="2">
                                            <p:graphicEl>
                                              <a:dgm id="{AEF90AE1-758F-4496-BC4C-22388E4EA3BD}"/>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04D14C71-C322-4444-991B-32031F4EA8DE}"/>
                                            </p:graphicEl>
                                          </p:spTgt>
                                        </p:tgtEl>
                                        <p:attrNameLst>
                                          <p:attrName>style.visibility</p:attrName>
                                        </p:attrNameLst>
                                      </p:cBhvr>
                                      <p:to>
                                        <p:strVal val="visible"/>
                                      </p:to>
                                    </p:set>
                                    <p:animEffect transition="in" filter="fade">
                                      <p:cBhvr>
                                        <p:cTn id="27" dur="500"/>
                                        <p:tgtEl>
                                          <p:spTgt spid="2">
                                            <p:graphicEl>
                                              <a:dgm id="{04D14C71-C322-4444-991B-32031F4EA8D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B2BE6E59-A990-4C7F-98D9-55CE0F3C40EE}"/>
                                            </p:graphicEl>
                                          </p:spTgt>
                                        </p:tgtEl>
                                        <p:attrNameLst>
                                          <p:attrName>style.visibility</p:attrName>
                                        </p:attrNameLst>
                                      </p:cBhvr>
                                      <p:to>
                                        <p:strVal val="visible"/>
                                      </p:to>
                                    </p:set>
                                    <p:animEffect transition="in" filter="fade">
                                      <p:cBhvr>
                                        <p:cTn id="32" dur="500"/>
                                        <p:tgtEl>
                                          <p:spTgt spid="2">
                                            <p:graphicEl>
                                              <a:dgm id="{B2BE6E59-A990-4C7F-98D9-55CE0F3C40E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graphicEl>
                                              <a:dgm id="{219BC0F6-A158-478D-A79C-B118BA617527}"/>
                                            </p:graphicEl>
                                          </p:spTgt>
                                        </p:tgtEl>
                                        <p:attrNameLst>
                                          <p:attrName>style.visibility</p:attrName>
                                        </p:attrNameLst>
                                      </p:cBhvr>
                                      <p:to>
                                        <p:strVal val="visible"/>
                                      </p:to>
                                    </p:set>
                                    <p:animEffect transition="in" filter="fade">
                                      <p:cBhvr>
                                        <p:cTn id="37" dur="500"/>
                                        <p:tgtEl>
                                          <p:spTgt spid="2">
                                            <p:graphicEl>
                                              <a:dgm id="{219BC0F6-A158-478D-A79C-B118BA617527}"/>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graphicEl>
                                              <a:dgm id="{9C3AEE39-8447-41FA-BEE8-425D716A0612}"/>
                                            </p:graphicEl>
                                          </p:spTgt>
                                        </p:tgtEl>
                                        <p:attrNameLst>
                                          <p:attrName>style.visibility</p:attrName>
                                        </p:attrNameLst>
                                      </p:cBhvr>
                                      <p:to>
                                        <p:strVal val="visible"/>
                                      </p:to>
                                    </p:set>
                                    <p:animEffect transition="in" filter="fade">
                                      <p:cBhvr>
                                        <p:cTn id="42" dur="500"/>
                                        <p:tgtEl>
                                          <p:spTgt spid="2">
                                            <p:graphicEl>
                                              <a:dgm id="{9C3AEE39-8447-41FA-BEE8-425D716A061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1999" cy="6857997"/>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p:nvPr/>
        </p:nvSpPr>
        <p:spPr>
          <a:xfrm>
            <a:off x="716280" y="926591"/>
            <a:ext cx="7080504" cy="2205228"/>
          </a:xfrm>
          <a:prstGeom prst="rect">
            <a:avLst/>
          </a:prstGeom>
          <a:blipFill>
            <a:blip r:embed="rId3" cstate="print"/>
            <a:stretch>
              <a:fillRect/>
            </a:stretch>
          </a:blipFill>
        </p:spPr>
        <p:txBody>
          <a:bodyPr wrap="square" lIns="0" tIns="0" rIns="0" bIns="0" rtlCol="0">
            <a:spAutoFit/>
          </a:bodyPr>
          <a:lstStyle/>
          <a:p>
            <a:endParaRPr/>
          </a:p>
        </p:txBody>
      </p:sp>
      <p:sp>
        <p:nvSpPr>
          <p:cNvPr id="4" name="object 4"/>
          <p:cNvSpPr txBox="1"/>
          <p:nvPr/>
        </p:nvSpPr>
        <p:spPr>
          <a:xfrm>
            <a:off x="989177" y="4103242"/>
            <a:ext cx="2919730" cy="869950"/>
          </a:xfrm>
          <a:prstGeom prst="rect">
            <a:avLst/>
          </a:prstGeom>
        </p:spPr>
        <p:txBody>
          <a:bodyPr vert="horz" wrap="square" lIns="0" tIns="0" rIns="0" bIns="0" rtlCol="0">
            <a:spAutoFit/>
          </a:bodyPr>
          <a:lstStyle/>
          <a:p>
            <a:pPr marL="12700">
              <a:lnSpc>
                <a:spcPct val="100000"/>
              </a:lnSpc>
            </a:pPr>
            <a:r>
              <a:rPr sz="5400" spc="-30" dirty="0">
                <a:solidFill>
                  <a:srgbClr val="FFFFFF"/>
                </a:solidFill>
                <a:latin typeface="Calibri"/>
                <a:cs typeface="Calibri"/>
              </a:rPr>
              <a:t>¡GR</a:t>
            </a:r>
            <a:r>
              <a:rPr sz="5400" spc="-75" dirty="0">
                <a:solidFill>
                  <a:srgbClr val="FFFFFF"/>
                </a:solidFill>
                <a:latin typeface="Calibri"/>
                <a:cs typeface="Calibri"/>
              </a:rPr>
              <a:t>A</a:t>
            </a:r>
            <a:r>
              <a:rPr sz="5400" spc="-25" dirty="0">
                <a:solidFill>
                  <a:srgbClr val="FFFFFF"/>
                </a:solidFill>
                <a:latin typeface="Calibri"/>
                <a:cs typeface="Calibri"/>
              </a:rPr>
              <a:t>CIAS!</a:t>
            </a:r>
            <a:endParaRPr sz="5400">
              <a:latin typeface="Calibri"/>
              <a:cs typeface="Calibri"/>
            </a:endParaRPr>
          </a:p>
        </p:txBody>
      </p:sp>
      <p:sp>
        <p:nvSpPr>
          <p:cNvPr id="5" name="object 5"/>
          <p:cNvSpPr/>
          <p:nvPr/>
        </p:nvSpPr>
        <p:spPr>
          <a:xfrm>
            <a:off x="7869935" y="1383791"/>
            <a:ext cx="4090416" cy="4090416"/>
          </a:xfrm>
          <a:prstGeom prst="rect">
            <a:avLst/>
          </a:prstGeom>
          <a:blipFill>
            <a:blip r:embed="rId4" cstate="print"/>
            <a:stretch>
              <a:fillRect/>
            </a:stretch>
          </a:blipFill>
        </p:spPr>
        <p:txBody>
          <a:bodyPr wrap="square" lIns="0" tIns="0" rIns="0" bIns="0" rtlCol="0">
            <a:spAutoFit/>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9411</TotalTime>
  <Words>502</Words>
  <Application>Microsoft Office PowerPoint</Application>
  <PresentationFormat>Panorámica</PresentationFormat>
  <Paragraphs>25</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Calibri</vt:lpstr>
      <vt:lpstr>Courier New</vt:lpstr>
      <vt:lpstr>Libre Baskerville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Silvia Eugenia Martinez</dc:creator>
  <cp:lastModifiedBy>Carlos Dubon</cp:lastModifiedBy>
  <cp:revision>5</cp:revision>
  <dcterms:created xsi:type="dcterms:W3CDTF">2024-01-23T18:55:00Z</dcterms:created>
  <dcterms:modified xsi:type="dcterms:W3CDTF">2025-09-30T06:09:57Z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2023-09-21T00:00:00Z</vt:filetime>
  </property>
  <property fmtid="{D5CDD505-2E9C-101B-9397-08002B2CF9AE}" pid="3" name="LastSaved">
    <vt:filetime>2024-01-24T00:00:00Z</vt:filetime>
  </property>
</Properties>
</file>