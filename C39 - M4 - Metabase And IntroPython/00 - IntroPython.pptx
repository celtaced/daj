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8" r:id="rId4"/>
    <p:sldId id="312" r:id="rId5"/>
    <p:sldId id="309" r:id="rId6"/>
    <p:sldId id="310" r:id="rId7"/>
    <p:sldId id="311" r:id="rId8"/>
    <p:sldId id="266" r:id="rId9"/>
    <p:sldId id="267" r:id="rId10"/>
    <p:sldId id="268" r:id="rId11"/>
    <p:sldId id="269" r:id="rId12"/>
    <p:sldId id="270" r:id="rId13"/>
    <p:sldId id="313" r:id="rId14"/>
    <p:sldId id="314" r:id="rId15"/>
    <p:sldId id="315" r:id="rId16"/>
    <p:sldId id="316" r:id="rId17"/>
    <p:sldId id="307" r:id="rId18"/>
  </p:sldIdLst>
  <p:sldSz cx="12192000" cy="6858000"/>
  <p:notesSz cx="12192000" cy="6858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260" y="2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0552" y="0"/>
            <a:ext cx="6251448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67868" y="408431"/>
            <a:ext cx="2468880" cy="795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479803" y="164592"/>
            <a:ext cx="1650492" cy="1260347"/>
          </a:xfrm>
          <a:custGeom>
            <a:avLst/>
            <a:gdLst/>
            <a:ahLst/>
            <a:cxnLst/>
            <a:rect l="l" t="t" r="r" b="b"/>
            <a:pathLst>
              <a:path w="1650492" h="1260347">
                <a:moveTo>
                  <a:pt x="0" y="1260347"/>
                </a:moveTo>
                <a:lnTo>
                  <a:pt x="1650492" y="1260347"/>
                </a:lnTo>
                <a:lnTo>
                  <a:pt x="1650492" y="0"/>
                </a:lnTo>
                <a:lnTo>
                  <a:pt x="0" y="0"/>
                </a:lnTo>
                <a:lnTo>
                  <a:pt x="0" y="12603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>
                <a:solidFill>
                  <a:srgbClr val="4125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>
                <a:solidFill>
                  <a:srgbClr val="4125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0552" y="0"/>
            <a:ext cx="6251448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67868" y="408431"/>
            <a:ext cx="2468880" cy="795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479803" y="129539"/>
            <a:ext cx="1650492" cy="1260347"/>
          </a:xfrm>
          <a:custGeom>
            <a:avLst/>
            <a:gdLst/>
            <a:ahLst/>
            <a:cxnLst/>
            <a:rect l="l" t="t" r="r" b="b"/>
            <a:pathLst>
              <a:path w="1650492" h="1260347">
                <a:moveTo>
                  <a:pt x="0" y="1260347"/>
                </a:moveTo>
                <a:lnTo>
                  <a:pt x="1650492" y="1260347"/>
                </a:lnTo>
                <a:lnTo>
                  <a:pt x="1650492" y="0"/>
                </a:lnTo>
                <a:lnTo>
                  <a:pt x="0" y="0"/>
                </a:lnTo>
                <a:lnTo>
                  <a:pt x="0" y="12603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54508" y="1536191"/>
            <a:ext cx="1781556" cy="637032"/>
          </a:xfrm>
          <a:custGeom>
            <a:avLst/>
            <a:gdLst/>
            <a:ahLst/>
            <a:cxnLst/>
            <a:rect l="l" t="t" r="r" b="b"/>
            <a:pathLst>
              <a:path w="1781556" h="637032">
                <a:moveTo>
                  <a:pt x="1675384" y="0"/>
                </a:moveTo>
                <a:lnTo>
                  <a:pt x="94103" y="677"/>
                </a:lnTo>
                <a:lnTo>
                  <a:pt x="54006" y="13669"/>
                </a:lnTo>
                <a:lnTo>
                  <a:pt x="22749" y="40474"/>
                </a:lnTo>
                <a:lnTo>
                  <a:pt x="3904" y="77530"/>
                </a:lnTo>
                <a:lnTo>
                  <a:pt x="0" y="106172"/>
                </a:lnTo>
                <a:lnTo>
                  <a:pt x="678" y="542935"/>
                </a:lnTo>
                <a:lnTo>
                  <a:pt x="13678" y="583042"/>
                </a:lnTo>
                <a:lnTo>
                  <a:pt x="40490" y="614293"/>
                </a:lnTo>
                <a:lnTo>
                  <a:pt x="77543" y="633130"/>
                </a:lnTo>
                <a:lnTo>
                  <a:pt x="106172" y="637032"/>
                </a:lnTo>
                <a:lnTo>
                  <a:pt x="1687459" y="636354"/>
                </a:lnTo>
                <a:lnTo>
                  <a:pt x="1727566" y="623362"/>
                </a:lnTo>
                <a:lnTo>
                  <a:pt x="1758817" y="596557"/>
                </a:lnTo>
                <a:lnTo>
                  <a:pt x="1777654" y="559501"/>
                </a:lnTo>
                <a:lnTo>
                  <a:pt x="1781556" y="530860"/>
                </a:lnTo>
                <a:lnTo>
                  <a:pt x="1780878" y="94096"/>
                </a:lnTo>
                <a:lnTo>
                  <a:pt x="1767886" y="53989"/>
                </a:lnTo>
                <a:lnTo>
                  <a:pt x="1741081" y="22738"/>
                </a:lnTo>
                <a:lnTo>
                  <a:pt x="1704025" y="3901"/>
                </a:lnTo>
                <a:lnTo>
                  <a:pt x="1675384" y="0"/>
                </a:lnTo>
                <a:close/>
              </a:path>
            </a:pathLst>
          </a:custGeom>
          <a:solidFill>
            <a:srgbClr val="CE4A2B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54508" y="1536191"/>
            <a:ext cx="1781556" cy="637032"/>
          </a:xfrm>
          <a:custGeom>
            <a:avLst/>
            <a:gdLst/>
            <a:ahLst/>
            <a:cxnLst/>
            <a:rect l="l" t="t" r="r" b="b"/>
            <a:pathLst>
              <a:path w="1781556" h="637032">
                <a:moveTo>
                  <a:pt x="0" y="106172"/>
                </a:moveTo>
                <a:lnTo>
                  <a:pt x="8586" y="64259"/>
                </a:lnTo>
                <a:lnTo>
                  <a:pt x="31966" y="30224"/>
                </a:lnTo>
                <a:lnTo>
                  <a:pt x="66566" y="7628"/>
                </a:lnTo>
                <a:lnTo>
                  <a:pt x="1675384" y="0"/>
                </a:lnTo>
                <a:lnTo>
                  <a:pt x="1690010" y="997"/>
                </a:lnTo>
                <a:lnTo>
                  <a:pt x="1729692" y="14904"/>
                </a:lnTo>
                <a:lnTo>
                  <a:pt x="1760310" y="42412"/>
                </a:lnTo>
                <a:lnTo>
                  <a:pt x="1778301" y="79963"/>
                </a:lnTo>
                <a:lnTo>
                  <a:pt x="1781556" y="530860"/>
                </a:lnTo>
                <a:lnTo>
                  <a:pt x="1780558" y="545486"/>
                </a:lnTo>
                <a:lnTo>
                  <a:pt x="1766651" y="585168"/>
                </a:lnTo>
                <a:lnTo>
                  <a:pt x="1739143" y="615786"/>
                </a:lnTo>
                <a:lnTo>
                  <a:pt x="1701592" y="633777"/>
                </a:lnTo>
                <a:lnTo>
                  <a:pt x="106172" y="637032"/>
                </a:lnTo>
                <a:lnTo>
                  <a:pt x="91553" y="636034"/>
                </a:lnTo>
                <a:lnTo>
                  <a:pt x="51880" y="622127"/>
                </a:lnTo>
                <a:lnTo>
                  <a:pt x="21257" y="594619"/>
                </a:lnTo>
                <a:lnTo>
                  <a:pt x="3256" y="557068"/>
                </a:lnTo>
                <a:lnTo>
                  <a:pt x="0" y="106172"/>
                </a:lnTo>
                <a:close/>
              </a:path>
            </a:pathLst>
          </a:custGeom>
          <a:ln w="12700">
            <a:solidFill>
              <a:srgbClr val="551A0C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>
                <a:solidFill>
                  <a:srgbClr val="4125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910584" y="2763011"/>
            <a:ext cx="1392936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433059" y="2699004"/>
            <a:ext cx="0" cy="1184910"/>
          </a:xfrm>
          <a:custGeom>
            <a:avLst/>
            <a:gdLst/>
            <a:ahLst/>
            <a:cxnLst/>
            <a:rect l="l" t="t" r="r" b="b"/>
            <a:pathLst>
              <a:path h="1184910">
                <a:moveTo>
                  <a:pt x="0" y="0"/>
                </a:moveTo>
                <a:lnTo>
                  <a:pt x="0" y="1184910"/>
                </a:lnTo>
              </a:path>
            </a:pathLst>
          </a:custGeom>
          <a:ln w="9525">
            <a:solidFill>
              <a:srgbClr val="412764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>
                <a:solidFill>
                  <a:srgbClr val="4125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0552" y="0"/>
            <a:ext cx="6251448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67868" y="408431"/>
            <a:ext cx="2468880" cy="795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4051" y="1551853"/>
            <a:ext cx="7803896" cy="2371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>
                <a:solidFill>
                  <a:srgbClr val="4125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94051" y="2915665"/>
            <a:ext cx="7803896" cy="26534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>
                <a:solidFill>
                  <a:srgbClr val="4125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6280" y="926591"/>
            <a:ext cx="7080504" cy="2205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177" y="3902709"/>
            <a:ext cx="9989820" cy="959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SV" sz="5400" spc="-85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endParaRPr sz="5400" dirty="0">
              <a:latin typeface="Calibri"/>
              <a:cs typeface="Calibri"/>
            </a:endParaRPr>
          </a:p>
          <a:p>
            <a:pPr>
              <a:lnSpc>
                <a:spcPts val="950"/>
              </a:lnSpc>
              <a:spcBef>
                <a:spcPts val="25"/>
              </a:spcBef>
            </a:pPr>
            <a:endParaRPr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10584" y="2763011"/>
            <a:ext cx="1392936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33059" y="2699004"/>
            <a:ext cx="0" cy="1184910"/>
          </a:xfrm>
          <a:custGeom>
            <a:avLst/>
            <a:gdLst/>
            <a:ahLst/>
            <a:cxnLst/>
            <a:rect l="l" t="t" r="r" b="b"/>
            <a:pathLst>
              <a:path h="1184910">
                <a:moveTo>
                  <a:pt x="0" y="0"/>
                </a:moveTo>
                <a:lnTo>
                  <a:pt x="0" y="1184910"/>
                </a:lnTo>
              </a:path>
            </a:pathLst>
          </a:custGeom>
          <a:ln w="9525">
            <a:solidFill>
              <a:srgbClr val="412764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18175" y="2808478"/>
            <a:ext cx="2746375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3890"/>
              </a:lnSpc>
            </a:pPr>
            <a:r>
              <a:rPr lang="es-SV" sz="3600" b="1" dirty="0">
                <a:solidFill>
                  <a:srgbClr val="412564"/>
                </a:solidFill>
                <a:latin typeface="Calibri"/>
                <a:cs typeface="Calibri"/>
              </a:rPr>
              <a:t>Introducción a Python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C2C285F-61A2-9D8B-48F7-9C4288A42919}"/>
              </a:ext>
            </a:extLst>
          </p:cNvPr>
          <p:cNvSpPr txBox="1">
            <a:spLocks/>
          </p:cNvSpPr>
          <p:nvPr/>
        </p:nvSpPr>
        <p:spPr>
          <a:xfrm>
            <a:off x="1103172" y="690626"/>
            <a:ext cx="9985654" cy="646331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r"/>
            <a:r>
              <a:rPr lang="es-SV" sz="3200" kern="0" spc="85" dirty="0">
                <a:solidFill>
                  <a:srgbClr val="7030A0"/>
                </a:solidFill>
              </a:rPr>
              <a:t>C</a:t>
            </a:r>
            <a:r>
              <a:rPr lang="es-SV" sz="3200" kern="0" spc="90" dirty="0">
                <a:solidFill>
                  <a:srgbClr val="7030A0"/>
                </a:solidFill>
              </a:rPr>
              <a:t>ON</a:t>
            </a:r>
            <a:r>
              <a:rPr lang="es-SV" sz="3200" kern="0" spc="85" dirty="0">
                <a:solidFill>
                  <a:srgbClr val="7030A0"/>
                </a:solidFill>
              </a:rPr>
              <a:t>C</a:t>
            </a:r>
            <a:r>
              <a:rPr lang="es-SV" sz="3200" kern="0" spc="90" dirty="0">
                <a:solidFill>
                  <a:srgbClr val="7030A0"/>
                </a:solidFill>
              </a:rPr>
              <a:t>E</a:t>
            </a:r>
            <a:r>
              <a:rPr lang="es-SV" sz="3200" kern="0" spc="85" dirty="0">
                <a:solidFill>
                  <a:srgbClr val="7030A0"/>
                </a:solidFill>
              </a:rPr>
              <a:t>P</a:t>
            </a:r>
            <a:r>
              <a:rPr lang="es-SV" sz="3200" kern="0" spc="-25" dirty="0">
                <a:solidFill>
                  <a:srgbClr val="7030A0"/>
                </a:solidFill>
              </a:rPr>
              <a:t>T</a:t>
            </a:r>
            <a:r>
              <a:rPr lang="es-SV" sz="3200" kern="0" spc="90" dirty="0">
                <a:solidFill>
                  <a:srgbClr val="7030A0"/>
                </a:solidFill>
              </a:rPr>
              <a:t>O</a:t>
            </a:r>
            <a:r>
              <a:rPr lang="es-SV" sz="3200" kern="0" dirty="0">
                <a:solidFill>
                  <a:srgbClr val="7030A0"/>
                </a:solidFill>
              </a:rPr>
              <a:t>S</a:t>
            </a:r>
            <a:r>
              <a:rPr lang="es-SV" sz="3200" kern="0" spc="195" dirty="0">
                <a:solidFill>
                  <a:srgbClr val="7030A0"/>
                </a:solidFill>
              </a:rPr>
              <a:t> </a:t>
            </a:r>
            <a:r>
              <a:rPr lang="es-SV" sz="3200" kern="0" spc="90" dirty="0">
                <a:solidFill>
                  <a:srgbClr val="7030A0"/>
                </a:solidFill>
              </a:rPr>
              <a:t>FUN</a:t>
            </a:r>
            <a:r>
              <a:rPr lang="es-SV" sz="3200" kern="0" spc="-105" dirty="0">
                <a:solidFill>
                  <a:srgbClr val="7030A0"/>
                </a:solidFill>
              </a:rPr>
              <a:t>D</a:t>
            </a:r>
            <a:r>
              <a:rPr lang="es-SV" sz="3200" kern="0" spc="90" dirty="0">
                <a:solidFill>
                  <a:srgbClr val="7030A0"/>
                </a:solidFill>
              </a:rPr>
              <a:t>A</a:t>
            </a:r>
            <a:r>
              <a:rPr lang="es-SV" sz="3200" kern="0" spc="95" dirty="0">
                <a:solidFill>
                  <a:srgbClr val="7030A0"/>
                </a:solidFill>
              </a:rPr>
              <a:t>M</a:t>
            </a:r>
            <a:r>
              <a:rPr lang="es-SV" sz="3200" kern="0" spc="90" dirty="0">
                <a:solidFill>
                  <a:srgbClr val="7030A0"/>
                </a:solidFill>
              </a:rPr>
              <a:t>EN</a:t>
            </a:r>
            <a:r>
              <a:rPr lang="es-SV" sz="3200" kern="0" spc="-75" dirty="0">
                <a:solidFill>
                  <a:srgbClr val="7030A0"/>
                </a:solidFill>
              </a:rPr>
              <a:t>T</a:t>
            </a:r>
            <a:r>
              <a:rPr lang="es-SV" sz="3200" kern="0" spc="90" dirty="0">
                <a:solidFill>
                  <a:srgbClr val="7030A0"/>
                </a:solidFill>
              </a:rPr>
              <a:t>ALE</a:t>
            </a:r>
            <a:r>
              <a:rPr lang="es-SV" sz="3200" kern="0" dirty="0">
                <a:solidFill>
                  <a:srgbClr val="7030A0"/>
                </a:solidFill>
              </a:rPr>
              <a:t>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E65D11B-CFDF-441F-5ED7-8A3B63BFBF71}"/>
              </a:ext>
            </a:extLst>
          </p:cNvPr>
          <p:cNvSpPr txBox="1"/>
          <p:nvPr/>
        </p:nvSpPr>
        <p:spPr>
          <a:xfrm>
            <a:off x="1057147" y="2262251"/>
            <a:ext cx="9153525" cy="3822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4">
              <a:lnSpc>
                <a:spcPct val="100000"/>
              </a:lnSpc>
              <a:buClr>
                <a:srgbClr val="9CBDBC"/>
              </a:buClr>
              <a:tabLst>
                <a:tab pos="104139" algn="l"/>
              </a:tabLst>
            </a:pPr>
            <a:r>
              <a:rPr lang="es-SV" spc="-20" dirty="0">
                <a:solidFill>
                  <a:srgbClr val="7030A0"/>
                </a:solidFill>
                <a:latin typeface="Tw Cen MT"/>
                <a:cs typeface="Tw Cen MT"/>
              </a:rPr>
              <a:t>¿</a:t>
            </a:r>
            <a:r>
              <a:rPr spc="-20" dirty="0">
                <a:solidFill>
                  <a:srgbClr val="7030A0"/>
                </a:solidFill>
                <a:latin typeface="Tw Cen MT"/>
                <a:cs typeface="Tw Cen MT"/>
              </a:rPr>
              <a:t>Q</a:t>
            </a:r>
            <a:r>
              <a:rPr spc="-10" dirty="0">
                <a:solidFill>
                  <a:srgbClr val="7030A0"/>
                </a:solidFill>
                <a:latin typeface="Tw Cen MT"/>
                <a:cs typeface="Tw Cen MT"/>
              </a:rPr>
              <a:t>ue</a:t>
            </a:r>
            <a:r>
              <a:rPr spc="10" dirty="0">
                <a:solidFill>
                  <a:srgbClr val="7030A0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srgbClr val="7030A0"/>
                </a:solidFill>
                <a:latin typeface="Tw Cen MT"/>
                <a:cs typeface="Tw Cen MT"/>
              </a:rPr>
              <a:t>es</a:t>
            </a:r>
            <a:r>
              <a:rPr spc="-15" dirty="0">
                <a:solidFill>
                  <a:srgbClr val="7030A0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srgbClr val="7030A0"/>
                </a:solidFill>
                <a:latin typeface="Tw Cen MT"/>
                <a:cs typeface="Tw Cen MT"/>
              </a:rPr>
              <a:t>Py</a:t>
            </a:r>
            <a:r>
              <a:rPr spc="-10" dirty="0">
                <a:solidFill>
                  <a:srgbClr val="7030A0"/>
                </a:solidFill>
                <a:latin typeface="Tw Cen MT"/>
                <a:cs typeface="Tw Cen MT"/>
              </a:rPr>
              <a:t>th</a:t>
            </a:r>
            <a:r>
              <a:rPr dirty="0">
                <a:solidFill>
                  <a:srgbClr val="7030A0"/>
                </a:solidFill>
                <a:latin typeface="Tw Cen MT"/>
                <a:cs typeface="Tw Cen MT"/>
              </a:rPr>
              <a:t>o</a:t>
            </a:r>
            <a:r>
              <a:rPr spc="-10" dirty="0">
                <a:solidFill>
                  <a:srgbClr val="7030A0"/>
                </a:solidFill>
                <a:latin typeface="Tw Cen MT"/>
                <a:cs typeface="Tw Cen MT"/>
              </a:rPr>
              <a:t>n?</a:t>
            </a:r>
            <a:endParaRPr sz="1500" dirty="0">
              <a:solidFill>
                <a:srgbClr val="7030A0"/>
              </a:solidFill>
              <a:latin typeface="Tw Cen MT"/>
              <a:cs typeface="Tw Cen MT"/>
            </a:endParaRPr>
          </a:p>
          <a:p>
            <a:pPr>
              <a:lnSpc>
                <a:spcPts val="1300"/>
              </a:lnSpc>
              <a:spcBef>
                <a:spcPts val="91"/>
              </a:spcBef>
              <a:buClr>
                <a:srgbClr val="9CBDBC"/>
              </a:buClr>
              <a:buFont typeface="Arial"/>
              <a:buChar char="•"/>
            </a:pPr>
            <a:endParaRPr sz="1300" dirty="0"/>
          </a:p>
          <a:p>
            <a:pPr marL="104139" marR="6350" indent="-92075">
              <a:lnSpc>
                <a:spcPct val="70000"/>
              </a:lnSpc>
              <a:buClr>
                <a:srgbClr val="9CBDBC"/>
              </a:buClr>
              <a:buFont typeface="Arial"/>
              <a:buChar char="•"/>
              <a:tabLst>
                <a:tab pos="104139" algn="l"/>
              </a:tabLst>
            </a:pP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Py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th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 es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un</a:t>
            </a:r>
            <a:r>
              <a:rPr sz="15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len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guaje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1500" spc="-2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ac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ó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alto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 n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1500" spc="-3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el,</a:t>
            </a:r>
            <a:r>
              <a:rPr sz="15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ultip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lata</a:t>
            </a:r>
            <a:r>
              <a:rPr sz="1500" spc="-25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spc="2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a 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pl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ia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nt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documentad</a:t>
            </a:r>
            <a:r>
              <a:rPr sz="1500" spc="-5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, </a:t>
            </a:r>
            <a:r>
              <a:rPr sz="15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con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una</a:t>
            </a:r>
            <a:r>
              <a:rPr sz="15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cu</a:t>
            </a:r>
            <a:r>
              <a:rPr sz="1500" spc="5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spc="-3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de apr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ndizaje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uy</a:t>
            </a:r>
            <a:r>
              <a:rPr sz="15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baja</a:t>
            </a:r>
            <a:r>
              <a:rPr sz="15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desa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ol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os</a:t>
            </a:r>
            <a:r>
              <a:rPr sz="15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efic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nt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1500" spc="-2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spc="-20" dirty="0">
                <a:solidFill>
                  <a:srgbClr val="2D2B20"/>
                </a:solidFill>
                <a:latin typeface="Tw Cen MT"/>
                <a:cs typeface="Tw Cen MT"/>
              </a:rPr>
              <a:t>oy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ecto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endParaRPr sz="1500" dirty="0">
              <a:latin typeface="Tw Cen MT"/>
              <a:cs typeface="Tw Cen MT"/>
            </a:endParaRPr>
          </a:p>
          <a:p>
            <a:pPr marL="104139" marR="7466330" indent="-92075">
              <a:lnSpc>
                <a:spcPct val="147700"/>
              </a:lnSpc>
              <a:spcBef>
                <a:spcPts val="5"/>
              </a:spcBef>
              <a:buClr>
                <a:srgbClr val="9CBDBC"/>
              </a:buClr>
              <a:buFont typeface="Arial"/>
              <a:buChar char="•"/>
              <a:tabLst>
                <a:tab pos="104139" algn="l"/>
              </a:tabLst>
            </a:pP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Us</a:t>
            </a:r>
            <a:r>
              <a:rPr sz="1500" spc="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15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Py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th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spc="-1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esa</a:t>
            </a:r>
            <a:r>
              <a:rPr sz="1500" b="1" spc="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ll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30" dirty="0">
                <a:solidFill>
                  <a:srgbClr val="2D2B20"/>
                </a:solidFill>
                <a:latin typeface="Tw Cen MT"/>
                <a:cs typeface="Tw Cen MT"/>
              </a:rPr>
              <a:t>W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eb Cie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nc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Ed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uc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ió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endParaRPr sz="1500" dirty="0">
              <a:latin typeface="Tw Cen MT"/>
              <a:cs typeface="Tw Cen MT"/>
            </a:endParaRPr>
          </a:p>
          <a:p>
            <a:pPr marL="104139" marR="6462395">
              <a:lnSpc>
                <a:spcPct val="148000"/>
              </a:lnSpc>
            </a:pP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esa</a:t>
            </a:r>
            <a:r>
              <a:rPr sz="1500" b="1" spc="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ll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b="1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Int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er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Gráf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1500" b="1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esa</a:t>
            </a:r>
            <a:r>
              <a:rPr sz="1500" b="1" spc="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ll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1500" b="1" spc="-5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wa</a:t>
            </a:r>
            <a:r>
              <a:rPr sz="1500" b="1" spc="1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endParaRPr sz="1500" dirty="0">
              <a:latin typeface="Tw Cen MT"/>
              <a:cs typeface="Tw Cen MT"/>
            </a:endParaRPr>
          </a:p>
          <a:p>
            <a:pPr>
              <a:lnSpc>
                <a:spcPts val="850"/>
              </a:lnSpc>
              <a:spcBef>
                <a:spcPts val="1"/>
              </a:spcBef>
            </a:pPr>
            <a:endParaRPr sz="850" dirty="0"/>
          </a:p>
          <a:p>
            <a:pPr marL="104139">
              <a:lnSpc>
                <a:spcPct val="100000"/>
              </a:lnSpc>
            </a:pP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Ma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hin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b="1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ea</a:t>
            </a:r>
            <a:r>
              <a:rPr sz="1500" b="1" spc="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nin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endParaRPr sz="1500" dirty="0">
              <a:latin typeface="Tw Cen MT"/>
              <a:cs typeface="Tw Cen MT"/>
            </a:endParaRPr>
          </a:p>
          <a:p>
            <a:pPr marL="104139" marR="7225665">
              <a:lnSpc>
                <a:spcPct val="147700"/>
              </a:lnSpc>
              <a:spcBef>
                <a:spcPts val="5"/>
              </a:spcBef>
            </a:pP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isu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li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za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ció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b="1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1500" b="1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1500" b="1" spc="2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s 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Fi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zas y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2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din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r>
              <a:rPr sz="1500" b="1" spc="-5" dirty="0">
                <a:solidFill>
                  <a:srgbClr val="2D2B20"/>
                </a:solidFill>
                <a:latin typeface="Tw Cen MT"/>
                <a:cs typeface="Tw Cen MT"/>
              </a:rPr>
              <a:t> Et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h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al</a:t>
            </a:r>
            <a:r>
              <a:rPr sz="1500" b="1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1500" b="1" spc="-15" dirty="0">
                <a:solidFill>
                  <a:srgbClr val="2D2B20"/>
                </a:solidFill>
                <a:latin typeface="Tw Cen MT"/>
                <a:cs typeface="Tw Cen MT"/>
              </a:rPr>
              <a:t>H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ki</a:t>
            </a:r>
            <a:r>
              <a:rPr sz="1500" b="1" spc="-2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1500" b="1" spc="-10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endParaRPr sz="1500" dirty="0"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66116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/>
            <a:extLst>
              <a:ext uri="{FF2B5EF4-FFF2-40B4-BE49-F238E27FC236}">
                <a16:creationId xmlns:a16="http://schemas.microsoft.com/office/drawing/2014/main" id="{84E7BDA5-D4F5-3D93-CCAB-9027FECB5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219200"/>
            <a:ext cx="9425796" cy="532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52B802-2540-0089-33C9-B6E52CCC8040}"/>
              </a:ext>
            </a:extLst>
          </p:cNvPr>
          <p:cNvSpPr txBox="1">
            <a:spLocks/>
          </p:cNvSpPr>
          <p:nvPr/>
        </p:nvSpPr>
        <p:spPr>
          <a:xfrm>
            <a:off x="1103172" y="690626"/>
            <a:ext cx="9985654" cy="1248383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>
            <a:defPPr>
              <a:defRPr lang="es-SV"/>
            </a:defPPr>
            <a:lvl1pPr marL="12700" algn="r">
              <a:defRPr sz="3200" kern="0" spc="85">
                <a:solidFill>
                  <a:srgbClr val="7030A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QUE HACE ESPECIAL A PYTHON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07C2A9-1B68-E84D-226C-1ECCF8F6C97A}"/>
              </a:ext>
            </a:extLst>
          </p:cNvPr>
          <p:cNvSpPr txBox="1"/>
          <p:nvPr/>
        </p:nvSpPr>
        <p:spPr>
          <a:xfrm>
            <a:off x="1148892" y="2057400"/>
            <a:ext cx="9462135" cy="38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43840">
              <a:lnSpc>
                <a:spcPts val="1920"/>
              </a:lnSpc>
            </a:pP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H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3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000" spc="75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has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azone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-185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hemos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enume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ado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algunas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la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pe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 enume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las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 una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á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prác</a:t>
            </a: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ica:</a:t>
            </a:r>
            <a:endParaRPr sz="2000" dirty="0">
              <a:latin typeface="Tw Cen MT"/>
              <a:cs typeface="Tw Cen MT"/>
            </a:endParaRPr>
          </a:p>
          <a:p>
            <a:pPr>
              <a:lnSpc>
                <a:spcPts val="1400"/>
              </a:lnSpc>
              <a:spcBef>
                <a:spcPts val="3"/>
              </a:spcBef>
            </a:pPr>
            <a:endParaRPr sz="1400" dirty="0"/>
          </a:p>
          <a:p>
            <a:pPr marL="12700" marR="6350">
              <a:lnSpc>
                <a:spcPts val="1920"/>
              </a:lnSpc>
            </a:pP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fá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il</a:t>
            </a:r>
            <a:r>
              <a:rPr sz="2000" b="1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de ap</a:t>
            </a:r>
            <a:r>
              <a:rPr sz="2000" b="1" spc="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000" b="1" spc="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er</a:t>
            </a:r>
            <a:r>
              <a:rPr sz="2000" b="1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ti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mpo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io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pa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ap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re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nd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Py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thon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más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spc="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3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000" spc="8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h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 ot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os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ngu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j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;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gnif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ca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po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ib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comenzar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la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og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ación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al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á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rápid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endParaRPr sz="2000" dirty="0">
              <a:latin typeface="Tw Cen MT"/>
              <a:cs typeface="Tw Cen MT"/>
            </a:endParaRPr>
          </a:p>
          <a:p>
            <a:pPr>
              <a:lnSpc>
                <a:spcPts val="1400"/>
              </a:lnSpc>
              <a:spcBef>
                <a:spcPts val="9"/>
              </a:spcBef>
            </a:pPr>
            <a:endParaRPr sz="1400" dirty="0"/>
          </a:p>
          <a:p>
            <a:pPr marL="12700" marR="64769">
              <a:lnSpc>
                <a:spcPct val="80000"/>
              </a:lnSpc>
            </a:pP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fá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il</a:t>
            </a:r>
            <a:r>
              <a:rPr sz="2000" b="1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de enseñar</a:t>
            </a:r>
            <a:r>
              <a:rPr sz="2000" b="1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La</a:t>
            </a: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car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ab</a:t>
            </a: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jo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eñanza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menor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la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neces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tan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ot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os l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ngu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j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;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gnifica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puede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pon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á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én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as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las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técnicas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 p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og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aci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ó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g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ales</a:t>
            </a:r>
            <a:r>
              <a:rPr sz="2000" spc="-5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(indep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nd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del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ngu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j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).</a:t>
            </a:r>
            <a:endParaRPr sz="2000" dirty="0">
              <a:latin typeface="Tw Cen MT"/>
              <a:cs typeface="Tw Cen MT"/>
            </a:endParaRPr>
          </a:p>
          <a:p>
            <a:pPr>
              <a:lnSpc>
                <a:spcPts val="1400"/>
              </a:lnSpc>
              <a:spcBef>
                <a:spcPts val="4"/>
              </a:spcBef>
            </a:pPr>
            <a:endParaRPr sz="1400" dirty="0"/>
          </a:p>
          <a:p>
            <a:pPr marL="12700" marR="277495">
              <a:lnSpc>
                <a:spcPct val="80000"/>
              </a:lnSpc>
            </a:pP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fá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il</a:t>
            </a:r>
            <a:r>
              <a:rPr sz="2000" b="1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de ut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zar</a:t>
            </a:r>
            <a:r>
              <a:rPr sz="2000" b="1" spc="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-114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cribir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ft</a:t>
            </a:r>
            <a:r>
              <a:rPr sz="2000" spc="-90" dirty="0">
                <a:solidFill>
                  <a:srgbClr val="2D2B20"/>
                </a:solidFill>
                <a:latin typeface="Tw Cen MT"/>
                <a:cs typeface="Tw Cen MT"/>
              </a:rPr>
              <a:t>w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are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nue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o;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 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enudo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po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ib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cribir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á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 rápido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cu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ndo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usa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spc="1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thon.</a:t>
            </a:r>
            <a:endParaRPr sz="2000" dirty="0">
              <a:latin typeface="Tw Cen MT"/>
              <a:cs typeface="Tw Cen MT"/>
            </a:endParaRPr>
          </a:p>
          <a:p>
            <a:pPr>
              <a:lnSpc>
                <a:spcPts val="1400"/>
              </a:lnSpc>
              <a:spcBef>
                <a:spcPts val="7"/>
              </a:spcBef>
            </a:pPr>
            <a:endParaRPr sz="1400" dirty="0"/>
          </a:p>
          <a:p>
            <a:pPr marL="12700" marR="312420">
              <a:lnSpc>
                <a:spcPct val="80000"/>
              </a:lnSpc>
            </a:pP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fá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il</a:t>
            </a:r>
            <a:r>
              <a:rPr sz="2000" b="1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de entender</a:t>
            </a:r>
            <a:r>
              <a:rPr sz="2000" b="1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 m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nud</a:t>
            </a:r>
            <a:r>
              <a:rPr sz="2000" spc="-5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tambi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é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más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ácil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ntend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ó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digo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ers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ona 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á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rápido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si</a:t>
            </a:r>
            <a:r>
              <a:rPr sz="2000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tá</a:t>
            </a:r>
            <a:r>
              <a:rPr sz="2000" spc="-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crito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spc="1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thon.</a:t>
            </a:r>
            <a:endParaRPr sz="2000" dirty="0">
              <a:latin typeface="Tw Cen MT"/>
              <a:cs typeface="Tw Cen MT"/>
            </a:endParaRPr>
          </a:p>
          <a:p>
            <a:pPr>
              <a:lnSpc>
                <a:spcPts val="900"/>
              </a:lnSpc>
              <a:spcBef>
                <a:spcPts val="11"/>
              </a:spcBef>
            </a:pPr>
            <a:endParaRPr sz="900" dirty="0"/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fá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il</a:t>
            </a:r>
            <a:r>
              <a:rPr sz="2000" b="1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de o</a:t>
            </a:r>
            <a:r>
              <a:rPr sz="2000" b="1" spc="5" dirty="0">
                <a:solidFill>
                  <a:srgbClr val="2D2B20"/>
                </a:solidFill>
                <a:latin typeface="Tw Cen MT"/>
                <a:cs typeface="Tw Cen MT"/>
              </a:rPr>
              <a:t>b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tene</a:t>
            </a:r>
            <a:r>
              <a:rPr sz="2000" b="1" spc="-6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000" b="1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ins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ar y despl</a:t>
            </a:r>
            <a:r>
              <a:rPr sz="2000" b="1" spc="3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r>
              <a:rPr sz="2000" b="1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b="1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b="1" spc="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000" spc="1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thon</a:t>
            </a:r>
            <a:r>
              <a:rPr sz="2000" spc="-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0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r>
              <a:rPr sz="2000" spc="-2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at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it</a:t>
            </a:r>
            <a:r>
              <a:rPr sz="2000" spc="-5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000" spc="-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abie</a:t>
            </a:r>
            <a:r>
              <a:rPr sz="2000" spc="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000" spc="3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ultip</a:t>
            </a:r>
            <a:r>
              <a:rPr sz="2000" spc="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at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spc="-35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000" spc="2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000" spc="-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endParaRPr sz="2000" dirty="0"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14291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07F579-9B5C-AA9A-F73F-DCAEC8190671}"/>
              </a:ext>
            </a:extLst>
          </p:cNvPr>
          <p:cNvSpPr txBox="1">
            <a:spLocks/>
          </p:cNvSpPr>
          <p:nvPr/>
        </p:nvSpPr>
        <p:spPr>
          <a:xfrm>
            <a:off x="1103172" y="843026"/>
            <a:ext cx="9985654" cy="791183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>
            <a:defPPr>
              <a:defRPr lang="es-SV"/>
            </a:defPPr>
            <a:lvl1pPr marL="12700" algn="r">
              <a:defRPr sz="3200" kern="0" spc="85">
                <a:solidFill>
                  <a:srgbClr val="7030A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SV" dirty="0"/>
              <a:t>COMPILACIÓN VS. INTERPRETACIÓN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C06774B-1F67-D91D-EBD6-38D8B9853AE1}"/>
              </a:ext>
            </a:extLst>
          </p:cNvPr>
          <p:cNvSpPr txBox="1"/>
          <p:nvPr/>
        </p:nvSpPr>
        <p:spPr>
          <a:xfrm>
            <a:off x="1057147" y="2283078"/>
            <a:ext cx="9619615" cy="372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ython es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un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lenguaje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interpretado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400"/>
              </a:lnSpc>
              <a:spcBef>
                <a:spcPts val="4"/>
              </a:spcBef>
            </a:pPr>
            <a:endParaRPr sz="1400"/>
          </a:p>
          <a:p>
            <a:pPr marL="104139" marR="6350">
              <a:lnSpc>
                <a:spcPct val="90000"/>
              </a:lnSpc>
            </a:pP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COMPIL</a:t>
            </a:r>
            <a:r>
              <a:rPr sz="2200" b="1" spc="-13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b="1" spc="-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200" b="1" spc="-20" dirty="0">
                <a:solidFill>
                  <a:srgbClr val="2D2B20"/>
                </a:solidFill>
                <a:latin typeface="Tw Cen MT"/>
                <a:cs typeface="Tw Cen MT"/>
              </a:rPr>
              <a:t>ÓN</a:t>
            </a:r>
            <a:r>
              <a:rPr sz="2200" b="1" spc="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200" spc="-5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og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ama</a:t>
            </a:r>
            <a:r>
              <a:rPr sz="2200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fuen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adu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una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60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ez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(sin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embarg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,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esta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200" spc="-9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2200" spc="-6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be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repe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irse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cada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ez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odifique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fuen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e)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obteniendo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un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ar</a:t>
            </a:r>
            <a:r>
              <a:rPr sz="2200" spc="65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hi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(por eje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mpl</a:t>
            </a:r>
            <a:r>
              <a:rPr sz="2200" spc="-8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un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ar</a:t>
            </a:r>
            <a:r>
              <a:rPr sz="2200" spc="65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hi</a:t>
            </a:r>
            <a:r>
              <a:rPr sz="2200" spc="-70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r>
              <a:rPr sz="2200" spc="-7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60" dirty="0">
                <a:solidFill>
                  <a:srgbClr val="2D2B20"/>
                </a:solidFill>
                <a:latin typeface="Tw Cen MT"/>
                <a:cs typeface="Tw Cen MT"/>
              </a:rPr>
              <a:t>x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si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á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diseñado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pa</a:t>
            </a:r>
            <a:r>
              <a:rPr sz="2200" spc="-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ejecutarse</a:t>
            </a:r>
            <a:r>
              <a:rPr sz="2200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MS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Wi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2200" spc="-7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ws) 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contie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ne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la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máquina;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aho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pu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des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distribuir</a:t>
            </a:r>
            <a:r>
              <a:rPr sz="2200" spc="5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ar</a:t>
            </a:r>
            <a:r>
              <a:rPr sz="2200" spc="65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hi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en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do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 </a:t>
            </a:r>
            <a:r>
              <a:rPr sz="2200" spc="25" dirty="0">
                <a:solidFill>
                  <a:srgbClr val="2D2B20"/>
                </a:solidFill>
                <a:latin typeface="Tw Cen MT"/>
                <a:cs typeface="Tw Cen MT"/>
              </a:rPr>
              <a:t>m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undo;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l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200" spc="-5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og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ama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realiza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esta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adu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ción</a:t>
            </a:r>
            <a:r>
              <a:rPr sz="2200" spc="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llama</a:t>
            </a:r>
            <a:r>
              <a:rPr sz="2200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compilador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adu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to</a:t>
            </a:r>
            <a:r>
              <a:rPr sz="2200" spc="-17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300"/>
              </a:lnSpc>
              <a:spcBef>
                <a:spcPts val="91"/>
              </a:spcBef>
            </a:pPr>
            <a:endParaRPr sz="1300"/>
          </a:p>
          <a:p>
            <a:pPr marL="104139" marR="17145">
              <a:lnSpc>
                <a:spcPct val="90000"/>
              </a:lnSpc>
            </a:pP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IN</a:t>
            </a:r>
            <a:r>
              <a:rPr sz="2200" b="1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b="1" spc="-1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PRE</a:t>
            </a:r>
            <a:r>
              <a:rPr sz="2200" b="1" spc="-16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b="1" spc="-13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b="1" spc="-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200" b="1" spc="-20" dirty="0">
                <a:solidFill>
                  <a:srgbClr val="2D2B20"/>
                </a:solidFill>
                <a:latin typeface="Tw Cen MT"/>
                <a:cs typeface="Tw Cen MT"/>
              </a:rPr>
              <a:t>ÓN</a:t>
            </a:r>
            <a:r>
              <a:rPr sz="2200" b="1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-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Tú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(o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cualquier</a:t>
            </a:r>
            <a:r>
              <a:rPr sz="2200" spc="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usua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código)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pu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3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aducir</a:t>
            </a:r>
            <a:r>
              <a:rPr sz="2200" spc="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l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200" spc="-5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g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ama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fuen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cada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ez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ejecute;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</a:t>
            </a:r>
            <a:r>
              <a:rPr sz="2200" spc="-6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og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ama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realiza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este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ipo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ans</a:t>
            </a:r>
            <a:r>
              <a:rPr sz="2200" spc="-60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mación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se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denomina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intérpret</a:t>
            </a:r>
            <a:r>
              <a:rPr sz="2200" spc="-9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95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interpre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2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ez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está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des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ina</a:t>
            </a:r>
            <a:r>
              <a:rPr sz="2200" spc="-25" dirty="0">
                <a:solidFill>
                  <a:srgbClr val="2D2B20"/>
                </a:solidFill>
                <a:latin typeface="Tw Cen MT"/>
                <a:cs typeface="Tw Cen MT"/>
              </a:rPr>
              <a:t>d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ejec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tars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;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también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significa</a:t>
            </a:r>
            <a:r>
              <a:rPr sz="2200" spc="4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no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puede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dis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ribuir</a:t>
            </a:r>
            <a:r>
              <a:rPr sz="2200" spc="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fuen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tal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como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está, po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usuario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final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también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necesi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intérprete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lo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ejec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endParaRPr sz="2200"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31496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10584" y="2763011"/>
            <a:ext cx="1392936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33059" y="2699004"/>
            <a:ext cx="0" cy="1184910"/>
          </a:xfrm>
          <a:custGeom>
            <a:avLst/>
            <a:gdLst/>
            <a:ahLst/>
            <a:cxnLst/>
            <a:rect l="l" t="t" r="r" b="b"/>
            <a:pathLst>
              <a:path h="1184910">
                <a:moveTo>
                  <a:pt x="0" y="0"/>
                </a:moveTo>
                <a:lnTo>
                  <a:pt x="0" y="1184910"/>
                </a:lnTo>
              </a:path>
            </a:pathLst>
          </a:custGeom>
          <a:ln w="9525">
            <a:solidFill>
              <a:srgbClr val="412764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18175" y="2808478"/>
            <a:ext cx="2746375" cy="500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3890"/>
              </a:lnSpc>
            </a:pPr>
            <a:r>
              <a:rPr lang="es-SV" sz="3600" b="1" dirty="0">
                <a:solidFill>
                  <a:srgbClr val="412564"/>
                </a:solidFill>
                <a:latin typeface="Calibri"/>
                <a:cs typeface="Calibri"/>
              </a:rPr>
              <a:t>Operadores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369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752600" y="457200"/>
            <a:ext cx="103632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pc="90" dirty="0"/>
              <a:t>O</a:t>
            </a:r>
            <a:r>
              <a:rPr spc="85" dirty="0"/>
              <a:t>P</a:t>
            </a:r>
            <a:r>
              <a:rPr spc="90" dirty="0"/>
              <a:t>E</a:t>
            </a:r>
            <a:r>
              <a:rPr spc="85" dirty="0"/>
              <a:t>R</a:t>
            </a:r>
            <a:r>
              <a:rPr spc="90" dirty="0"/>
              <a:t>ADO</a:t>
            </a:r>
            <a:r>
              <a:rPr spc="85" dirty="0"/>
              <a:t>R</a:t>
            </a:r>
            <a:r>
              <a:rPr spc="90" dirty="0"/>
              <a:t>E</a:t>
            </a:r>
            <a:r>
              <a:rPr dirty="0"/>
              <a:t>S</a:t>
            </a:r>
            <a:r>
              <a:rPr spc="195" dirty="0"/>
              <a:t> </a:t>
            </a:r>
            <a:r>
              <a:rPr spc="90" dirty="0"/>
              <a:t>A</a:t>
            </a:r>
            <a:r>
              <a:rPr spc="85" dirty="0"/>
              <a:t>RI</a:t>
            </a:r>
            <a:r>
              <a:rPr spc="90" dirty="0"/>
              <a:t>T</a:t>
            </a:r>
            <a:r>
              <a:rPr spc="95" dirty="0"/>
              <a:t>M</a:t>
            </a:r>
            <a:r>
              <a:rPr spc="90" dirty="0"/>
              <a:t>ÉT</a:t>
            </a:r>
            <a:r>
              <a:rPr spc="85" dirty="0"/>
              <a:t>IC</a:t>
            </a:r>
            <a:r>
              <a:rPr spc="90" dirty="0"/>
              <a:t>O</a:t>
            </a:r>
            <a:r>
              <a:rPr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2549651" y="1684020"/>
            <a:ext cx="6667500" cy="5000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14600" y="457200"/>
            <a:ext cx="93726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pc="90" dirty="0"/>
              <a:t>O</a:t>
            </a:r>
            <a:r>
              <a:rPr spc="85" dirty="0"/>
              <a:t>P</a:t>
            </a:r>
            <a:r>
              <a:rPr spc="90" dirty="0"/>
              <a:t>E</a:t>
            </a:r>
            <a:r>
              <a:rPr spc="85" dirty="0"/>
              <a:t>R</a:t>
            </a:r>
            <a:r>
              <a:rPr spc="90" dirty="0"/>
              <a:t>ADO</a:t>
            </a:r>
            <a:r>
              <a:rPr spc="85" dirty="0"/>
              <a:t>R</a:t>
            </a:r>
            <a:r>
              <a:rPr spc="90" dirty="0"/>
              <a:t>E</a:t>
            </a:r>
            <a:r>
              <a:rPr dirty="0"/>
              <a:t>S</a:t>
            </a:r>
            <a:r>
              <a:rPr spc="195" dirty="0"/>
              <a:t> </a:t>
            </a:r>
            <a:r>
              <a:rPr spc="90" dirty="0"/>
              <a:t>D</a:t>
            </a:r>
            <a:r>
              <a:rPr dirty="0"/>
              <a:t>E</a:t>
            </a:r>
            <a:r>
              <a:rPr spc="195" dirty="0"/>
              <a:t> </a:t>
            </a:r>
            <a:r>
              <a:rPr spc="90" dirty="0"/>
              <a:t>AS</a:t>
            </a:r>
            <a:r>
              <a:rPr spc="85" dirty="0"/>
              <a:t>IG</a:t>
            </a:r>
            <a:r>
              <a:rPr spc="45" dirty="0"/>
              <a:t>N</a:t>
            </a:r>
            <a:r>
              <a:rPr spc="-25" dirty="0"/>
              <a:t>A</a:t>
            </a:r>
            <a:r>
              <a:rPr spc="85" dirty="0"/>
              <a:t>CI</a:t>
            </a:r>
            <a:r>
              <a:rPr spc="90" dirty="0"/>
              <a:t>ÓN/</a:t>
            </a:r>
            <a:r>
              <a:rPr spc="85" dirty="0"/>
              <a:t>R</a:t>
            </a:r>
            <a:r>
              <a:rPr spc="90" dirty="0"/>
              <a:t>EAS</a:t>
            </a:r>
            <a:r>
              <a:rPr spc="85" dirty="0"/>
              <a:t>I</a:t>
            </a:r>
            <a:r>
              <a:rPr spc="100" dirty="0"/>
              <a:t>G</a:t>
            </a:r>
            <a:r>
              <a:rPr spc="45" dirty="0"/>
              <a:t>N</a:t>
            </a:r>
            <a:r>
              <a:rPr spc="-25" dirty="0"/>
              <a:t>A</a:t>
            </a:r>
            <a:r>
              <a:rPr spc="95" dirty="0"/>
              <a:t>C</a:t>
            </a:r>
            <a:r>
              <a:rPr spc="85" dirty="0"/>
              <a:t>I</a:t>
            </a:r>
            <a:r>
              <a:rPr spc="90" dirty="0"/>
              <a:t>Ó</a:t>
            </a:r>
            <a:r>
              <a:rPr dirty="0"/>
              <a:t>N</a:t>
            </a:r>
          </a:p>
        </p:txBody>
      </p:sp>
      <p:sp>
        <p:nvSpPr>
          <p:cNvPr id="5" name="object 5"/>
          <p:cNvSpPr/>
          <p:nvPr/>
        </p:nvSpPr>
        <p:spPr>
          <a:xfrm>
            <a:off x="723900" y="2426207"/>
            <a:ext cx="10744200" cy="3381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57724" y="457200"/>
            <a:ext cx="9205676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pc="90" dirty="0"/>
              <a:t>O</a:t>
            </a:r>
            <a:r>
              <a:rPr spc="85" dirty="0"/>
              <a:t>P</a:t>
            </a:r>
            <a:r>
              <a:rPr spc="90" dirty="0"/>
              <a:t>E</a:t>
            </a:r>
            <a:r>
              <a:rPr spc="85" dirty="0"/>
              <a:t>R</a:t>
            </a:r>
            <a:r>
              <a:rPr spc="90" dirty="0"/>
              <a:t>ADO</a:t>
            </a:r>
            <a:r>
              <a:rPr spc="85" dirty="0"/>
              <a:t>R</a:t>
            </a:r>
            <a:r>
              <a:rPr spc="90" dirty="0"/>
              <a:t>E</a:t>
            </a:r>
            <a:r>
              <a:rPr dirty="0"/>
              <a:t>S</a:t>
            </a:r>
            <a:r>
              <a:rPr spc="195" dirty="0"/>
              <a:t> </a:t>
            </a:r>
            <a:r>
              <a:rPr spc="90" dirty="0"/>
              <a:t>D</a:t>
            </a:r>
            <a:r>
              <a:rPr dirty="0"/>
              <a:t>E</a:t>
            </a:r>
            <a:r>
              <a:rPr spc="195" dirty="0"/>
              <a:t> </a:t>
            </a:r>
            <a:r>
              <a:rPr spc="85" dirty="0"/>
              <a:t>C</a:t>
            </a:r>
            <a:r>
              <a:rPr spc="90" dirty="0"/>
              <a:t>O</a:t>
            </a:r>
            <a:r>
              <a:rPr spc="95" dirty="0"/>
              <a:t>M</a:t>
            </a:r>
            <a:r>
              <a:rPr spc="-285" dirty="0"/>
              <a:t>P</a:t>
            </a:r>
            <a:r>
              <a:rPr spc="90" dirty="0"/>
              <a:t>A</a:t>
            </a:r>
            <a:r>
              <a:rPr spc="85" dirty="0"/>
              <a:t>R</a:t>
            </a:r>
            <a:r>
              <a:rPr spc="-25" dirty="0"/>
              <a:t>A</a:t>
            </a:r>
            <a:r>
              <a:rPr spc="85" dirty="0"/>
              <a:t>CI</a:t>
            </a:r>
            <a:r>
              <a:rPr spc="90" dirty="0"/>
              <a:t>Ó</a:t>
            </a:r>
            <a:r>
              <a:rPr dirty="0"/>
              <a:t>N</a:t>
            </a:r>
          </a:p>
        </p:txBody>
      </p:sp>
      <p:sp>
        <p:nvSpPr>
          <p:cNvPr id="5" name="object 5"/>
          <p:cNvSpPr/>
          <p:nvPr/>
        </p:nvSpPr>
        <p:spPr>
          <a:xfrm>
            <a:off x="1850135" y="2084832"/>
            <a:ext cx="7620000" cy="381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971800" y="457200"/>
            <a:ext cx="86868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pc="90" dirty="0"/>
              <a:t>O</a:t>
            </a:r>
            <a:r>
              <a:rPr spc="85" dirty="0"/>
              <a:t>P</a:t>
            </a:r>
            <a:r>
              <a:rPr spc="90" dirty="0"/>
              <a:t>E</a:t>
            </a:r>
            <a:r>
              <a:rPr spc="85" dirty="0"/>
              <a:t>R</a:t>
            </a:r>
            <a:r>
              <a:rPr spc="90" dirty="0"/>
              <a:t>ADO</a:t>
            </a:r>
            <a:r>
              <a:rPr spc="85" dirty="0"/>
              <a:t>R</a:t>
            </a:r>
            <a:r>
              <a:rPr spc="90" dirty="0"/>
              <a:t>E</a:t>
            </a:r>
            <a:r>
              <a:rPr dirty="0"/>
              <a:t>S</a:t>
            </a:r>
            <a:r>
              <a:rPr spc="195" dirty="0"/>
              <a:t> </a:t>
            </a:r>
            <a:r>
              <a:rPr spc="90" dirty="0"/>
              <a:t>D</a:t>
            </a:r>
            <a:r>
              <a:rPr dirty="0"/>
              <a:t>E</a:t>
            </a:r>
            <a:r>
              <a:rPr spc="195" dirty="0"/>
              <a:t> </a:t>
            </a:r>
            <a:r>
              <a:rPr spc="90" dirty="0"/>
              <a:t>LÓ</a:t>
            </a:r>
            <a:r>
              <a:rPr spc="85" dirty="0"/>
              <a:t>GIC</a:t>
            </a:r>
            <a:r>
              <a:rPr spc="90" dirty="0"/>
              <a:t>O</a:t>
            </a:r>
            <a:r>
              <a:rPr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694944" y="2610611"/>
            <a:ext cx="10802112" cy="163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90800" y="478789"/>
            <a:ext cx="92964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pc="90" dirty="0"/>
              <a:t>EST</a:t>
            </a:r>
            <a:r>
              <a:rPr spc="35" dirty="0"/>
              <a:t>R</a:t>
            </a:r>
            <a:r>
              <a:rPr spc="90" dirty="0"/>
              <a:t>U</a:t>
            </a:r>
            <a:r>
              <a:rPr spc="85" dirty="0"/>
              <a:t>C</a:t>
            </a:r>
            <a:r>
              <a:rPr spc="90" dirty="0"/>
              <a:t>TU</a:t>
            </a:r>
            <a:r>
              <a:rPr spc="85" dirty="0"/>
              <a:t>R</a:t>
            </a:r>
            <a:r>
              <a:rPr spc="90" dirty="0"/>
              <a:t>A</a:t>
            </a:r>
            <a:r>
              <a:rPr dirty="0"/>
              <a:t>S</a:t>
            </a:r>
            <a:r>
              <a:rPr spc="195" dirty="0"/>
              <a:t> </a:t>
            </a:r>
            <a:r>
              <a:rPr spc="90" dirty="0"/>
              <a:t>D</a:t>
            </a:r>
            <a:r>
              <a:rPr dirty="0"/>
              <a:t>E</a:t>
            </a:r>
            <a:r>
              <a:rPr spc="195" dirty="0"/>
              <a:t> </a:t>
            </a:r>
            <a:r>
              <a:rPr spc="85" dirty="0"/>
              <a:t>C</a:t>
            </a:r>
            <a:r>
              <a:rPr spc="90" dirty="0"/>
              <a:t>ONT</a:t>
            </a:r>
            <a:r>
              <a:rPr spc="35" dirty="0"/>
              <a:t>R</a:t>
            </a:r>
            <a:r>
              <a:rPr spc="90" dirty="0"/>
              <a:t>O</a:t>
            </a:r>
            <a:r>
              <a:rPr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2320670"/>
            <a:ext cx="9516110" cy="361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 marR="6350" indent="-92075">
              <a:lnSpc>
                <a:spcPts val="238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Las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est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tu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as</a:t>
            </a:r>
            <a:r>
              <a:rPr sz="2200" spc="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cont</a:t>
            </a:r>
            <a:r>
              <a:rPr sz="2200" spc="-55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ol,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pe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miten</a:t>
            </a:r>
            <a:r>
              <a:rPr sz="2200" spc="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camb</a:t>
            </a:r>
            <a:r>
              <a:rPr sz="2200" b="1" spc="-5" dirty="0">
                <a:solidFill>
                  <a:srgbClr val="2D2B20"/>
                </a:solidFill>
                <a:latin typeface="Tw Cen MT"/>
                <a:cs typeface="Tw Cen MT"/>
              </a:rPr>
              <a:t>i</a:t>
            </a:r>
            <a:r>
              <a:rPr sz="2200" b="1" spc="-10" dirty="0">
                <a:solidFill>
                  <a:srgbClr val="2D2B20"/>
                </a:solidFill>
                <a:latin typeface="Tw Cen MT"/>
                <a:cs typeface="Tw Cen MT"/>
              </a:rPr>
              <a:t>ar el</a:t>
            </a:r>
            <a:r>
              <a:rPr sz="2200" b="1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10" dirty="0">
                <a:solidFill>
                  <a:srgbClr val="2D2B20"/>
                </a:solidFill>
                <a:latin typeface="Tw Cen MT"/>
                <a:cs typeface="Tw Cen MT"/>
              </a:rPr>
              <a:t>flujo</a:t>
            </a:r>
            <a:r>
              <a:rPr sz="2200" b="1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b="1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10" dirty="0">
                <a:solidFill>
                  <a:srgbClr val="2D2B20"/>
                </a:solidFill>
                <a:latin typeface="Tw Cen MT"/>
                <a:cs typeface="Tw Cen MT"/>
              </a:rPr>
              <a:t>ejecución</a:t>
            </a:r>
            <a:r>
              <a:rPr sz="2200" b="1" spc="-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b="1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25" dirty="0">
                <a:solidFill>
                  <a:srgbClr val="2D2B20"/>
                </a:solidFill>
                <a:latin typeface="Tw Cen MT"/>
                <a:cs typeface="Tw Cen MT"/>
              </a:rPr>
              <a:t>u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200" b="1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prog</a:t>
            </a:r>
            <a:r>
              <a:rPr sz="2200" b="1" spc="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b="1" spc="-15" dirty="0">
                <a:solidFill>
                  <a:srgbClr val="2D2B20"/>
                </a:solidFill>
                <a:latin typeface="Tw Cen MT"/>
                <a:cs typeface="Tw Cen MT"/>
              </a:rPr>
              <a:t>am</a:t>
            </a:r>
            <a:r>
              <a:rPr sz="2200" b="1" spc="10" dirty="0">
                <a:solidFill>
                  <a:srgbClr val="2D2B20"/>
                </a:solidFill>
                <a:latin typeface="Tw Cen MT"/>
                <a:cs typeface="Tw Cen MT"/>
              </a:rPr>
              <a:t>a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,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ha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iendo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que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cie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tos</a:t>
            </a:r>
            <a:r>
              <a:rPr sz="2200" spc="2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bloques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código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ejecuten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si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y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solo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si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dan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unas condi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c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iones</a:t>
            </a:r>
            <a:r>
              <a:rPr sz="2200" spc="3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pa</a:t>
            </a:r>
            <a:r>
              <a:rPr sz="2200" spc="3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ticulares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se</a:t>
            </a:r>
            <a:r>
              <a:rPr sz="220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repi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an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una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ca</a:t>
            </a:r>
            <a:r>
              <a:rPr sz="2200" spc="-20" dirty="0">
                <a:solidFill>
                  <a:srgbClr val="2D2B20"/>
                </a:solidFill>
                <a:latin typeface="Tw Cen MT"/>
                <a:cs typeface="Tw Cen MT"/>
              </a:rPr>
              <a:t>n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tidad</a:t>
            </a:r>
            <a:r>
              <a:rPr sz="2200" spc="1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minada</a:t>
            </a:r>
            <a:r>
              <a:rPr sz="2200" spc="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o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inde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t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</a:t>
            </a:r>
            <a:r>
              <a:rPr sz="2200" spc="40" dirty="0">
                <a:solidFill>
                  <a:srgbClr val="2D2B20"/>
                </a:solidFill>
                <a:latin typeface="Tw Cen MT"/>
                <a:cs typeface="Tw Cen MT"/>
              </a:rPr>
              <a:t>r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minada</a:t>
            </a:r>
            <a:r>
              <a:rPr sz="2200" spc="2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de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 </a:t>
            </a:r>
            <a:r>
              <a:rPr sz="2200" spc="-65" dirty="0">
                <a:solidFill>
                  <a:srgbClr val="2D2B20"/>
                </a:solidFill>
                <a:latin typeface="Tw Cen MT"/>
                <a:cs typeface="Tw Cen MT"/>
              </a:rPr>
              <a:t>v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ece</a:t>
            </a:r>
            <a:r>
              <a:rPr sz="2200" spc="-30" dirty="0">
                <a:solidFill>
                  <a:srgbClr val="2D2B20"/>
                </a:solidFill>
                <a:latin typeface="Tw Cen MT"/>
                <a:cs typeface="Tw Cen MT"/>
              </a:rPr>
              <a:t>s</a:t>
            </a:r>
            <a:r>
              <a:rPr sz="2200" spc="-5" dirty="0">
                <a:solidFill>
                  <a:srgbClr val="2D2B20"/>
                </a:solidFill>
                <a:latin typeface="Tw Cen MT"/>
                <a:cs typeface="Tw Cen MT"/>
              </a:rPr>
              <a:t>.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100"/>
              </a:lnSpc>
              <a:spcBef>
                <a:spcPts val="6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15" dirty="0">
                <a:solidFill>
                  <a:srgbClr val="2D2B20"/>
                </a:solidFill>
                <a:latin typeface="Tw Cen MT"/>
                <a:cs typeface="Tw Cen MT"/>
              </a:rPr>
              <a:t>If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100"/>
              </a:lnSpc>
              <a:spcBef>
                <a:spcPts val="28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elif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100"/>
              </a:lnSpc>
              <a:spcBef>
                <a:spcPts val="40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Else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100"/>
              </a:lnSpc>
              <a:spcBef>
                <a:spcPts val="39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40" dirty="0">
                <a:solidFill>
                  <a:srgbClr val="2D2B20"/>
                </a:solidFill>
                <a:latin typeface="Tw Cen MT"/>
                <a:cs typeface="Tw Cen MT"/>
              </a:rPr>
              <a:t>F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or</a:t>
            </a:r>
            <a:endParaRPr sz="2200">
              <a:latin typeface="Tw Cen MT"/>
              <a:cs typeface="Tw Cen MT"/>
            </a:endParaRPr>
          </a:p>
          <a:p>
            <a:pPr>
              <a:lnSpc>
                <a:spcPts val="1100"/>
              </a:lnSpc>
              <a:spcBef>
                <a:spcPts val="30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CBDBC"/>
                </a:solidFill>
                <a:latin typeface="Arial"/>
                <a:cs typeface="Arial"/>
              </a:rPr>
              <a:t>•</a:t>
            </a:r>
            <a:r>
              <a:rPr sz="2200" spc="-10" dirty="0">
                <a:solidFill>
                  <a:srgbClr val="2D2B20"/>
                </a:solidFill>
                <a:latin typeface="Tw Cen MT"/>
                <a:cs typeface="Tw Cen MT"/>
              </a:rPr>
              <a:t>while</a:t>
            </a:r>
            <a:endParaRPr sz="22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1628" y="3377184"/>
            <a:ext cx="6150864" cy="3133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307E6-FD8C-E39D-7F44-A2F28EF6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2983322"/>
            <a:ext cx="2835149" cy="477054"/>
          </a:xfrm>
        </p:spPr>
        <p:txBody>
          <a:bodyPr/>
          <a:lstStyle/>
          <a:p>
            <a:r>
              <a:rPr lang="es-SV" dirty="0"/>
              <a:t>Librerías</a:t>
            </a:r>
          </a:p>
        </p:txBody>
      </p:sp>
    </p:spTree>
    <p:extLst>
      <p:ext uri="{BB962C8B-B14F-4D97-AF65-F5344CB8AC3E}">
        <p14:creationId xmlns:p14="http://schemas.microsoft.com/office/powerpoint/2010/main" val="3960340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5E98D0F7-88D2-D5B1-5EE0-F4D3E07BBE66}"/>
              </a:ext>
            </a:extLst>
          </p:cNvPr>
          <p:cNvSpPr txBox="1">
            <a:spLocks/>
          </p:cNvSpPr>
          <p:nvPr/>
        </p:nvSpPr>
        <p:spPr>
          <a:xfrm>
            <a:off x="2895600" y="457200"/>
            <a:ext cx="86868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100">
                <a:solidFill>
                  <a:srgbClr val="412564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/>
            <a:r>
              <a:rPr lang="es-SV" kern="0" spc="90" dirty="0"/>
              <a:t>Librerías</a:t>
            </a:r>
            <a:endParaRPr lang="es-SV" kern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CE896E-D353-D7A6-0292-573B3BC0AB44}"/>
              </a:ext>
            </a:extLst>
          </p:cNvPr>
          <p:cNvSpPr txBox="1"/>
          <p:nvPr/>
        </p:nvSpPr>
        <p:spPr>
          <a:xfrm>
            <a:off x="914400" y="16002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Las librerías de Python son conjuntos de módulos, que a su vez son archivos que contienen una colección de funciones, clases y variables relacionadas que permiten realizar ciertas tareas sin tener que escribir el código desde cero.</a:t>
            </a:r>
            <a:endParaRPr lang="es-SV" dirty="0"/>
          </a:p>
        </p:txBody>
      </p:sp>
      <p:pic>
        <p:nvPicPr>
          <p:cNvPr id="1026" name="Picture 2" descr="Qué Son Las Librerías De Python Y Cómo Funcionan Para El ...">
            <a:extLst>
              <a:ext uri="{FF2B5EF4-FFF2-40B4-BE49-F238E27FC236}">
                <a16:creationId xmlns:a16="http://schemas.microsoft.com/office/drawing/2014/main" id="{C208D049-28E4-EB68-3FAA-2B5BD8251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5459104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863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8DB350-51B0-FE5F-28F3-E3DE588FB225}"/>
              </a:ext>
            </a:extLst>
          </p:cNvPr>
          <p:cNvSpPr txBox="1"/>
          <p:nvPr/>
        </p:nvSpPr>
        <p:spPr>
          <a:xfrm>
            <a:off x="990600" y="15240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NumPy</a:t>
            </a:r>
            <a:r>
              <a:rPr lang="es-MX" dirty="0"/>
              <a:t> es una biblioteca de Python muy popular que se utiliza principalmente para realizar cálculos matemáticos y científicos. Ofrece muchas funciones y herramientas que pueden ser útiles para proyectos de Data </a:t>
            </a:r>
            <a:r>
              <a:rPr lang="es-MX" dirty="0" err="1"/>
              <a:t>Science</a:t>
            </a:r>
            <a:r>
              <a:rPr lang="es-MX" dirty="0"/>
              <a:t>. Familiarizarse con </a:t>
            </a:r>
            <a:r>
              <a:rPr lang="es-MX" dirty="0" err="1"/>
              <a:t>NumPy</a:t>
            </a:r>
            <a:r>
              <a:rPr lang="es-MX" dirty="0"/>
              <a:t> es un paso esencial en un proyecto de formación en Data </a:t>
            </a:r>
            <a:r>
              <a:rPr lang="es-MX" dirty="0" err="1"/>
              <a:t>Science</a:t>
            </a:r>
            <a:r>
              <a:rPr lang="es-MX" dirty="0"/>
              <a:t>. Descubre todo lo que necesitas saber para dominar </a:t>
            </a:r>
            <a:r>
              <a:rPr lang="es-MX" dirty="0" err="1"/>
              <a:t>NumPy</a:t>
            </a:r>
            <a:r>
              <a:rPr lang="es-MX" dirty="0"/>
              <a:t>.</a:t>
            </a:r>
            <a:endParaRPr lang="es-SV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31DCB69-FADD-9400-7B6A-78579E01DE90}"/>
              </a:ext>
            </a:extLst>
          </p:cNvPr>
          <p:cNvSpPr txBox="1">
            <a:spLocks/>
          </p:cNvSpPr>
          <p:nvPr/>
        </p:nvSpPr>
        <p:spPr>
          <a:xfrm>
            <a:off x="2895600" y="457200"/>
            <a:ext cx="86868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100">
                <a:solidFill>
                  <a:srgbClr val="412564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/>
            <a:r>
              <a:rPr lang="es-SV" kern="0" spc="90" dirty="0" err="1"/>
              <a:t>Numpy</a:t>
            </a:r>
            <a:endParaRPr lang="es-SV" kern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BB2A42-2C9A-87A3-E969-A265493A7C86}"/>
              </a:ext>
            </a:extLst>
          </p:cNvPr>
          <p:cNvSpPr txBox="1"/>
          <p:nvPr/>
        </p:nvSpPr>
        <p:spPr>
          <a:xfrm>
            <a:off x="990600" y="3475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000000"/>
                </a:solidFill>
                <a:effectLst/>
                <a:latin typeface="Rubik"/>
              </a:rPr>
              <a:t>El término </a:t>
            </a:r>
            <a:r>
              <a:rPr lang="es-MX" b="1" i="0" u="none" strike="noStrike" dirty="0" err="1">
                <a:solidFill>
                  <a:srgbClr val="000000"/>
                </a:solidFill>
                <a:effectLst/>
                <a:latin typeface="Rubik"/>
              </a:rPr>
              <a:t>NumPy</a:t>
            </a:r>
            <a:r>
              <a:rPr lang="es-MX" b="0" i="0" dirty="0">
                <a:solidFill>
                  <a:srgbClr val="000000"/>
                </a:solidFill>
                <a:effectLst/>
                <a:latin typeface="Rubik"/>
              </a:rPr>
              <a:t> es en realidad </a:t>
            </a:r>
            <a:r>
              <a:rPr lang="es-MX" b="1" i="0" dirty="0">
                <a:solidFill>
                  <a:srgbClr val="000000"/>
                </a:solidFill>
                <a:effectLst/>
                <a:latin typeface="Rubik"/>
              </a:rPr>
              <a:t>la abreviatura de «</a:t>
            </a:r>
            <a:r>
              <a:rPr lang="es-MX" b="1" i="0" dirty="0" err="1">
                <a:solidFill>
                  <a:srgbClr val="000000"/>
                </a:solidFill>
                <a:effectLst/>
                <a:latin typeface="Rubik"/>
              </a:rPr>
              <a:t>Numerical</a:t>
            </a:r>
            <a:r>
              <a:rPr lang="es-MX" b="1" i="0" dirty="0">
                <a:solidFill>
                  <a:srgbClr val="000000"/>
                </a:solidFill>
                <a:effectLst/>
                <a:latin typeface="Rubik"/>
              </a:rPr>
              <a:t> Python».</a:t>
            </a:r>
            <a:r>
              <a:rPr lang="es-MX" b="0" i="0" dirty="0">
                <a:solidFill>
                  <a:srgbClr val="000000"/>
                </a:solidFill>
                <a:effectLst/>
                <a:latin typeface="Rubik"/>
              </a:rPr>
              <a:t> Es una biblioteca de código abierto en lenguaje Python. Se utiliza para la programación científica en Python, y, en particular, para la programación en Data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Rubik"/>
              </a:rPr>
              <a:t>Science</a:t>
            </a:r>
            <a:r>
              <a:rPr lang="es-MX" b="0" i="0" dirty="0">
                <a:solidFill>
                  <a:srgbClr val="000000"/>
                </a:solidFill>
                <a:effectLst/>
                <a:latin typeface="Rubik"/>
              </a:rPr>
              <a:t>, la ingeniería, las matemáticas o la ciencia.</a:t>
            </a:r>
            <a:endParaRPr lang="es-SV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3D9F133-630A-8B1D-0675-55AC39CDB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145864"/>
            <a:ext cx="5410200" cy="14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63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8DB350-51B0-FE5F-28F3-E3DE588FB225}"/>
              </a:ext>
            </a:extLst>
          </p:cNvPr>
          <p:cNvSpPr txBox="1"/>
          <p:nvPr/>
        </p:nvSpPr>
        <p:spPr>
          <a:xfrm>
            <a:off x="990600" y="15240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Pandas es una librería de Python especializada en el manejo y análisis de estructuras de datos.</a:t>
            </a:r>
            <a:endParaRPr lang="es-SV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31DCB69-FADD-9400-7B6A-78579E01DE90}"/>
              </a:ext>
            </a:extLst>
          </p:cNvPr>
          <p:cNvSpPr txBox="1">
            <a:spLocks/>
          </p:cNvSpPr>
          <p:nvPr/>
        </p:nvSpPr>
        <p:spPr>
          <a:xfrm>
            <a:off x="2895600" y="457200"/>
            <a:ext cx="8686800" cy="477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100">
                <a:solidFill>
                  <a:srgbClr val="412564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/>
            <a:r>
              <a:rPr lang="es-SV" kern="0" spc="90" dirty="0"/>
              <a:t>Pandas</a:t>
            </a:r>
            <a:endParaRPr lang="es-SV" kern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BB2A42-2C9A-87A3-E969-A265493A7C86}"/>
              </a:ext>
            </a:extLst>
          </p:cNvPr>
          <p:cNvSpPr txBox="1"/>
          <p:nvPr/>
        </p:nvSpPr>
        <p:spPr>
          <a:xfrm>
            <a:off x="914400" y="266700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Las principales características de esta librería son:</a:t>
            </a:r>
          </a:p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Define nuevas estructuras de datos basadas en los </a:t>
            </a:r>
            <a:r>
              <a:rPr lang="es-MX" dirty="0" err="1"/>
              <a:t>arrays</a:t>
            </a:r>
            <a:r>
              <a:rPr lang="es-MX" dirty="0"/>
              <a:t> de la librería </a:t>
            </a:r>
            <a:r>
              <a:rPr lang="es-MX" dirty="0" err="1"/>
              <a:t>NumPy</a:t>
            </a:r>
            <a:r>
              <a:rPr lang="es-MX" dirty="0"/>
              <a:t> pero con nuevas funcionalidades.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leer y escribir fácilmente ficheros en formato CSV, Excel y bases de datos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acceder a los datos mediante índices o nombres para filas y columnas.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Ofrece métodos para reordenar, dividir y combinar conjuntos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trabajar con series temporales.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Realiza todas estas operaciones de manera muy eficiente.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186516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6280" y="926591"/>
            <a:ext cx="7080504" cy="2205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177" y="4103242"/>
            <a:ext cx="2919730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FFFFFF"/>
                </a:solidFill>
                <a:latin typeface="Calibri"/>
                <a:cs typeface="Calibri"/>
              </a:rPr>
              <a:t>¡GR</a:t>
            </a:r>
            <a:r>
              <a:rPr sz="5400" spc="-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400" spc="-25" dirty="0">
                <a:solidFill>
                  <a:srgbClr val="FFFFFF"/>
                </a:solidFill>
                <a:latin typeface="Calibri"/>
                <a:cs typeface="Calibri"/>
              </a:rPr>
              <a:t>CIAS!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69935" y="1383791"/>
            <a:ext cx="4090416" cy="4090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8197</TotalTime>
  <Words>718</Words>
  <Application>Microsoft Office PowerPoint</Application>
  <PresentationFormat>Panorámica</PresentationFormat>
  <Paragraphs>63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Rubik</vt:lpstr>
      <vt:lpstr>Tw Cen MT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OPERADORES ARITMÉTICOS</vt:lpstr>
      <vt:lpstr>OPERADORES DE ASIGNACIÓN/REASIGNACIÓN</vt:lpstr>
      <vt:lpstr>OPERADORES DE COMPARACIÓN</vt:lpstr>
      <vt:lpstr>OPERADORES DE LÓGICOS</vt:lpstr>
      <vt:lpstr>ESTRUCTURAS DE CONTROL</vt:lpstr>
      <vt:lpstr>Librerías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Silvia Eugenia Martinez</dc:creator>
  <cp:lastModifiedBy>Carlos Dubon</cp:lastModifiedBy>
  <cp:revision>3</cp:revision>
  <dcterms:created xsi:type="dcterms:W3CDTF">2024-01-23T18:55:00Z</dcterms:created>
  <dcterms:modified xsi:type="dcterms:W3CDTF">2025-11-13T09:56:16Z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2023-09-21T00:00:00Z</vt:filetime>
  </property>
  <property fmtid="{D5CDD505-2E9C-101B-9397-08002B2CF9AE}" pid="3" name="LastSaved">
    <vt:filetime>2024-01-24T00:00:00Z</vt:filetime>
  </property>
</Properties>
</file>